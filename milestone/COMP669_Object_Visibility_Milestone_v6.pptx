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93b7e6bd6fa411d" /><Relationship Type="http://schemas.openxmlformats.org/officeDocument/2006/relationships/extended-properties" Target="/docProps/app.xml" Id="Rd9fef69cc7354638" /><Relationship Type="http://schemas.openxmlformats.org/officeDocument/2006/relationships/officeDocument" Target="/ppt/presentation.xml" Id="R373843869a994c3b" /></Relationships>
</file>

<file path=ppt/presentation.xml><?xml version="1.0" encoding="utf-8"?>
<p:presentation xmlns:p="http://schemas.openxmlformats.org/presentationml/2006/main">
  <p:sldMasterIdLst>
    <p:sldMasterId xmlns:r="http://schemas.openxmlformats.org/officeDocument/2006/relationships" id="2147483648" r:id="R12ec5e81097d4252"/>
  </p:sldMasterIdLst>
  <p:notesMasterIdLst>
    <p:notesMasterId xmlns:r="http://schemas.openxmlformats.org/officeDocument/2006/relationships" r:id="Re23e771677a24908"/>
  </p:notesMasterIdLst>
  <p:sldIdLst>
    <p:sldId xmlns:r="http://schemas.openxmlformats.org/officeDocument/2006/relationships" id="256" r:id="R9fcafdf9d1394eda"/>
    <p:sldId xmlns:r="http://schemas.openxmlformats.org/officeDocument/2006/relationships" id="257" r:id="R4ad568973a48450f"/>
    <p:sldId xmlns:r="http://schemas.openxmlformats.org/officeDocument/2006/relationships" id="258" r:id="R26a38632999f4af2"/>
    <p:sldId xmlns:r="http://schemas.openxmlformats.org/officeDocument/2006/relationships" id="259" r:id="R28f1ac4f4ed34cb3"/>
    <p:sldId xmlns:r="http://schemas.openxmlformats.org/officeDocument/2006/relationships" id="260" r:id="R2b29dc599c504a97"/>
    <p:sldId xmlns:r="http://schemas.openxmlformats.org/officeDocument/2006/relationships" id="261" r:id="R67313498681e4a4b"/>
    <p:sldId xmlns:r="http://schemas.openxmlformats.org/officeDocument/2006/relationships" id="262" r:id="R63377ed2ffb54ad9"/>
    <p:sldId xmlns:r="http://schemas.openxmlformats.org/officeDocument/2006/relationships" id="263" r:id="Rf0fd76bb0475451e"/>
    <p:sldId xmlns:r="http://schemas.openxmlformats.org/officeDocument/2006/relationships" id="264" r:id="R09530f4a05b348d0"/>
    <p:sldId xmlns:r="http://schemas.openxmlformats.org/officeDocument/2006/relationships" id="265" r:id="R279a0f0323984a63"/>
    <p:sldId xmlns:r="http://schemas.openxmlformats.org/officeDocument/2006/relationships" id="266" r:id="R784c2f4df0fb414e"/>
    <p:sldId xmlns:r="http://schemas.openxmlformats.org/officeDocument/2006/relationships" id="267" r:id="Re7a382765b3e47c6"/>
    <p:sldId xmlns:r="http://schemas.openxmlformats.org/officeDocument/2006/relationships" id="268" r:id="R8b7928436e41436e"/>
    <p:sldId xmlns:r="http://schemas.openxmlformats.org/officeDocument/2006/relationships" id="269" r:id="Rfd782138367941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4135fcefb34d5a" /><Relationship Type="http://schemas.openxmlformats.org/officeDocument/2006/relationships/slideMaster" Target="/ppt/slideMasters/slideMaster1.xml" Id="R12ec5e81097d4252" /><Relationship Type="http://schemas.openxmlformats.org/officeDocument/2006/relationships/notesMaster" Target="/ppt/notesMasters/notesMaster1.xml" Id="Re23e771677a24908" /><Relationship Type="http://schemas.openxmlformats.org/officeDocument/2006/relationships/presProps" Target="/ppt/presProps.xml" Id="Rd70a110aef0a4e02" /><Relationship Type="http://schemas.openxmlformats.org/officeDocument/2006/relationships/tableStyles" Target="/ppt/tableStyles.xml" Id="Rc476a25af42446bc" /><Relationship Type="http://schemas.openxmlformats.org/officeDocument/2006/relationships/slide" Target="/ppt/slides/slide1.xml" Id="R9fcafdf9d1394eda" /><Relationship Type="http://schemas.openxmlformats.org/officeDocument/2006/relationships/slide" Target="/ppt/slides/slide2.xml" Id="R4ad568973a48450f" /><Relationship Type="http://schemas.openxmlformats.org/officeDocument/2006/relationships/slide" Target="/ppt/slides/slide3.xml" Id="R26a38632999f4af2" /><Relationship Type="http://schemas.openxmlformats.org/officeDocument/2006/relationships/slide" Target="/ppt/slides/slide4.xml" Id="R28f1ac4f4ed34cb3" /><Relationship Type="http://schemas.openxmlformats.org/officeDocument/2006/relationships/slide" Target="/ppt/slides/slide5.xml" Id="R2b29dc599c504a97" /><Relationship Type="http://schemas.openxmlformats.org/officeDocument/2006/relationships/slide" Target="/ppt/slides/slide6.xml" Id="R67313498681e4a4b" /><Relationship Type="http://schemas.openxmlformats.org/officeDocument/2006/relationships/slide" Target="/ppt/slides/slide7.xml" Id="R63377ed2ffb54ad9" /><Relationship Type="http://schemas.openxmlformats.org/officeDocument/2006/relationships/slide" Target="/ppt/slides/slide8.xml" Id="Rf0fd76bb0475451e" /><Relationship Type="http://schemas.openxmlformats.org/officeDocument/2006/relationships/slide" Target="/ppt/slides/slide9.xml" Id="R09530f4a05b348d0" /><Relationship Type="http://schemas.openxmlformats.org/officeDocument/2006/relationships/slide" Target="/ppt/slides/slide10.xml" Id="R279a0f0323984a63" /><Relationship Type="http://schemas.openxmlformats.org/officeDocument/2006/relationships/slide" Target="/ppt/slides/slide11.xml" Id="R784c2f4df0fb414e" /><Relationship Type="http://schemas.openxmlformats.org/officeDocument/2006/relationships/slide" Target="/ppt/slides/slide12.xml" Id="Re7a382765b3e47c6" /><Relationship Type="http://schemas.openxmlformats.org/officeDocument/2006/relationships/slide" Target="/ppt/slides/slide13.xml" Id="R8b7928436e41436e" /><Relationship Type="http://schemas.openxmlformats.org/officeDocument/2006/relationships/slide" Target="/ppt/slides/slide14.xml" Id="Rfd782138367941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7909acc9874e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797fca18f74685" /><Relationship Type="http://schemas.openxmlformats.org/officeDocument/2006/relationships/notesMaster" Target="/ppt/notesMasters/notesMaster1.xml" Id="Rdbfc0c0f4fc94a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7f5e9ee0b74f5f" /><Relationship Type="http://schemas.openxmlformats.org/officeDocument/2006/relationships/notesMaster" Target="/ppt/notesMasters/notesMaster1.xml" Id="R4257277ba7a041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befc88c0974125" /><Relationship Type="http://schemas.openxmlformats.org/officeDocument/2006/relationships/notesMaster" Target="/ppt/notesMasters/notesMaster1.xml" Id="Rabcce2c2d9ce48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cee107bb8345ba" /><Relationship Type="http://schemas.openxmlformats.org/officeDocument/2006/relationships/notesMaster" Target="/ppt/notesMasters/notesMaster1.xml" Id="Racf01b31718a44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87265729a24bb8" /><Relationship Type="http://schemas.openxmlformats.org/officeDocument/2006/relationships/notesMaster" Target="/ppt/notesMasters/notesMaster1.xml" Id="Rd2283e3a9a104a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c662cbf4ab430a" /><Relationship Type="http://schemas.openxmlformats.org/officeDocument/2006/relationships/notesMaster" Target="/ppt/notesMasters/notesMaster1.xml" Id="R0e2a0825027d4b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446bedd66e492c" /><Relationship Type="http://schemas.openxmlformats.org/officeDocument/2006/relationships/notesMaster" Target="/ppt/notesMasters/notesMaster1.xml" Id="Rb08fbb426f3b4e0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26d3179acbf435c" /><Relationship Type="http://schemas.openxmlformats.org/officeDocument/2006/relationships/notesMaster" Target="/ppt/notesMasters/notesMaster1.xml" Id="R13c90e6df8d441ce"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cb8b69874c4771" /><Relationship Type="http://schemas.openxmlformats.org/officeDocument/2006/relationships/notesMaster" Target="/ppt/notesMasters/notesMaster1.xml" Id="Rcc0ad4fdcf144cd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d233bf7b8b84321" /><Relationship Type="http://schemas.openxmlformats.org/officeDocument/2006/relationships/notesMaster" Target="/ppt/notesMasters/notesMaster1.xml" Id="Re45cab6bdccb43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6ff79b788854f97" /><Relationship Type="http://schemas.openxmlformats.org/officeDocument/2006/relationships/notesMaster" Target="/ppt/notesMasters/notesMaster1.xml" Id="Raadda21e11e249c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f4b4dd87eca4649" /><Relationship Type="http://schemas.openxmlformats.org/officeDocument/2006/relationships/notesMaster" Target="/ppt/notesMasters/notesMaster1.xml" Id="R80468c2983b844c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21893d61d5145b2" /><Relationship Type="http://schemas.openxmlformats.org/officeDocument/2006/relationships/notesMaster" Target="/ppt/notesMasters/notesMaster1.xml" Id="R74fea48ce1fb461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fc292abef304afb" /><Relationship Type="http://schemas.openxmlformats.org/officeDocument/2006/relationships/notesMaster" Target="/ppt/notesMasters/notesMaster1.xml" Id="Re88c6520ed2b4f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33 seconds</a:t>
            </a:r>
          </a:p>
          <a:p xmlns:a="http://schemas.openxmlformats.org/drawingml/2006/main">
            <a:r>
              <a:t>ANCHOR: The evaluation condition can change which model looks more robust.</a:t>
            </a:r>
          </a:p>
          <a:p xmlns:a="http://schemas.openxmlformats.org/drawingml/2006/main">
            <a:r>
              <a:t/>
            </a:r>
          </a:p>
          <a:p xmlns:a="http://schemas.openxmlformats.org/drawingml/2006/main">
            <a:r>
              <a:t>Hi everyone, I'm Boshen. My project studies occlusion robustness: how well a model recognizes an object when parts are hidden.</a:t>
            </a:r>
          </a:p>
          <a:p xmlns:a="http://schemas.openxmlformats.org/drawingml/2006/main">
            <a:r>
              <a:t/>
            </a:r>
          </a:p>
          <a:p xmlns:a="http://schemas.openxmlformats.org/drawingml/2006/main">
            <a:r>
              <a:t>I compare AIMv2 and DINOv2 on cat and dog breeds, using classification accuracy under different masks. The question is how those masks affect our comparison.</a:t>
            </a:r>
          </a:p>
          <a:p xmlns:a="http://schemas.openxmlformats.org/drawingml/2006/main">
            <a:r>
              <a:t/>
            </a:r>
          </a:p>
          <a:p xmlns:a="http://schemas.openxmlformats.org/drawingml/2006/main">
            <a:r>
              <a:t>SOURCES: docs/EXTENSION_V2_PROTOCOL.md; reports/EXTENSION_V2_EN.md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53 seconds</a:t>
            </a:r>
          </a:p>
          <a:p xmlns:a="http://schemas.openxmlformats.org/drawingml/2006/main">
            <a:r>
              <a:t>ANCHOR: A useful evaluation should make clear what the comparison measures.</a:t>
            </a:r>
          </a:p>
          <a:p xmlns:a="http://schemas.openxmlformats.org/drawingml/2006/main">
            <a:r>
              <a:t/>
            </a:r>
          </a:p>
          <a:p xmlns:a="http://schemas.openxmlformats.org/drawingml/2006/main">
            <a:r>
              <a:t>An accuracy drop after hiding information is expected. What matters here is whether changing the mask changes which model appears more robust.</a:t>
            </a:r>
          </a:p>
          <a:p xmlns:a="http://schemas.openxmlformats.org/drawingml/2006/main">
            <a:r>
              <a:t/>
            </a:r>
          </a:p>
          <a:p xmlns:a="http://schemas.openxmlformats.org/drawingml/2006/main">
            <a:r>
              <a:t>For example, AIMv2 may perform better when we keep the center of the picture, while DINOv2 may perform better when we keep random small patches. So the way we hide information may affect which model we would choose.</a:t>
            </a:r>
          </a:p>
          <a:p xmlns:a="http://schemas.openxmlformats.org/drawingml/2006/main">
            <a:r>
              <a:t/>
            </a:r>
          </a:p>
          <a:p xmlns:a="http://schemas.openxmlformats.org/drawingml/2006/main">
            <a:r>
              <a:t>First, let's look at how much of the animal each masking pattern leaves visible.</a:t>
            </a:r>
          </a:p>
          <a:p xmlns:a="http://schemas.openxmlformats.org/drawingml/2006/main">
            <a:r>
              <a:t/>
            </a:r>
          </a:p>
          <a:p xmlns:a="http://schemas.openxmlformats.org/drawingml/2006/main">
            <a:r>
              <a:t>SOURCES: docs/RELATED_WORK.md; Naseer et al., https://arxiv.org/abs/2105.10497; Xiao et al., https://arxiv.org/abs/2006.09994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52 seconds</a:t>
            </a:r>
          </a:p>
          <a:p xmlns:a="http://schemas.openxmlformats.org/drawingml/2006/main">
            <a:r>
              <a:t>ANCHOR: Twenty-five percent of the image is not necessarily twenty-five percent of the animal.</a:t>
            </a:r>
          </a:p>
          <a:p xmlns:a="http://schemas.openxmlformats.org/drawingml/2006/main">
            <a:r>
              <a:t/>
            </a:r>
          </a:p>
          <a:p xmlns:a="http://schemas.openxmlformats.org/drawingml/2006/main">
            <a:r>
              <a:t>Both masked versions keep twenty-five percent of the picture. But center visibility keeps about eighty-four percent of this cat, while random visibility keeps about twenty-two percent.</a:t>
            </a:r>
          </a:p>
          <a:p xmlns:a="http://schemas.openxmlformats.org/drawingml/2006/main">
            <a:r>
              <a:t/>
            </a:r>
          </a:p>
          <a:p xmlns:a="http://schemas.openxmlformats.org/drawingml/2006/main">
            <a:r>
              <a:t>Here, foreground means the animal. Picture visibility uses the whole picture as its reference. Foreground visibility uses the original animal region.</a:t>
            </a:r>
          </a:p>
          <a:p xmlns:a="http://schemas.openxmlformats.org/drawingml/2006/main">
            <a:r>
              <a:t/>
            </a:r>
          </a:p>
          <a:p xmlns:a="http://schemas.openxmlformats.org/drawingml/2006/main">
            <a:r>
              <a:t>So equal picture area can retain different content. This is why I measure animal visibility alongside accuracy. Now, how do I test this across more images?</a:t>
            </a:r>
          </a:p>
          <a:p xmlns:a="http://schemas.openxmlformats.org/drawingml/2006/main">
            <a:r>
              <a:t/>
            </a:r>
          </a:p>
          <a:p xmlns:a="http://schemas.openxmlformats.org/drawingml/2006/main">
            <a:r>
              <a:t>SOURCES: results/extension_v2/design_example_selection.json; results/extension_v2/conditions.csv; Oxford-IIIT Pet images and annotations, https://www.robots.ox.ac.uk/~vgg/data/pets/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85 seconds</a:t>
            </a:r>
          </a:p>
          <a:p xmlns:a="http://schemas.openxmlformats.org/drawingml/2006/main">
            <a:r>
              <a:t>ANCHOR: The new images never select or refit the classifiers.</a:t>
            </a:r>
          </a:p>
          <a:p xmlns:a="http://schemas.openxmlformats.org/drawingml/2006/main">
            <a:r>
              <a:t/>
            </a:r>
          </a:p>
          <a:p xmlns:a="http://schemas.openxmlformats.org/drawingml/2006/main">
            <a:r>
              <a:t>This slide shows the steps of the experiment. All images come from the same Oxford-IIIT Pet dataset, with thirty-seven breeds.</a:t>
            </a:r>
          </a:p>
          <a:p xmlns:a="http://schemas.openxmlformats.org/drawingml/2006/main">
            <a:r>
              <a:t/>
            </a:r>
          </a:p>
          <a:p xmlns:a="http://schemas.openxmlformats.org/drawingml/2006/main">
            <a:r>
              <a:t>First, I use fourteen hundred eighty clean images to train a classifier for each model. I use three hundred seventy validation images to choose the classifier settings. The pretrained models stay fixed.</a:t>
            </a:r>
          </a:p>
          <a:p xmlns:a="http://schemas.openxmlformats.org/drawingml/2006/main">
            <a:r>
              <a:t/>
            </a:r>
          </a:p>
          <a:p xmlns:a="http://schemas.openxmlformats.org/drawingml/2006/main">
            <a:r>
              <a:t>I then test one hundred eighty-five images, five per breed, to compare the models under different masking patterns.</a:t>
            </a:r>
          </a:p>
          <a:p xmlns:a="http://schemas.openxmlformats.org/drawingml/2006/main">
            <a:r>
              <a:t/>
            </a:r>
          </a:p>
          <a:p xmlns:a="http://schemas.openxmlformats.org/drawingml/2006/main">
            <a:r>
              <a:t>Next, I test another seven hundred forty images, twenty per breed. These are different pictures from the same dataset. This checks whether the same model ranking appears on different images.</a:t>
            </a:r>
          </a:p>
          <a:p xmlns:a="http://schemas.openxmlformats.org/drawingml/2006/main">
            <a:r>
              <a:t/>
            </a:r>
          </a:p>
          <a:p xmlns:a="http://schemas.openxmlformats.org/drawingml/2006/main">
            <a:r>
              <a:t>I keep the same models and classifiers for both tests, without retraining. Next, I'll explain what else stays the same in our comparisons.</a:t>
            </a:r>
          </a:p>
          <a:p xmlns:a="http://schemas.openxmlformats.org/drawingml/2006/main">
            <a:r>
              <a:t/>
            </a:r>
          </a:p>
          <a:p xmlns:a="http://schemas.openxmlformats.org/drawingml/2006/main">
            <a:r>
              <a:t>SOURCES: docs/PROTOCOL.md; docs/EXTENSION_V2_PROTOCOL.md; results/extension_v2/preparation_audit.json; pre-inference commit 815a33b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a:t>
            </a:r>
          </a:p>
          <a:p xmlns:a="http://schemas.openxmlformats.org/drawingml/2006/main">
            <a:r>
              <a:t>ANCHOR: Shared inputs control the evaluation, but they do not control model pretraining.</a:t>
            </a:r>
          </a:p>
          <a:p xmlns:a="http://schemas.openxmlformats.org/drawingml/2006/main">
            <a:r>
              <a:t/>
            </a:r>
          </a:p>
          <a:p xmlns:a="http://schemas.openxmlformats.org/drawingml/2006/main">
            <a:r>
              <a:t>This table separates three comparisons.</a:t>
            </a:r>
          </a:p>
          <a:p xmlns:a="http://schemas.openxmlformats.org/drawingml/2006/main">
            <a:r>
              <a:t/>
            </a:r>
          </a:p>
          <a:p xmlns:a="http://schemas.openxmlformats.org/drawingml/2006/main">
            <a:r>
              <a:t>In the first row, both models see the same pictures and masks, with the same classifier fitting method. The models and their training histories differ.</a:t>
            </a:r>
          </a:p>
          <a:p xmlns:a="http://schemas.openxmlformats.org/drawingml/2006/main">
            <a:r>
              <a:t/>
            </a:r>
          </a:p>
          <a:p xmlns:a="http://schemas.openxmlformats.org/drawingml/2006/main">
            <a:r>
              <a:t>In the second row, I keep the model, picture, mask and visible pixels fixed. Only the fill changes from gray to black.</a:t>
            </a:r>
          </a:p>
          <a:p xmlns:a="http://schemas.openxmlformats.org/drawingml/2006/main">
            <a:r>
              <a:t/>
            </a:r>
          </a:p>
          <a:p xmlns:a="http://schemas.openxmlformats.org/drawingml/2006/main">
            <a:r>
              <a:t>In the last row, I move the same-sized square on the same picture. The model stays fixed, but visible parts and background change.</a:t>
            </a:r>
          </a:p>
          <a:p xmlns:a="http://schemas.openxmlformats.org/drawingml/2006/main">
            <a:r>
              <a:t/>
            </a:r>
          </a:p>
          <a:p xmlns:a="http://schemas.openxmlformats.org/drawingml/2006/main">
            <a:r>
              <a:t>The bottom line is that training differences remain uncontrolled. We cannot isolate a training mechanism. Now, the results.</a:t>
            </a:r>
          </a:p>
          <a:p xmlns:a="http://schemas.openxmlformats.org/drawingml/2006/main">
            <a:r>
              <a:t/>
            </a:r>
          </a:p>
          <a:p xmlns:a="http://schemas.openxmlformats.org/drawingml/2006/main">
            <a:r>
              <a:t>SOURCES: docs/EXTENSION_V2_PROTOCOL.md; reports/EXTENSION_V2_EN.md, Motivation and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53 seconds</a:t>
            </a:r>
          </a:p>
          <a:p xmlns:a="http://schemas.openxmlformats.org/drawingml/2006/main">
            <a:r>
              <a:t>ANCHOR: The center and random conditions give opposite model rankings.</a:t>
            </a:r>
          </a:p>
          <a:p xmlns:a="http://schemas.openxmlformats.org/drawingml/2006/main">
            <a:r>
              <a:t/>
            </a:r>
          </a:p>
          <a:p xmlns:a="http://schemas.openxmlformats.org/drawingml/2006/main">
            <a:r>
              <a:t>These are the second-test results: seven hundred forty images, gray fill, and twenty-five percent of each picture visible. All four patterns were tested. This chart focuses on center and random, where the ranking reverses. Blue is AIMv2. Orange is DINOv2.</a:t>
            </a:r>
          </a:p>
          <a:p xmlns:a="http://schemas.openxmlformats.org/drawingml/2006/main">
            <a:r>
              <a:t/>
            </a:r>
          </a:p>
          <a:p xmlns:a="http://schemas.openxmlformats.org/drawingml/2006/main">
            <a:r>
              <a:t>For center, AIMv2 gets eighty-seven percent accuracy and DINOv2 sixty-three. For random, AIMv2 gets thirty-four percent and DINOv2 seventy.</a:t>
            </a:r>
          </a:p>
          <a:p xmlns:a="http://schemas.openxmlformats.org/drawingml/2006/main">
            <a:r>
              <a:t/>
            </a:r>
          </a:p>
          <a:p xmlns:a="http://schemas.openxmlformats.org/drawingml/2006/main">
            <a:r>
              <a:t>So changing the mask changes which model does better. Does this also happen with black fill?</a:t>
            </a:r>
          </a:p>
          <a:p xmlns:a="http://schemas.openxmlformats.org/drawingml/2006/main">
            <a:r>
              <a:t/>
            </a:r>
          </a:p>
          <a:p xmlns:a="http://schemas.openxmlformats.org/drawingml/2006/main">
            <a:r>
              <a:t>SOURCES: results/extension_v2/summary.csv; results/extension_v2/primary_contrasts.csv; results/extension_v2/analysis_audit.json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49 seconds</a:t>
            </a:r>
          </a:p>
          <a:p xmlns:a="http://schemas.openxmlformats.org/drawingml/2006/main">
            <a:r>
              <a:t>ANCHOR: The ordering repeats, while absolute accuracy still depends on the fill.</a:t>
            </a:r>
          </a:p>
          <a:p xmlns:a="http://schemas.openxmlformats.org/drawingml/2006/main">
            <a:r>
              <a:t/>
            </a:r>
          </a:p>
          <a:p xmlns:a="http://schemas.openxmlformats.org/drawingml/2006/main">
            <a:r>
              <a:t>The first two rows repeat the gray results. The next two show black fill.</a:t>
            </a:r>
          </a:p>
          <a:p xmlns:a="http://schemas.openxmlformats.org/drawingml/2006/main">
            <a:r>
              <a:t/>
            </a:r>
          </a:p>
          <a:p xmlns:a="http://schemas.openxmlformats.org/drawingml/2006/main">
            <a:r>
              <a:t>With black, center gives AIMv2 about eighty-seven percent accuracy and DINOv2 sixty-two. Random gives AIMv2 about thirty percent and DINOv2 sixty-two.</a:t>
            </a:r>
          </a:p>
          <a:p xmlns:a="http://schemas.openxmlformats.org/drawingml/2006/main">
            <a:r>
              <a:t/>
            </a:r>
          </a:p>
          <a:p xmlns:a="http://schemas.openxmlformats.org/drawingml/2006/main">
            <a:r>
              <a:t>As noted below, visible pixels and mask positions stay identical. Only the fill color changes. The ordering repeats, although the scores change.</a:t>
            </a:r>
          </a:p>
          <a:p xmlns:a="http://schemas.openxmlformats.org/drawingml/2006/main">
            <a:r>
              <a:t/>
            </a:r>
          </a:p>
          <a:p xmlns:a="http://schemas.openxmlformats.org/drawingml/2006/main">
            <a:r>
              <a:t>Next, I measure how much animal content these patterns leave visible.</a:t>
            </a:r>
          </a:p>
          <a:p xmlns:a="http://schemas.openxmlformats.org/drawingml/2006/main">
            <a:r>
              <a:t/>
            </a:r>
          </a:p>
          <a:p xmlns:a="http://schemas.openxmlformats.org/drawingml/2006/main">
            <a:r>
              <a:t>SOURCES: results/extension_v2/summary.csv; results/extension_v2/primary_contrasts.csv; results/extension_v2/fill_sensitivity.csv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57 seconds</a:t>
            </a:r>
          </a:p>
          <a:p xmlns:a="http://schemas.openxmlformats.org/drawingml/2006/main">
            <a:r>
              <a:t>ANCHOR: Foreground coverage identifies a confound, without explaining away the score gap.</a:t>
            </a:r>
          </a:p>
          <a:p xmlns:a="http://schemas.openxmlformats.org/drawingml/2006/main">
            <a:r>
              <a:t/>
            </a:r>
          </a:p>
          <a:p xmlns:a="http://schemas.openxmlformats.org/drawingml/2006/main">
            <a:r>
              <a:t>All four patterns keep twenty-five percent of the picture. The chart shows how much of the animal remains, averaged over seven hundred forty images.</a:t>
            </a:r>
          </a:p>
          <a:p xmlns:a="http://schemas.openxmlformats.org/drawingml/2006/main">
            <a:r>
              <a:t/>
            </a:r>
          </a:p>
          <a:p xmlns:a="http://schemas.openxmlformats.org/drawingml/2006/main">
            <a:r>
              <a:t>From left to right, top keeps about ten percent of the animal, bottom fifteen, center sixty-three, and random twenty-five.</a:t>
            </a:r>
          </a:p>
          <a:p xmlns:a="http://schemas.openxmlformats.org/drawingml/2006/main">
            <a:r>
              <a:t/>
            </a:r>
          </a:p>
          <a:p xmlns:a="http://schemas.openxmlformats.org/drawingml/2006/main">
            <a:r>
              <a:t>So mask location and visible content change together. This does not tell us how much animal visibility explains the accuracy gap.</a:t>
            </a:r>
          </a:p>
          <a:p xmlns:a="http://schemas.openxmlformats.org/drawingml/2006/main">
            <a:r>
              <a:t/>
            </a:r>
          </a:p>
          <a:p xmlns:a="http://schemas.openxmlformats.org/drawingml/2006/main">
            <a:r>
              <a:t>Next, I move a fixed-size square on the same image to check what area measurements miss.</a:t>
            </a:r>
          </a:p>
          <a:p xmlns:a="http://schemas.openxmlformats.org/drawingml/2006/main">
            <a:r>
              <a:t/>
            </a:r>
          </a:p>
          <a:p xmlns:a="http://schemas.openxmlformats.org/drawingml/2006/main">
            <a:r>
              <a:t>SOURCES: results/extension_v2/foreground_coverage.csv; results/extension_v2/conditions.csv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79 seconds</a:t>
            </a:r>
          </a:p>
          <a:p xmlns:a="http://schemas.openxmlformats.org/drawingml/2006/main">
            <a:r>
              <a:t>ANCHOR: Matching foreground area still allows predictions to change.</a:t>
            </a:r>
          </a:p>
          <a:p xmlns:a="http://schemas.openxmlformats.org/drawingml/2006/main">
            <a:r>
              <a:t/>
            </a:r>
          </a:p>
          <a:p xmlns:a="http://schemas.openxmlformats.org/drawingml/2006/main">
            <a:r>
              <a:t>Here, a square covers twenty-five percent, leaving seventy-five percent visible. I move it to different locations.</a:t>
            </a:r>
          </a:p>
          <a:p xmlns:a="http://schemas.openxmlformats.org/drawingml/2006/main">
            <a:r>
              <a:t/>
            </a:r>
          </a:p>
          <a:p xmlns:a="http://schemas.openxmlformats.org/drawingml/2006/main">
            <a:r>
              <a:t>The table compares more versus less animal visible. AIMv2 gets about ninety-three versus sixty-seven percent accuracy. DINOv2 gets eighty-three versus sixty-seven. Both have higher average accuracy when more animal remains.</a:t>
            </a:r>
          </a:p>
          <a:p xmlns:a="http://schemas.openxmlformats.org/drawingml/2006/main">
            <a:r>
              <a:t/>
            </a:r>
          </a:p>
          <a:p xmlns:a="http://schemas.openxmlformats.org/drawingml/2006/main">
            <a:r>
              <a:t>Below, I compare two versions of one image. For example, sixty and sixty-two percent animal visibility meet the three-percentage-point limit.</a:t>
            </a:r>
          </a:p>
          <a:p xmlns:a="http://schemas.openxmlformats.org/drawingml/2006/main">
            <a:r>
              <a:t/>
            </a:r>
          </a:p>
          <a:p xmlns:a="http://schemas.openxmlformats.org/drawingml/2006/main">
            <a:r>
              <a:t>For each model, I count pairs with one correct and one wrong answer: about eleven percent for AIMv2, nine percent for DINOv2.</a:t>
            </a:r>
          </a:p>
          <a:p xmlns:a="http://schemas.openxmlformats.org/drawingml/2006/main">
            <a:r>
              <a:t/>
            </a:r>
          </a:p>
          <a:p xmlns:a="http://schemas.openxmlformats.org/drawingml/2006/main">
            <a:r>
              <a:t>These percentages are not accuracies. Two wrong answers count as no switch, so fewer switches are not necessarily better. Next, which animal parts remain visible?</a:t>
            </a:r>
          </a:p>
          <a:p xmlns:a="http://schemas.openxmlformats.org/drawingml/2006/main">
            <a:r>
              <a:t/>
            </a:r>
          </a:p>
          <a:p xmlns:a="http://schemas.openxmlformats.org/drawingml/2006/main">
            <a:r>
              <a:t>SOURCES: docs/EXTENSION_V2_PROTOCOL.md; results/extension_v2/paired_summary.csv; results/extension_v2/eligibility.csv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69 seconds</a:t>
            </a:r>
          </a:p>
          <a:p xmlns:a="http://schemas.openxmlformats.org/drawingml/2006/main">
            <a:r>
              <a:t>ANCHOR: This measures a change in retained content, not an isolated head effect.</a:t>
            </a:r>
          </a:p>
          <a:p xmlns:a="http://schemas.openxmlformats.org/drawingml/2006/main">
            <a:r>
              <a:t/>
            </a:r>
          </a:p>
          <a:p xmlns:a="http://schemas.openxmlformats.org/drawingml/2006/main">
            <a:r>
              <a:t>This separate check uses head boxes. Of one hundred eighty-five unused images, one hundred fifty-nine meet the pairing rules.</a:t>
            </a:r>
          </a:p>
          <a:p xmlns:a="http://schemas.openxmlformats.org/drawingml/2006/main">
            <a:r>
              <a:t/>
            </a:r>
          </a:p>
          <a:p xmlns:a="http://schemas.openxmlformats.org/drawingml/2006/main">
            <a:r>
              <a:t>The pictures show the same-sized square in different positions. The left version keeps more head visible.</a:t>
            </a:r>
          </a:p>
          <a:p xmlns:a="http://schemas.openxmlformats.org/drawingml/2006/main">
            <a:r>
              <a:t/>
            </a:r>
          </a:p>
          <a:p xmlns:a="http://schemas.openxmlformats.org/drawingml/2006/main">
            <a:r>
              <a:t>The table shows higher accuracy with more head visible: a gap of about nineteen percentage points for AIMv2 and eleven for DINOv2.</a:t>
            </a:r>
          </a:p>
          <a:p xmlns:a="http://schemas.openxmlformats.org/drawingml/2006/main">
            <a:r>
              <a:t/>
            </a:r>
          </a:p>
          <a:p xmlns:a="http://schemas.openxmlformats.org/drawingml/2006/main">
            <a:r>
              <a:t>The measurements below show similar animal visibility, about fifty-six percent in both groups, but head visibility differs: eighty-three versus thirteen percent.</a:t>
            </a:r>
          </a:p>
          <a:p xmlns:a="http://schemas.openxmlformats.org/drawingml/2006/main">
            <a:r>
              <a:t/>
            </a:r>
          </a:p>
          <a:p xmlns:a="http://schemas.openxmlformats.org/drawingml/2006/main">
            <a:r>
              <a:t>Other parts and background change too. This cannot isolate a head effect or explain the main crossover. Now, the conclusions.</a:t>
            </a:r>
          </a:p>
          <a:p xmlns:a="http://schemas.openxmlformats.org/drawingml/2006/main">
            <a:r>
              <a:t/>
            </a:r>
          </a:p>
          <a:p xmlns:a="http://schemas.openxmlformats.org/drawingml/2006/main">
            <a:r>
              <a:t>SOURCES: results/extension_v2/preparation_audit.json; results/extension_v2/paired_summary.csv; results/extension_v2/design_example_selection.json; Oxford-IIIT Pet, https://www.robots.ox.ac.uk/~vgg/data/pets/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53 seconds</a:t>
            </a:r>
          </a:p>
          <a:p xmlns:a="http://schemas.openxmlformats.org/drawingml/2006/main">
            <a:r>
              <a:t>ANCHOR: The contribution is a bounded evaluation result with explicit diagnostic limits.</a:t>
            </a:r>
          </a:p>
          <a:p xmlns:a="http://schemas.openxmlformats.org/drawingml/2006/main">
            <a:r>
              <a:t/>
            </a:r>
          </a:p>
          <a:p xmlns:a="http://schemas.openxmlformats.org/drawingml/2006/main">
            <a:r>
              <a:t>On the left are the findings. The better model changes with the mask under gray and black fill. Equal picture area can retain different amounts of animal. Similar animal area can show different parts.</a:t>
            </a:r>
          </a:p>
          <a:p xmlns:a="http://schemas.openxmlformats.org/drawingml/2006/main">
            <a:r>
              <a:t/>
            </a:r>
          </a:p>
          <a:p xmlns:a="http://schemas.openxmlformats.org/drawingml/2006/main">
            <a:r>
              <a:t>On the right are the limits. Training differs between models. Mask position and content change together. We use one dataset and artificial masks.</a:t>
            </a:r>
          </a:p>
          <a:p xmlns:a="http://schemas.openxmlformats.org/drawingml/2006/main">
            <a:r>
              <a:t/>
            </a:r>
          </a:p>
          <a:p xmlns:a="http://schemas.openxmlformats.org/drawingml/2006/main">
            <a:r>
              <a:t>Our follow-up focused on twenty-five percent image visibility. Next, does the ranking also reverse when more remains visible?</a:t>
            </a:r>
          </a:p>
          <a:p xmlns:a="http://schemas.openxmlformats.org/drawingml/2006/main">
            <a:r>
              <a:t/>
            </a:r>
          </a:p>
          <a:p xmlns:a="http://schemas.openxmlformats.org/drawingml/2006/main">
            <a:r>
              <a:t>SOURCES: reports/EXTENSION_V2_EN.md; docs/EXTENSION_V2_PROTOCOL.md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63 seconds</a:t>
            </a:r>
          </a:p>
          <a:p xmlns:a="http://schemas.openxmlformats.org/drawingml/2006/main">
            <a:r>
              <a:t>ANCHOR: The next priority is to test whether the readout changes the finding.</a:t>
            </a:r>
          </a:p>
          <a:p xmlns:a="http://schemas.openxmlformats.org/drawingml/2006/main">
            <a:r>
              <a:t/>
            </a:r>
          </a:p>
          <a:p xmlns:a="http://schemas.openxmlformats.org/drawingml/2006/main">
            <a:r>
              <a:t>First, I'll test fifty and seventy-five percent image visibility across all four patterns, using the same seven hundred forty images, models and classifiers. This checks whether the reversal also occurs with less occlusion.</a:t>
            </a:r>
          </a:p>
          <a:p xmlns:a="http://schemas.openxmlformats.org/drawingml/2006/main">
            <a:r>
              <a:t/>
            </a:r>
          </a:p>
          <a:p xmlns:a="http://schemas.openxmlformats.org/drawingml/2006/main">
            <a:r>
              <a:t>Second, I'll compare averaging patch features with taking their maximum. I'll fit each classifier on clean training images and choose settings on validation. This checks whether feature pooling affects the reversal. Both steps reuse evaluated images.</a:t>
            </a:r>
          </a:p>
          <a:p xmlns:a="http://schemas.openxmlformats.org/drawingml/2006/main">
            <a:r>
              <a:t/>
            </a:r>
          </a:p>
          <a:p xmlns:a="http://schemas.openxmlformats.org/drawingml/2006/main">
            <a:r>
              <a:t>The public repository contains our code and results. Codex helped with the work and presentation, as disclosed below. Thank you.</a:t>
            </a:r>
          </a:p>
          <a:p xmlns:a="http://schemas.openxmlformats.org/drawingml/2006/main">
            <a:r>
              <a:t/>
            </a:r>
          </a:p>
          <a:p xmlns:a="http://schemas.openxmlformats.org/drawingml/2006/main">
            <a:r>
              <a:t>SOURCES: https://github.com/Bensssonxx/comp669-object-visibility; docs/AI_USE.md; docs/RELATED_WORK.md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Skip during the 12-minute talk. The main sample has 20 images per breed, so image and breed-macro weighting agree. Average random repeats within image before resampling. Auxiliary estimates weight represented breeds equally after eligibility. The v1 lack of common foreground-support bins at 50% image visibility remains unresolved.</a:t>
            </a:r>
          </a:p>
          <a:p xmlns:a="http://schemas.openxmlformats.org/drawingml/2006/main">
            <a:r>
              <a:t>SOURCES: results/extension_v2/summary.csv; primary_contrasts.csv; analysis_audit.json; docs/EXTENSION_V2_PROTOCOL.md</a:t>
            </a:r>
          </a:p>
          <a:p xmlns:a="http://schemas.openxmlformats.org/drawingml/2006/main">
            <a:r>
              <a:t>TECHNICAL NOTES: 1,480 clean training / 370 clean validation. C=10 selected on clean validation. Frozen AIMv2-L/14 and DINOv2-L/14, final mean patch features and L2 normalization, shared 224x224 full-frame preprocessing. Separate learned classifiers. All patch tokens remain, with no inference-compute saving.</a:t>
            </a:r>
          </a:p>
          <a:p xmlns:a="http://schemas.openxmlformats.org/drawingml/2006/main">
            <a:r>
              <a:t>10,000 breed-stratified image bootstrap resamples. Random repetitions averaged within original image. Seven prespecified primary contrasts receive approximate Bonferroni family-wise 95% intervals. Intervals condition on fixed encoder weights and classifiers.</a:t>
            </a:r>
          </a:p>
          <a:p xmlns:a="http://schemas.openxmlformats.org/drawingml/2006/main">
            <a:r>
              <a:t>Separate auxiliary cohort, not the 740-image main sample. 159 of 185 unused trainval images meet fixed criteria. Head proxy intersects foreground with a head bounding box, not precise segmentation. This changes a content bundle, cannot isolate a head effect, and cannot explain the main crossover in another cohort.</a:t>
            </a:r>
          </a:p>
          <a:p xmlns:a="http://schemas.openxmlformats.org/drawingml/2006/main">
            <a:r>
              <a:t>Planned, not yet run: first extend the 740-image primary cohort to 50% and 75% visible area for all four patterns, both fills, reusing frozen encoders and original probes. Next compare final normalized patch mean versus elementwise max pooling for both encoders, followed by L2 normalization and separate classifiers fitted on clean training data with settings selected on clean validation only. Fix the new protocol before predictions and report all conditions. Reusing evaluated images is sensitivity analysis, not independent new-image confirmation. Neither check identifies a pretraining mechanism. Another dataset or natural occluders remain future work.</a:t>
            </a:r>
          </a:p>
          <a:p xmlns:a="http://schemas.openxmlformats.org/drawingml/2006/main">
            <a:r>
              <a:t>MODEL DIFFERENCES: aim_minus_dino_center_fill128: +23.9 [19.9, 28.2]</a:t>
            </a:r>
          </a:p>
          <a:p xmlns:a="http://schemas.openxmlformats.org/drawingml/2006/main">
            <a:r>
              <a:t>aim_minus_dino_random_fill128: -36.1 [-39.9, -32.3]</a:t>
            </a:r>
          </a:p>
          <a:p xmlns:a="http://schemas.openxmlformats.org/drawingml/2006/main">
            <a:r>
              <a:t>aim_minus_dino_center_fill0: +25.4 [21.4, 29.3]</a:t>
            </a:r>
          </a:p>
          <a:p xmlns:a="http://schemas.openxmlformats.org/drawingml/2006/main">
            <a:r>
              <a:t>aim_minus_dino_random_fill0: -31.8 [-35.7, -28.0]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Main protocols: docs/PROTOCOL.md and docs/EXTENSION_V2_PROTOCOL.md. Follow-up raw predictions and audit evidence: results/extension_v2/. AI disclosure: docs/AI_USE.md. The project is a replication and extension, not first-ever foreground/background analysis.</a:t>
            </a:r>
          </a:p>
          <a:p xmlns:a="http://schemas.openxmlformats.org/drawingml/2006/main">
            <a:r>
              <a:t>Oxford-IIIT Pet, Parkhi et al. (2012): https://www.robots.ox.ac.uk/~vgg/data/pets/</a:t>
            </a:r>
          </a:p>
          <a:p xmlns:a="http://schemas.openxmlformats.org/drawingml/2006/main">
            <a:r>
              <a:t>Intriguing Properties of Vision Transformers / PatchDrop (2021): https://arxiv.org/abs/2105.10497</a:t>
            </a:r>
          </a:p>
          <a:p xmlns:a="http://schemas.openxmlformats.org/drawingml/2006/main">
            <a:r>
              <a:t>Noise or Signal: The Role of Image Backgrounds (2020): https://arxiv.org/abs/2006.09994</a:t>
            </a:r>
          </a:p>
          <a:p xmlns:a="http://schemas.openxmlformats.org/drawingml/2006/main">
            <a:r>
              <a:t>AIMv2, official implementation: https://github.com/apple-aiml-research/ml-aim</a:t>
            </a:r>
          </a:p>
          <a:p xmlns:a="http://schemas.openxmlformats.org/drawingml/2006/main">
            <a:r>
              <a:t>DINOv2, official implementation: https://github.com/facebookresearch/dinov2</a:t>
            </a:r>
          </a:p>
          <a:p xmlns:a="http://schemas.openxmlformats.org/drawingml/2006/main">
            <a:r>
              <a:t>Project protocols, predictions and analysis: https://github.com/Bensssonxx/comp669-object-visibility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a96f14a023442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78167ead17a4cc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c8d24ddba4e49c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d90e96fdef74df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ae0a60492fe4b8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2bfecb1f17a4e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1159CE-2F82-4A6A-B0A1-0C4C5AD9B4D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BB671BD-9B45-4DE1-B034-E19162F9318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BBC215D-2FD8-4514-960B-81186F857E0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06B365-19A7-4A7F-877F-C90EF7770C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6524FB2-6A72-4C99-BAC1-E7E104A63BC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F2BD181-2D1B-4394-9956-A9F4100B34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DD2754A-A878-4217-80DB-14165F037D8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C5673B4-BE51-41AC-A4C3-1D7AECB4515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5324AB-9719-4A59-BE45-C5A8462BFF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0F4AC5-44B6-4A5F-A21F-BDE6AC487C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bb52dd744049d5" /><Relationship Type="http://schemas.openxmlformats.org/officeDocument/2006/relationships/slideLayout" Target="/ppt/slideLayouts/slideLayout1.xml" Id="R9278208da52240b5" /><Relationship Type="http://schemas.openxmlformats.org/officeDocument/2006/relationships/slideLayout" Target="/ppt/slideLayouts/slideLayout2.xml" Id="Rc33237001a984fb0" /><Relationship Type="http://schemas.openxmlformats.org/officeDocument/2006/relationships/slideLayout" Target="/ppt/slideLayouts/slideLayout3.xml" Id="R1fea2fa51b4c4129" /><Relationship Type="http://schemas.openxmlformats.org/officeDocument/2006/relationships/slideLayout" Target="/ppt/slideLayouts/slideLayout4.xml" Id="R87961e1b01e44294" /><Relationship Type="http://schemas.openxmlformats.org/officeDocument/2006/relationships/slideLayout" Target="/ppt/slideLayouts/slideLayout5.xml" Id="R2e0f78a90a21472e" /><Relationship Type="http://schemas.openxmlformats.org/officeDocument/2006/relationships/slideLayout" Target="/ppt/slideLayouts/slideLayout6.xml" Id="R82778db9e46f4f3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78208da52240b5"/>
    <p:sldLayoutId xmlns:r="http://schemas.openxmlformats.org/officeDocument/2006/relationships" id="2147483650" r:id="Rc33237001a984fb0"/>
    <p:sldLayoutId xmlns:r="http://schemas.openxmlformats.org/officeDocument/2006/relationships" id="2147483651" r:id="R1fea2fa51b4c4129"/>
    <p:sldLayoutId xmlns:r="http://schemas.openxmlformats.org/officeDocument/2006/relationships" id="2147483652" r:id="R87961e1b01e44294"/>
    <p:sldLayoutId xmlns:r="http://schemas.openxmlformats.org/officeDocument/2006/relationships" id="2147483653" r:id="R2e0f78a90a21472e"/>
    <p:sldLayoutId xmlns:r="http://schemas.openxmlformats.org/officeDocument/2006/relationships" id="2147483654" r:id="R82778db9e46f4f3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1a6402ef9c94629" /><Relationship Type="http://schemas.openxmlformats.org/officeDocument/2006/relationships/notesSlide" Target="/ppt/notesSlides/notesSlide1.xml" Id="R52998a3667b646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b9fa3422bbf4b2c" /><Relationship Type="http://schemas.openxmlformats.org/officeDocument/2006/relationships/notesSlide" Target="/ppt/notesSlides/notesSlide2.xml" Id="R1e72831c106142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a3c7651ff774f3c" /><Relationship Type="http://schemas.openxmlformats.org/officeDocument/2006/relationships/image" Target="/ppt/media/image.png" Id="Rf52a565760e748a8" /><Relationship Type="http://schemas.openxmlformats.org/officeDocument/2006/relationships/image" Target="/ppt/media/image2.png" Id="R3e836faa1fe84757" /><Relationship Type="http://schemas.openxmlformats.org/officeDocument/2006/relationships/image" Target="/ppt/media/image3.png" Id="R146b4641dbf44875" /><Relationship Type="http://schemas.openxmlformats.org/officeDocument/2006/relationships/notesSlide" Target="/ppt/notesSlides/notesSlide3.xml" Id="R6915dd8e4558499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dd0c5c8117145db" /><Relationship Type="http://schemas.openxmlformats.org/officeDocument/2006/relationships/notesSlide" Target="/ppt/notesSlides/notesSlide4.xml" Id="R802885a2ca7b41c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849818d04ca454e" /><Relationship Type="http://schemas.openxmlformats.org/officeDocument/2006/relationships/notesSlide" Target="/ppt/notesSlides/notesSlide5.xml" Id="Re94530668dae4e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f10ac8ccea04100" /><Relationship Type="http://schemas.openxmlformats.org/officeDocument/2006/relationships/chart" Target="/ppt/slides/charts/chart1.xml" Id="Rd524409bbd0c4cb0" /><Relationship Type="http://schemas.openxmlformats.org/officeDocument/2006/relationships/notesSlide" Target="/ppt/notesSlides/notesSlide6.xml" Id="R92e8b853074c47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c2ce66706a646be" /><Relationship Type="http://schemas.openxmlformats.org/officeDocument/2006/relationships/notesSlide" Target="/ppt/notesSlides/notesSlide7.xml" Id="Rcc885456bad3456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fe8d99575184658" /><Relationship Type="http://schemas.openxmlformats.org/officeDocument/2006/relationships/chart" Target="/ppt/slides/charts/chart2.xml" Id="R52bf9b29701340cb" /><Relationship Type="http://schemas.openxmlformats.org/officeDocument/2006/relationships/notesSlide" Target="/ppt/notesSlides/notesSlide8.xml" Id="Rc91df57fe9434bb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77cf4c886bf475c" /><Relationship Type="http://schemas.openxmlformats.org/officeDocument/2006/relationships/notesSlide" Target="/ppt/notesSlides/notesSlide9.xml" Id="R49c02cf05adb43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67eb16aa3c847e4" /><Relationship Type="http://schemas.openxmlformats.org/officeDocument/2006/relationships/image" Target="/ppt/media/image4.png" Id="R75c613231f404462" /><Relationship Type="http://schemas.openxmlformats.org/officeDocument/2006/relationships/image" Target="/ppt/media/image5.png" Id="Rdf40b28db1554d53" /><Relationship Type="http://schemas.openxmlformats.org/officeDocument/2006/relationships/notesSlide" Target="/ppt/notesSlides/notesSlide10.xml" Id="R82bbf9e8f7cc478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93993e89dde4fdd" /><Relationship Type="http://schemas.openxmlformats.org/officeDocument/2006/relationships/notesSlide" Target="/ppt/notesSlides/notesSlide11.xml" Id="R29bb10b9866f468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51d047847f541be" /><Relationship Type="http://schemas.openxmlformats.org/officeDocument/2006/relationships/hyperlink" Target="https://github.com/Bensssonxx/comp669-object-visibility" TargetMode="External" Id="Rbf1cce3a7a524949" /><Relationship Type="http://schemas.openxmlformats.org/officeDocument/2006/relationships/notesSlide" Target="/ppt/notesSlides/notesSlide12.xml" Id="R108249d1f12d43c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603a82344fc426a" /><Relationship Type="http://schemas.openxmlformats.org/officeDocument/2006/relationships/notesSlide" Target="/ppt/notesSlides/notesSlide13.xml" Id="R2f32027d0b6842c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84f605c441e4d5c" /><Relationship Type="http://schemas.openxmlformats.org/officeDocument/2006/relationships/hyperlink" Target="https://www.robots.ox.ac.uk/~vgg/data/pets/" TargetMode="External" Id="R34f29befb3ad43a4" /><Relationship Type="http://schemas.openxmlformats.org/officeDocument/2006/relationships/hyperlink" Target="https://arxiv.org/abs/2105.10497" TargetMode="External" Id="R943ccaea21d04fe0" /><Relationship Type="http://schemas.openxmlformats.org/officeDocument/2006/relationships/hyperlink" Target="https://arxiv.org/abs/2006.09994" TargetMode="External" Id="R45ec92e7cdeb4710" /><Relationship Type="http://schemas.openxmlformats.org/officeDocument/2006/relationships/hyperlink" Target="https://github.com/apple-aiml-research/ml-aim" TargetMode="External" Id="R56eb9a5cec374c35" /><Relationship Type="http://schemas.openxmlformats.org/officeDocument/2006/relationships/hyperlink" Target="https://github.com/facebookresearch/dinov2" TargetMode="External" Id="Rf7369ad64fdf4ba3" /><Relationship Type="http://schemas.openxmlformats.org/officeDocument/2006/relationships/hyperlink" Target="https://github.com/Bensssonxx/comp669-object-visibility" TargetMode="External" Id="R309b31e76b5e45c4" /><Relationship Type="http://schemas.openxmlformats.org/officeDocument/2006/relationships/notesSlide" Target="/ppt/notesSlides/notesSlide14.xml" Id="Rf38c7a7670b9452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AIMv2</c:v>
          </c:tx>
          <c:spPr>
            <a:solidFill xmlns:a="http://schemas.openxmlformats.org/drawingml/2006/main">
              <a:srgbClr val="0072B2"/>
            </a:solidFill>
          </c:spPr>
          <c:invertIfNegative val="0"/>
          <c:cat>
            <c:strRef>
              <c:f>'Chart Data'!$A$2:$A$3</c:f>
              <c:strCache>
                <c:ptCount val="2"/>
                <c:pt idx="0">
                  <c:v>Center</c:v>
                </c:pt>
                <c:pt idx="1">
                  <c:v>Random</c:v>
                </c:pt>
              </c:strCache>
            </c:strRef>
          </c:cat>
          <c:val>
            <c:numRef>
              <c:f>'Chart Data'!$B$2:$B$3</c:f>
              <c:numCache>
                <c:formatCode>0</c:formatCode>
                <c:ptCount val="2"/>
                <c:pt idx="0">
                  <c:v>87</c:v>
                </c:pt>
                <c:pt idx="1">
                  <c:v>33.6</c:v>
                </c:pt>
              </c:numCache>
            </c:numRef>
          </c:val>
        </c:ser>
        <c:ser>
          <c:idx val="1"/>
          <c:order val="1"/>
          <c:tx>
            <c:v>DINOv2</c:v>
          </c:tx>
          <c:spPr>
            <a:solidFill xmlns:a="http://schemas.openxmlformats.org/drawingml/2006/main">
              <a:srgbClr val="D55E00"/>
            </a:solidFill>
          </c:spPr>
          <c:invertIfNegative val="0"/>
          <c:cat>
            <c:strRef>
              <c:f>'Chart Data'!$C$2:$C$3</c:f>
              <c:strCache>
                <c:ptCount val="2"/>
                <c:pt idx="0">
                  <c:v>Center</c:v>
                </c:pt>
                <c:pt idx="1">
                  <c:v>Random</c:v>
                </c:pt>
              </c:strCache>
            </c:strRef>
          </c:cat>
          <c:val>
            <c:numRef>
              <c:f>'Chart Data'!$D$2:$D$3</c:f>
              <c:numCache>
                <c:formatCode>0</c:formatCode>
                <c:ptCount val="2"/>
                <c:pt idx="0">
                  <c:v>63.1</c:v>
                </c:pt>
                <c:pt idx="1">
                  <c:v>69.6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b="1">
                  <a:solidFill>
                    <a:srgbClr val="17313D"/>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6C2C7"/>
            </a:solidFill>
          </a:ln>
        </c:spPr>
        <c:txPr>
          <a:bodyPr xmlns:a="http://schemas.openxmlformats.org/drawingml/2006/main" anchorCtr="1"/>
          <a:lstStyle xmlns:a="http://schemas.openxmlformats.org/drawingml/2006/main"/>
          <a:p xmlns:a="http://schemas.openxmlformats.org/drawingml/2006/main">
            <a:pPr>
              <a:defRPr sz="1800">
                <a:solidFill>
                  <a:srgbClr val="17313D"/>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E3E9EC"/>
              </a:solidFill>
            </a:ln>
          </c:spPr>
        </c:majorGridlines>
        <c:title>
          <c:tx>
            <c:rich>
              <a:bodyPr xmlns:a="http://schemas.openxmlformats.org/drawingml/2006/main"/>
              <a:lstStyle xmlns:a="http://schemas.openxmlformats.org/drawingml/2006/main"/>
              <a:p xmlns:a="http://schemas.openxmlformats.org/drawingml/2006/main">
                <a:r>
                  <a:rPr sz="1650">
                    <a:solidFill>
                      <a:srgbClr val="52616A"/>
                    </a:solidFill>
                    <a:latin typeface="Arial"/>
                    <a:ea typeface="Arial"/>
                    <a:cs typeface="Arial"/>
                  </a:rPr>
                  <a:t>Accuracy (%)</a:t>
                </a:r>
              </a:p>
            </c:rich>
          </c:tx>
          <c:overlay val="0"/>
          <c:txPr>
            <a:bodyPr xmlns:a="http://schemas.openxmlformats.org/drawingml/2006/main" anchorCtr="1"/>
            <a:lstStyle xmlns:a="http://schemas.openxmlformats.org/drawingml/2006/main"/>
            <a:p xmlns:a="http://schemas.openxmlformats.org/drawingml/2006/main">
              <a:pPr>
                <a:defRPr sz="1650">
                  <a:solidFill>
                    <a:srgbClr val="52616A"/>
                  </a:solidFill>
                  <a:latin typeface="Arial"/>
                  <a:ea typeface="Arial"/>
                  <a:cs typeface="Arial"/>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16A"/>
                </a:solidFill>
                <a:latin typeface="Arial"/>
                <a:ea typeface="Arial"/>
                <a:cs typeface="Arial"/>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7313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Animal visible</c:v>
          </c:tx>
          <c:spPr>
            <a:solidFill xmlns:a="http://schemas.openxmlformats.org/drawingml/2006/main">
              <a:srgbClr val="007F7B"/>
            </a:solidFill>
          </c:spPr>
          <c:invertIfNegative val="0"/>
          <c:cat>
            <c:strRef>
              <c:f>'Chart Data'!$A$2:$A$5</c:f>
              <c:strCache>
                <c:ptCount val="4"/>
                <c:pt idx="0">
                  <c:v>Top (prefix)</c:v>
                </c:pt>
                <c:pt idx="1">
                  <c:v>Bottom (suffix)</c:v>
                </c:pt>
                <c:pt idx="2">
                  <c:v>Center</c:v>
                </c:pt>
                <c:pt idx="3">
                  <c:v>Random</c:v>
                </c:pt>
              </c:strCache>
            </c:strRef>
          </c:cat>
          <c:val>
            <c:numRef>
              <c:f>'Chart Data'!$B$2:$B$5</c:f>
              <c:numCache>
                <c:formatCode>0</c:formatCode>
                <c:ptCount val="4"/>
                <c:pt idx="0">
                  <c:v>9.6</c:v>
                </c:pt>
                <c:pt idx="1">
                  <c:v>15.3</c:v>
                </c:pt>
                <c:pt idx="2">
                  <c:v>62.5</c:v>
                </c:pt>
                <c:pt idx="3">
                  <c:v>25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b="1">
                  <a:solidFill>
                    <a:srgbClr val="17313D"/>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6C2C7"/>
            </a:solidFill>
          </a:ln>
        </c:spPr>
        <c:txPr>
          <a:bodyPr xmlns:a="http://schemas.openxmlformats.org/drawingml/2006/main" anchorCtr="1"/>
          <a:lstStyle xmlns:a="http://schemas.openxmlformats.org/drawingml/2006/main"/>
          <a:p xmlns:a="http://schemas.openxmlformats.org/drawingml/2006/main">
            <a:pPr>
              <a:defRPr sz="1800">
                <a:solidFill>
                  <a:srgbClr val="17313D"/>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E3E9EC"/>
              </a:solidFill>
            </a:ln>
          </c:spPr>
        </c:majorGridlines>
        <c:title>
          <c:tx>
            <c:rich>
              <a:bodyPr xmlns:a="http://schemas.openxmlformats.org/drawingml/2006/main"/>
              <a:lstStyle xmlns:a="http://schemas.openxmlformats.org/drawingml/2006/main"/>
              <a:p xmlns:a="http://schemas.openxmlformats.org/drawingml/2006/main">
                <a:r>
                  <a:rPr sz="1650">
                    <a:solidFill>
                      <a:srgbClr val="52616A"/>
                    </a:solidFill>
                    <a:latin typeface="Arial"/>
                    <a:ea typeface="Arial"/>
                    <a:cs typeface="Arial"/>
                  </a:rPr>
                  <a:t>Animal visible (%)</a:t>
                </a:r>
              </a:p>
            </c:rich>
          </c:tx>
          <c:overlay val="0"/>
          <c:txPr>
            <a:bodyPr xmlns:a="http://schemas.openxmlformats.org/drawingml/2006/main" anchorCtr="1"/>
            <a:lstStyle xmlns:a="http://schemas.openxmlformats.org/drawingml/2006/main"/>
            <a:p xmlns:a="http://schemas.openxmlformats.org/drawingml/2006/main">
              <a:pPr>
                <a:defRPr sz="1650">
                  <a:solidFill>
                    <a:srgbClr val="52616A"/>
                  </a:solidFill>
                  <a:latin typeface="Arial"/>
                  <a:ea typeface="Arial"/>
                  <a:cs typeface="Arial"/>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16A"/>
                </a:solidFill>
                <a:latin typeface="Arial"/>
                <a:ea typeface="Arial"/>
                <a:cs typeface="Arial"/>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8B1004B-EFFA-4289-8DFE-574F910D7DB2}"/>
              </a:ext>
            </a:extLst>
          </p:cNvPr>
          <p:cNvSpPr>
            <a:spLocks xmlns:a="http://schemas.openxmlformats.org/drawingml/2006/main" noGrp="1"/>
          </p:cNvSpPr>
          <p:nvPr/>
        </p:nvSpPr>
        <p:spPr>
          <a:xfrm xmlns:a="http://schemas.openxmlformats.org/drawingml/2006/main">
            <a:off x="609600" y="72390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Arial"/>
                <a:ea typeface="Arial"/>
                <a:cs typeface="Arial"/>
              </a:defRPr>
            </a:defPPr>
            <a:lvl1pPr>
              <a:buNone/>
              <a:defRPr sz="1350" b="1">
                <a:solidFill>
                  <a:srgbClr val="007F7B"/>
                </a:solidFill>
                <a:latin typeface="Arial"/>
                <a:ea typeface="Arial"/>
                <a:cs typeface="Arial"/>
              </a:defRPr>
            </a:lvl1pPr>
            <a:lvl2pPr>
              <a:buNone/>
              <a:defRPr sz="1350" b="1">
                <a:solidFill>
                  <a:srgbClr val="007F7B"/>
                </a:solidFill>
                <a:latin typeface="Arial"/>
                <a:ea typeface="Arial"/>
                <a:cs typeface="Arial"/>
              </a:defRPr>
            </a:lvl2pPr>
            <a:lvl3pPr>
              <a:buNone/>
              <a:defRPr sz="1350" b="1">
                <a:solidFill>
                  <a:srgbClr val="007F7B"/>
                </a:solidFill>
                <a:latin typeface="Arial"/>
                <a:ea typeface="Arial"/>
                <a:cs typeface="Arial"/>
              </a:defRPr>
            </a:lvl3pPr>
            <a:lvl4pPr>
              <a:buNone/>
              <a:defRPr sz="1350" b="1">
                <a:solidFill>
                  <a:srgbClr val="007F7B"/>
                </a:solidFill>
                <a:latin typeface="Arial"/>
                <a:ea typeface="Arial"/>
                <a:cs typeface="Arial"/>
              </a:defRPr>
            </a:lvl4pPr>
            <a:lvl5pPr>
              <a:buNone/>
              <a:defRPr sz="1350" b="1">
                <a:solidFill>
                  <a:srgbClr val="007F7B"/>
                </a:solidFill>
                <a:latin typeface="Arial"/>
                <a:ea typeface="Arial"/>
                <a:cs typeface="Arial"/>
              </a:defRPr>
            </a:lvl5pPr>
            <a:lvl6pPr>
              <a:buNone/>
              <a:defRPr sz="1350" b="1">
                <a:solidFill>
                  <a:srgbClr val="007F7B"/>
                </a:solidFill>
                <a:latin typeface="Arial"/>
                <a:ea typeface="Arial"/>
                <a:cs typeface="Arial"/>
              </a:defRPr>
            </a:lvl6pPr>
            <a:lvl7pPr>
              <a:buNone/>
              <a:defRPr sz="1350" b="1">
                <a:solidFill>
                  <a:srgbClr val="007F7B"/>
                </a:solidFill>
                <a:latin typeface="Arial"/>
                <a:ea typeface="Arial"/>
                <a:cs typeface="Arial"/>
              </a:defRPr>
            </a:lvl7pPr>
            <a:lvl8pPr>
              <a:buNone/>
              <a:defRPr sz="1350" b="1">
                <a:solidFill>
                  <a:srgbClr val="007F7B"/>
                </a:solidFill>
                <a:latin typeface="Arial"/>
                <a:ea typeface="Arial"/>
                <a:cs typeface="Arial"/>
              </a:defRPr>
            </a:lvl8pPr>
            <a:lvl9pPr>
              <a:buNone/>
              <a:defRPr sz="1350" b="1">
                <a:solidFill>
                  <a:srgbClr val="007F7B"/>
                </a:solidFill>
                <a:latin typeface="Arial"/>
                <a:ea typeface="Arial"/>
                <a:cs typeface="Arial"/>
              </a:defRPr>
            </a:lvl9pPr>
          </a:lstStyle>
          <a:p xmlns:a="http://schemas.openxmlformats.org/drawingml/2006/main">
            <a:pPr>
              <a:buNone/>
              <a:defRPr sz="1350" b="1">
                <a:solidFill>
                  <a:srgbClr val="007F7B"/>
                </a:solidFill>
                <a:latin typeface="Arial"/>
                <a:ea typeface="Arial"/>
                <a:cs typeface="Arial"/>
              </a:defRPr>
            </a:pPr>
            <a:r>
              <a:rPr sz="1350" b="1">
                <a:solidFill>
                  <a:srgbClr val="007F7B"/>
                </a:solidFill>
                <a:latin typeface="Arial"/>
                <a:ea typeface="Arial"/>
                <a:cs typeface="Arial"/>
              </a:rPr>
              <a:t>COMP 669 PROJECT MILESTONE</a:t>
            </a:r>
          </a:p>
        </p:txBody>
      </p:sp>
      <p:sp>
        <p:nvSpPr>
          <p:cNvPr id="2" name="">
            <a:extLst xmlns:a="http://schemas.openxmlformats.org/drawingml/2006/main">
              <a:ext uri="{FF2B5EF4-FFF2-40B4-BE49-F238E27FC236}">
                <a16:creationId xmlns:a16="http://schemas.microsoft.com/office/drawing/2014/main" id="{F079D26D-B451-41BE-8BBE-789D8B65E4A8}"/>
              </a:ext>
            </a:extLst>
          </p:cNvPr>
          <p:cNvSpPr>
            <a:spLocks xmlns:a="http://schemas.openxmlformats.org/drawingml/2006/main" noGrp="1"/>
          </p:cNvSpPr>
          <p:nvPr/>
        </p:nvSpPr>
        <p:spPr>
          <a:xfrm xmlns:a="http://schemas.openxmlformats.org/drawingml/2006/main">
            <a:off x="609600" y="163830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7313D"/>
                </a:solidFill>
                <a:latin typeface="Arial"/>
                <a:ea typeface="Arial"/>
                <a:cs typeface="Arial"/>
              </a:defRPr>
            </a:defPPr>
            <a:lvl1pPr>
              <a:buNone/>
              <a:defRPr sz="4800" b="1">
                <a:solidFill>
                  <a:srgbClr val="17313D"/>
                </a:solidFill>
                <a:latin typeface="Arial"/>
                <a:ea typeface="Arial"/>
                <a:cs typeface="Arial"/>
              </a:defRPr>
            </a:lvl1pPr>
            <a:lvl2pPr>
              <a:buNone/>
              <a:defRPr sz="4800" b="1">
                <a:solidFill>
                  <a:srgbClr val="17313D"/>
                </a:solidFill>
                <a:latin typeface="Arial"/>
                <a:ea typeface="Arial"/>
                <a:cs typeface="Arial"/>
              </a:defRPr>
            </a:lvl2pPr>
            <a:lvl3pPr>
              <a:buNone/>
              <a:defRPr sz="4800" b="1">
                <a:solidFill>
                  <a:srgbClr val="17313D"/>
                </a:solidFill>
                <a:latin typeface="Arial"/>
                <a:ea typeface="Arial"/>
                <a:cs typeface="Arial"/>
              </a:defRPr>
            </a:lvl3pPr>
            <a:lvl4pPr>
              <a:buNone/>
              <a:defRPr sz="4800" b="1">
                <a:solidFill>
                  <a:srgbClr val="17313D"/>
                </a:solidFill>
                <a:latin typeface="Arial"/>
                <a:ea typeface="Arial"/>
                <a:cs typeface="Arial"/>
              </a:defRPr>
            </a:lvl4pPr>
            <a:lvl5pPr>
              <a:buNone/>
              <a:defRPr sz="4800" b="1">
                <a:solidFill>
                  <a:srgbClr val="17313D"/>
                </a:solidFill>
                <a:latin typeface="Arial"/>
                <a:ea typeface="Arial"/>
                <a:cs typeface="Arial"/>
              </a:defRPr>
            </a:lvl5pPr>
            <a:lvl6pPr>
              <a:buNone/>
              <a:defRPr sz="4800" b="1">
                <a:solidFill>
                  <a:srgbClr val="17313D"/>
                </a:solidFill>
                <a:latin typeface="Arial"/>
                <a:ea typeface="Arial"/>
                <a:cs typeface="Arial"/>
              </a:defRPr>
            </a:lvl6pPr>
            <a:lvl7pPr>
              <a:buNone/>
              <a:defRPr sz="4800" b="1">
                <a:solidFill>
                  <a:srgbClr val="17313D"/>
                </a:solidFill>
                <a:latin typeface="Arial"/>
                <a:ea typeface="Arial"/>
                <a:cs typeface="Arial"/>
              </a:defRPr>
            </a:lvl7pPr>
            <a:lvl8pPr>
              <a:buNone/>
              <a:defRPr sz="4800" b="1">
                <a:solidFill>
                  <a:srgbClr val="17313D"/>
                </a:solidFill>
                <a:latin typeface="Arial"/>
                <a:ea typeface="Arial"/>
                <a:cs typeface="Arial"/>
              </a:defRPr>
            </a:lvl8pPr>
            <a:lvl9pPr>
              <a:buNone/>
              <a:defRPr sz="4800" b="1">
                <a:solidFill>
                  <a:srgbClr val="17313D"/>
                </a:solidFill>
                <a:latin typeface="Arial"/>
                <a:ea typeface="Arial"/>
                <a:cs typeface="Arial"/>
              </a:defRPr>
            </a:lvl9pPr>
          </a:lstStyle>
          <a:p xmlns:a="http://schemas.openxmlformats.org/drawingml/2006/main">
            <a:pPr>
              <a:buNone/>
              <a:defRPr sz="4800" b="1">
                <a:solidFill>
                  <a:srgbClr val="17313D"/>
                </a:solidFill>
                <a:latin typeface="Arial"/>
                <a:ea typeface="Arial"/>
                <a:cs typeface="Arial"/>
              </a:defRPr>
            </a:pPr>
            <a:r>
              <a:rPr sz="4800" b="1">
                <a:solidFill>
                  <a:srgbClr val="17313D"/>
                </a:solidFill>
                <a:latin typeface="Arial"/>
                <a:ea typeface="Arial"/>
                <a:cs typeface="Arial"/>
              </a:rPr>
              <a:t>Comparing AIMv2 and DINOv2</a:t>
            </a:r>
          </a:p>
          <a:p xmlns:a="http://schemas.openxmlformats.org/drawingml/2006/main">
            <a:pPr>
              <a:buNone/>
              <a:defRPr sz="4800" b="1">
                <a:solidFill>
                  <a:srgbClr val="17313D"/>
                </a:solidFill>
                <a:latin typeface="Arial"/>
                <a:ea typeface="Arial"/>
                <a:cs typeface="Arial"/>
              </a:defRPr>
            </a:pPr>
            <a:r>
              <a:rPr sz="4800" b="1">
                <a:solidFill>
                  <a:srgbClr val="17313D"/>
                </a:solidFill>
                <a:latin typeface="Arial"/>
                <a:ea typeface="Arial"/>
                <a:cs typeface="Arial"/>
              </a:rPr>
              <a:t>Under Occlusion</a:t>
            </a:r>
          </a:p>
        </p:txBody>
      </p:sp>
      <p:sp>
        <p:nvSpPr>
          <p:cNvPr id="3" name="">
            <a:extLst xmlns:a="http://schemas.openxmlformats.org/drawingml/2006/main">
              <a:ext uri="{FF2B5EF4-FFF2-40B4-BE49-F238E27FC236}">
                <a16:creationId xmlns:a16="http://schemas.microsoft.com/office/drawing/2014/main" id="{910F5D35-D3DA-46B9-A967-A89B3A260212}"/>
              </a:ext>
            </a:extLst>
          </p:cNvPr>
          <p:cNvSpPr>
            <a:spLocks xmlns:a="http://schemas.openxmlformats.org/drawingml/2006/main" noGrp="1"/>
          </p:cNvSpPr>
          <p:nvPr/>
        </p:nvSpPr>
        <p:spPr>
          <a:xfrm xmlns:a="http://schemas.openxmlformats.org/drawingml/2006/main">
            <a:off x="647700" y="37433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52616A"/>
                </a:solidFill>
                <a:latin typeface="Arial"/>
                <a:ea typeface="Arial"/>
                <a:cs typeface="Arial"/>
              </a:defRPr>
            </a:defPPr>
            <a:lvl1pPr>
              <a:buNone/>
              <a:defRPr sz="2400" b="0">
                <a:solidFill>
                  <a:srgbClr val="52616A"/>
                </a:solidFill>
                <a:latin typeface="Arial"/>
                <a:ea typeface="Arial"/>
                <a:cs typeface="Arial"/>
              </a:defRPr>
            </a:lvl1pPr>
            <a:lvl2pPr>
              <a:buNone/>
              <a:defRPr sz="2400" b="0">
                <a:solidFill>
                  <a:srgbClr val="52616A"/>
                </a:solidFill>
                <a:latin typeface="Arial"/>
                <a:ea typeface="Arial"/>
                <a:cs typeface="Arial"/>
              </a:defRPr>
            </a:lvl2pPr>
            <a:lvl3pPr>
              <a:buNone/>
              <a:defRPr sz="2400" b="0">
                <a:solidFill>
                  <a:srgbClr val="52616A"/>
                </a:solidFill>
                <a:latin typeface="Arial"/>
                <a:ea typeface="Arial"/>
                <a:cs typeface="Arial"/>
              </a:defRPr>
            </a:lvl3pPr>
            <a:lvl4pPr>
              <a:buNone/>
              <a:defRPr sz="2400" b="0">
                <a:solidFill>
                  <a:srgbClr val="52616A"/>
                </a:solidFill>
                <a:latin typeface="Arial"/>
                <a:ea typeface="Arial"/>
                <a:cs typeface="Arial"/>
              </a:defRPr>
            </a:lvl4pPr>
            <a:lvl5pPr>
              <a:buNone/>
              <a:defRPr sz="2400" b="0">
                <a:solidFill>
                  <a:srgbClr val="52616A"/>
                </a:solidFill>
                <a:latin typeface="Arial"/>
                <a:ea typeface="Arial"/>
                <a:cs typeface="Arial"/>
              </a:defRPr>
            </a:lvl5pPr>
            <a:lvl6pPr>
              <a:buNone/>
              <a:defRPr sz="2400" b="0">
                <a:solidFill>
                  <a:srgbClr val="52616A"/>
                </a:solidFill>
                <a:latin typeface="Arial"/>
                <a:ea typeface="Arial"/>
                <a:cs typeface="Arial"/>
              </a:defRPr>
            </a:lvl6pPr>
            <a:lvl7pPr>
              <a:buNone/>
              <a:defRPr sz="2400" b="0">
                <a:solidFill>
                  <a:srgbClr val="52616A"/>
                </a:solidFill>
                <a:latin typeface="Arial"/>
                <a:ea typeface="Arial"/>
                <a:cs typeface="Arial"/>
              </a:defRPr>
            </a:lvl7pPr>
            <a:lvl8pPr>
              <a:buNone/>
              <a:defRPr sz="2400" b="0">
                <a:solidFill>
                  <a:srgbClr val="52616A"/>
                </a:solidFill>
                <a:latin typeface="Arial"/>
                <a:ea typeface="Arial"/>
                <a:cs typeface="Arial"/>
              </a:defRPr>
            </a:lvl8pPr>
            <a:lvl9pPr>
              <a:buNone/>
              <a:defRPr sz="2400" b="0">
                <a:solidFill>
                  <a:srgbClr val="52616A"/>
                </a:solidFill>
                <a:latin typeface="Arial"/>
                <a:ea typeface="Arial"/>
                <a:cs typeface="Arial"/>
              </a:defRPr>
            </a:lvl9pPr>
          </a:lstStyle>
          <a:p xmlns:a="http://schemas.openxmlformats.org/drawingml/2006/main">
            <a:pPr>
              <a:buNone/>
              <a:defRPr sz="2400" b="0">
                <a:solidFill>
                  <a:srgbClr val="52616A"/>
                </a:solidFill>
                <a:latin typeface="Arial"/>
                <a:ea typeface="Arial"/>
                <a:cs typeface="Arial"/>
              </a:defRPr>
            </a:pPr>
            <a:r>
              <a:rPr sz="2400" b="0">
                <a:solidFill>
                  <a:srgbClr val="52616A"/>
                </a:solidFill>
                <a:latin typeface="Arial"/>
                <a:ea typeface="Arial"/>
                <a:cs typeface="Arial"/>
              </a:rPr>
              <a:t>Masking patterns and visible animal regions</a:t>
            </a:r>
          </a:p>
          <a:p xmlns:a="http://schemas.openxmlformats.org/drawingml/2006/main">
            <a:pPr>
              <a:buNone/>
              <a:defRPr sz="2400" b="0">
                <a:solidFill>
                  <a:srgbClr val="52616A"/>
                </a:solidFill>
                <a:latin typeface="Arial"/>
                <a:ea typeface="Arial"/>
                <a:cs typeface="Arial"/>
              </a:defRPr>
            </a:pPr>
            <a:r>
              <a:rPr sz="2400" b="0">
                <a:solidFill>
                  <a:srgbClr val="52616A"/>
                </a:solidFill>
                <a:latin typeface="Arial"/>
                <a:ea typeface="Arial"/>
                <a:cs typeface="Arial"/>
              </a:rPr>
              <a:t>on Oxford-IIIT Pet</a:t>
            </a:r>
          </a:p>
        </p:txBody>
      </p:sp>
      <p:sp>
        <p:nvSpPr>
          <p:cNvPr id="4" name="">
            <a:extLst xmlns:a="http://schemas.openxmlformats.org/drawingml/2006/main">
              <a:ext uri="{FF2B5EF4-FFF2-40B4-BE49-F238E27FC236}">
                <a16:creationId xmlns:a16="http://schemas.microsoft.com/office/drawing/2014/main" id="{64BF558A-BA06-4B69-9E1B-DCE0E2CC82B3}"/>
              </a:ext>
            </a:extLst>
          </p:cNvPr>
          <p:cNvSpPr>
            <a:spLocks xmlns:a="http://schemas.openxmlformats.org/drawingml/2006/main" noGrp="1"/>
          </p:cNvSpPr>
          <p:nvPr/>
        </p:nvSpPr>
        <p:spPr>
          <a:xfrm xmlns:a="http://schemas.openxmlformats.org/drawingml/2006/main">
            <a:off x="647700" y="55816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16A"/>
                </a:solidFill>
                <a:latin typeface="Arial"/>
                <a:ea typeface="Arial"/>
                <a:cs typeface="Arial"/>
              </a:defRPr>
            </a:defPPr>
            <a:lvl1pPr>
              <a:buNone/>
              <a:defRPr sz="1725" b="0">
                <a:solidFill>
                  <a:srgbClr val="52616A"/>
                </a:solidFill>
                <a:latin typeface="Arial"/>
                <a:ea typeface="Arial"/>
                <a:cs typeface="Arial"/>
              </a:defRPr>
            </a:lvl1pPr>
            <a:lvl2pPr>
              <a:buNone/>
              <a:defRPr sz="1725" b="0">
                <a:solidFill>
                  <a:srgbClr val="52616A"/>
                </a:solidFill>
                <a:latin typeface="Arial"/>
                <a:ea typeface="Arial"/>
                <a:cs typeface="Arial"/>
              </a:defRPr>
            </a:lvl2pPr>
            <a:lvl3pPr>
              <a:buNone/>
              <a:defRPr sz="1725" b="0">
                <a:solidFill>
                  <a:srgbClr val="52616A"/>
                </a:solidFill>
                <a:latin typeface="Arial"/>
                <a:ea typeface="Arial"/>
                <a:cs typeface="Arial"/>
              </a:defRPr>
            </a:lvl3pPr>
            <a:lvl4pPr>
              <a:buNone/>
              <a:defRPr sz="1725" b="0">
                <a:solidFill>
                  <a:srgbClr val="52616A"/>
                </a:solidFill>
                <a:latin typeface="Arial"/>
                <a:ea typeface="Arial"/>
                <a:cs typeface="Arial"/>
              </a:defRPr>
            </a:lvl4pPr>
            <a:lvl5pPr>
              <a:buNone/>
              <a:defRPr sz="1725" b="0">
                <a:solidFill>
                  <a:srgbClr val="52616A"/>
                </a:solidFill>
                <a:latin typeface="Arial"/>
                <a:ea typeface="Arial"/>
                <a:cs typeface="Arial"/>
              </a:defRPr>
            </a:lvl5pPr>
            <a:lvl6pPr>
              <a:buNone/>
              <a:defRPr sz="1725" b="0">
                <a:solidFill>
                  <a:srgbClr val="52616A"/>
                </a:solidFill>
                <a:latin typeface="Arial"/>
                <a:ea typeface="Arial"/>
                <a:cs typeface="Arial"/>
              </a:defRPr>
            </a:lvl6pPr>
            <a:lvl7pPr>
              <a:buNone/>
              <a:defRPr sz="1725" b="0">
                <a:solidFill>
                  <a:srgbClr val="52616A"/>
                </a:solidFill>
                <a:latin typeface="Arial"/>
                <a:ea typeface="Arial"/>
                <a:cs typeface="Arial"/>
              </a:defRPr>
            </a:lvl7pPr>
            <a:lvl8pPr>
              <a:buNone/>
              <a:defRPr sz="1725" b="0">
                <a:solidFill>
                  <a:srgbClr val="52616A"/>
                </a:solidFill>
                <a:latin typeface="Arial"/>
                <a:ea typeface="Arial"/>
                <a:cs typeface="Arial"/>
              </a:defRPr>
            </a:lvl8pPr>
            <a:lvl9pPr>
              <a:buNone/>
              <a:defRPr sz="1725" b="0">
                <a:solidFill>
                  <a:srgbClr val="52616A"/>
                </a:solidFill>
                <a:latin typeface="Arial"/>
                <a:ea typeface="Arial"/>
                <a:cs typeface="Arial"/>
              </a:defRPr>
            </a:lvl9pPr>
          </a:lstStyle>
          <a:p xmlns:a="http://schemas.openxmlformats.org/drawingml/2006/main">
            <a:pPr>
              <a:buNone/>
              <a:defRPr sz="1725" b="0">
                <a:solidFill>
                  <a:srgbClr val="52616A"/>
                </a:solidFill>
                <a:latin typeface="Arial"/>
                <a:ea typeface="Arial"/>
                <a:cs typeface="Arial"/>
              </a:defRPr>
            </a:pPr>
            <a:r>
              <a:rPr sz="1725" b="0">
                <a:solidFill>
                  <a:srgbClr val="52616A"/>
                </a:solidFill>
                <a:latin typeface="Arial"/>
                <a:ea typeface="Arial"/>
                <a:cs typeface="Arial"/>
              </a:rPr>
              <a:t>Boshen Yang</a:t>
            </a:r>
          </a:p>
          <a:p xmlns:a="http://schemas.openxmlformats.org/drawingml/2006/main">
            <a:pPr>
              <a:buNone/>
              <a:defRPr sz="1725" b="0">
                <a:solidFill>
                  <a:srgbClr val="52616A"/>
                </a:solidFill>
                <a:latin typeface="Arial"/>
                <a:ea typeface="Arial"/>
                <a:cs typeface="Arial"/>
              </a:defRPr>
            </a:pPr>
            <a:r>
              <a:rPr sz="1725" b="0">
                <a:solidFill>
                  <a:srgbClr val="52616A"/>
                </a:solidFill>
                <a:latin typeface="Arial"/>
                <a:ea typeface="Arial"/>
                <a:cs typeface="Arial"/>
              </a:rPr>
              <a:t>Oxford-IIIT Pet, pilot and follow-up v2</a:t>
            </a:r>
          </a:p>
        </p:txBody>
      </p:sp>
    </p:spTree>
    <p:extLst>
      <p:ext uri="{BB962C8B-B14F-4D97-AF65-F5344CB8AC3E}">
        <p14:creationId xmlns:p14="http://schemas.microsoft.com/office/powerpoint/2010/main" val="6748382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48B3A22-2904-4EEB-A0D3-F0389ABAB9DF}"/>
              </a:ext>
            </a:extLst>
          </p:cNvPr>
          <p:cNvSpPr>
            <a:spLocks xmlns:a="http://schemas.openxmlformats.org/drawingml/2006/main" noGrp="1"/>
          </p:cNvSpPr>
          <p:nvPr/>
        </p:nvSpPr>
        <p:spPr>
          <a:xfrm xmlns:a="http://schemas.openxmlformats.org/drawingml/2006/main">
            <a:off x="609600" y="40957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Research question</a:t>
            </a:r>
          </a:p>
        </p:txBody>
      </p:sp>
      <p:sp>
        <p:nvSpPr>
          <p:cNvPr id="2" name="">
            <a:extLst xmlns:a="http://schemas.openxmlformats.org/drawingml/2006/main">
              <a:ext uri="{FF2B5EF4-FFF2-40B4-BE49-F238E27FC236}">
                <a16:creationId xmlns:a16="http://schemas.microsoft.com/office/drawing/2014/main" id="{60C5EDE4-951E-40D2-898C-314C18ADD8F1}"/>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4BAE20BB-D12F-47F2-B5FD-D8868DA0DD68}"/>
              </a:ext>
            </a:extLst>
          </p:cNvPr>
          <p:cNvSpPr>
            <a:spLocks xmlns:a="http://schemas.openxmlformats.org/drawingml/2006/main" noGrp="1"/>
          </p:cNvSpPr>
          <p:nvPr/>
        </p:nvSpPr>
        <p:spPr>
          <a:xfrm xmlns:a="http://schemas.openxmlformats.org/drawingml/2006/main">
            <a:off x="609600" y="2133600"/>
            <a:ext cx="109728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7313D"/>
                </a:solidFill>
                <a:latin typeface="Arial"/>
                <a:ea typeface="Arial"/>
                <a:cs typeface="Arial"/>
              </a:defRPr>
            </a:defPPr>
            <a:lvl1pPr>
              <a:defRPr sz="3225" b="1">
                <a:solidFill>
                  <a:srgbClr val="17313D"/>
                </a:solidFill>
                <a:latin typeface="Arial"/>
                <a:ea typeface="Arial"/>
                <a:cs typeface="Arial"/>
              </a:defRPr>
            </a:lvl1pPr>
            <a:lvl2pPr>
              <a:defRPr sz="3225" b="1">
                <a:solidFill>
                  <a:srgbClr val="17313D"/>
                </a:solidFill>
                <a:latin typeface="Arial"/>
                <a:ea typeface="Arial"/>
                <a:cs typeface="Arial"/>
              </a:defRPr>
            </a:lvl2pPr>
            <a:lvl3pPr>
              <a:defRPr sz="3225" b="1">
                <a:solidFill>
                  <a:srgbClr val="17313D"/>
                </a:solidFill>
                <a:latin typeface="Arial"/>
                <a:ea typeface="Arial"/>
                <a:cs typeface="Arial"/>
              </a:defRPr>
            </a:lvl3pPr>
            <a:lvl4pPr>
              <a:defRPr sz="3225" b="1">
                <a:solidFill>
                  <a:srgbClr val="17313D"/>
                </a:solidFill>
                <a:latin typeface="Arial"/>
                <a:ea typeface="Arial"/>
                <a:cs typeface="Arial"/>
              </a:defRPr>
            </a:lvl4pPr>
            <a:lvl5pPr>
              <a:defRPr sz="3225" b="1">
                <a:solidFill>
                  <a:srgbClr val="17313D"/>
                </a:solidFill>
                <a:latin typeface="Arial"/>
                <a:ea typeface="Arial"/>
                <a:cs typeface="Arial"/>
              </a:defRPr>
            </a:lvl5pPr>
            <a:lvl6pPr>
              <a:defRPr sz="3225" b="1">
                <a:solidFill>
                  <a:srgbClr val="17313D"/>
                </a:solidFill>
                <a:latin typeface="Arial"/>
                <a:ea typeface="Arial"/>
                <a:cs typeface="Arial"/>
              </a:defRPr>
            </a:lvl6pPr>
            <a:lvl7pPr>
              <a:defRPr sz="3225" b="1">
                <a:solidFill>
                  <a:srgbClr val="17313D"/>
                </a:solidFill>
                <a:latin typeface="Arial"/>
                <a:ea typeface="Arial"/>
                <a:cs typeface="Arial"/>
              </a:defRPr>
            </a:lvl7pPr>
            <a:lvl8pPr>
              <a:defRPr sz="3225" b="1">
                <a:solidFill>
                  <a:srgbClr val="17313D"/>
                </a:solidFill>
                <a:latin typeface="Arial"/>
                <a:ea typeface="Arial"/>
                <a:cs typeface="Arial"/>
              </a:defRPr>
            </a:lvl8pPr>
            <a:lvl9pPr>
              <a:defRPr sz="3225" b="1">
                <a:solidFill>
                  <a:srgbClr val="17313D"/>
                </a:solidFill>
                <a:latin typeface="Arial"/>
                <a:ea typeface="Arial"/>
                <a:cs typeface="Arial"/>
              </a:defRPr>
            </a:lvl9pPr>
          </a:lstStyle>
          <a:p xmlns:a="http://schemas.openxmlformats.org/drawingml/2006/main">
            <a:pPr>
              <a:defRPr sz="3225" b="1">
                <a:solidFill>
                  <a:srgbClr val="17313D"/>
                </a:solidFill>
                <a:latin typeface="Arial"/>
                <a:ea typeface="Arial"/>
                <a:cs typeface="Arial"/>
              </a:defRPr>
            </a:pPr>
            <a:r>
              <a:rPr sz="3225" b="1">
                <a:solidFill>
                  <a:srgbClr val="17313D"/>
                </a:solidFill>
                <a:latin typeface="Arial"/>
                <a:ea typeface="Arial"/>
                <a:cs typeface="Arial"/>
              </a:rPr>
              <a:t>Does changing the masking pattern change</a:t>
            </a:r>
          </a:p>
          <a:p xmlns:a="http://schemas.openxmlformats.org/drawingml/2006/main">
            <a:pPr>
              <a:defRPr sz="3225" b="1">
                <a:solidFill>
                  <a:srgbClr val="17313D"/>
                </a:solidFill>
                <a:latin typeface="Arial"/>
                <a:ea typeface="Arial"/>
                <a:cs typeface="Arial"/>
              </a:defRPr>
            </a:pPr>
            <a:r>
              <a:rPr sz="3225" b="1">
                <a:solidFill>
                  <a:srgbClr val="17313D"/>
                </a:solidFill>
                <a:latin typeface="Arial"/>
                <a:ea typeface="Arial"/>
                <a:cs typeface="Arial"/>
              </a:rPr>
              <a:t>which model performs better?</a:t>
            </a:r>
          </a:p>
        </p:txBody>
      </p:sp>
      <p:sp>
        <p:nvSpPr>
          <p:cNvPr id="4" name="">
            <a:extLst xmlns:a="http://schemas.openxmlformats.org/drawingml/2006/main">
              <a:ext uri="{FF2B5EF4-FFF2-40B4-BE49-F238E27FC236}">
                <a16:creationId xmlns:a16="http://schemas.microsoft.com/office/drawing/2014/main" id="{787D8314-591D-418C-B604-EFD4DD338E94}"/>
              </a:ext>
            </a:extLst>
          </p:cNvPr>
          <p:cNvSpPr>
            <a:spLocks xmlns:a="http://schemas.openxmlformats.org/drawingml/2006/main" noGrp="1"/>
          </p:cNvSpPr>
          <p:nvPr/>
        </p:nvSpPr>
        <p:spPr>
          <a:xfrm xmlns:a="http://schemas.openxmlformats.org/drawingml/2006/main">
            <a:off x="609600" y="436245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52616A"/>
                </a:solidFill>
                <a:latin typeface="Arial"/>
                <a:ea typeface="Arial"/>
                <a:cs typeface="Arial"/>
              </a:defRPr>
            </a:defPPr>
            <a:lvl1pPr>
              <a:defRPr sz="2325" b="0">
                <a:solidFill>
                  <a:srgbClr val="52616A"/>
                </a:solidFill>
                <a:latin typeface="Arial"/>
                <a:ea typeface="Arial"/>
                <a:cs typeface="Arial"/>
              </a:defRPr>
            </a:lvl1pPr>
            <a:lvl2pPr>
              <a:defRPr sz="2325" b="0">
                <a:solidFill>
                  <a:srgbClr val="52616A"/>
                </a:solidFill>
                <a:latin typeface="Arial"/>
                <a:ea typeface="Arial"/>
                <a:cs typeface="Arial"/>
              </a:defRPr>
            </a:lvl2pPr>
            <a:lvl3pPr>
              <a:defRPr sz="2325" b="0">
                <a:solidFill>
                  <a:srgbClr val="52616A"/>
                </a:solidFill>
                <a:latin typeface="Arial"/>
                <a:ea typeface="Arial"/>
                <a:cs typeface="Arial"/>
              </a:defRPr>
            </a:lvl3pPr>
            <a:lvl4pPr>
              <a:defRPr sz="2325" b="0">
                <a:solidFill>
                  <a:srgbClr val="52616A"/>
                </a:solidFill>
                <a:latin typeface="Arial"/>
                <a:ea typeface="Arial"/>
                <a:cs typeface="Arial"/>
              </a:defRPr>
            </a:lvl4pPr>
            <a:lvl5pPr>
              <a:defRPr sz="2325" b="0">
                <a:solidFill>
                  <a:srgbClr val="52616A"/>
                </a:solidFill>
                <a:latin typeface="Arial"/>
                <a:ea typeface="Arial"/>
                <a:cs typeface="Arial"/>
              </a:defRPr>
            </a:lvl5pPr>
            <a:lvl6pPr>
              <a:defRPr sz="2325" b="0">
                <a:solidFill>
                  <a:srgbClr val="52616A"/>
                </a:solidFill>
                <a:latin typeface="Arial"/>
                <a:ea typeface="Arial"/>
                <a:cs typeface="Arial"/>
              </a:defRPr>
            </a:lvl6pPr>
            <a:lvl7pPr>
              <a:defRPr sz="2325" b="0">
                <a:solidFill>
                  <a:srgbClr val="52616A"/>
                </a:solidFill>
                <a:latin typeface="Arial"/>
                <a:ea typeface="Arial"/>
                <a:cs typeface="Arial"/>
              </a:defRPr>
            </a:lvl7pPr>
            <a:lvl8pPr>
              <a:defRPr sz="2325" b="0">
                <a:solidFill>
                  <a:srgbClr val="52616A"/>
                </a:solidFill>
                <a:latin typeface="Arial"/>
                <a:ea typeface="Arial"/>
                <a:cs typeface="Arial"/>
              </a:defRPr>
            </a:lvl8pPr>
            <a:lvl9pPr>
              <a:defRPr sz="2325" b="0">
                <a:solidFill>
                  <a:srgbClr val="52616A"/>
                </a:solidFill>
                <a:latin typeface="Arial"/>
                <a:ea typeface="Arial"/>
                <a:cs typeface="Arial"/>
              </a:defRPr>
            </a:lvl9pPr>
          </a:lstStyle>
          <a:p xmlns:a="http://schemas.openxmlformats.org/drawingml/2006/main">
            <a:pPr>
              <a:defRPr sz="2325" b="0">
                <a:solidFill>
                  <a:srgbClr val="52616A"/>
                </a:solidFill>
                <a:latin typeface="Arial"/>
                <a:ea typeface="Arial"/>
                <a:cs typeface="Arial"/>
              </a:defRPr>
            </a:pPr>
            <a:r>
              <a:rPr sz="2325" b="0">
                <a:solidFill>
                  <a:srgbClr val="52616A"/>
                </a:solidFill>
                <a:latin typeface="Arial"/>
                <a:ea typeface="Arial"/>
                <a:cs typeface="Arial"/>
              </a:rPr>
              <a:t>The test we choose may affect which model we pick.</a:t>
            </a:r>
          </a:p>
        </p:txBody>
      </p:sp>
    </p:spTree>
    <p:extLst>
      <p:ext uri="{BB962C8B-B14F-4D97-AF65-F5344CB8AC3E}">
        <p14:creationId xmlns:p14="http://schemas.microsoft.com/office/powerpoint/2010/main" val="64514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B35490D-DE60-49CC-B2C7-04FBA39AC325}"/>
              </a:ext>
            </a:extLst>
          </p:cNvPr>
          <p:cNvSpPr>
            <a:spLocks xmlns:a="http://schemas.openxmlformats.org/drawingml/2006/main" noGrp="1"/>
          </p:cNvSpPr>
          <p:nvPr/>
        </p:nvSpPr>
        <p:spPr>
          <a:xfrm xmlns:a="http://schemas.openxmlformats.org/drawingml/2006/main">
            <a:off x="609600" y="40957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Same image area, different animal area</a:t>
            </a:r>
          </a:p>
        </p:txBody>
      </p:sp>
      <p:sp>
        <p:nvSpPr>
          <p:cNvPr id="2" name="">
            <a:extLst xmlns:a="http://schemas.openxmlformats.org/drawingml/2006/main">
              <a:ext uri="{FF2B5EF4-FFF2-40B4-BE49-F238E27FC236}">
                <a16:creationId xmlns:a16="http://schemas.microsoft.com/office/drawing/2014/main" id="{AD48AD25-8D9A-496A-BA3E-07EB13DAFBB9}"/>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BCAC26B9-1AC9-414A-89C1-0B2F0B18F2BE}"/>
              </a:ext>
            </a:extLst>
          </p:cNvPr>
          <p:cNvSpPr>
            <a:spLocks xmlns:a="http://schemas.openxmlformats.org/drawingml/2006/main" noGrp="1"/>
          </p:cNvSpPr>
          <p:nvPr/>
        </p:nvSpPr>
        <p:spPr>
          <a:xfrm xmlns:a="http://schemas.openxmlformats.org/drawingml/2006/main">
            <a:off x="609600" y="168592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7313D"/>
                </a:solidFill>
                <a:latin typeface="Arial"/>
                <a:ea typeface="Arial"/>
                <a:cs typeface="Arial"/>
              </a:defRPr>
            </a:defPPr>
            <a:lvl1pPr>
              <a:defRPr sz="1875" b="1">
                <a:solidFill>
                  <a:srgbClr val="17313D"/>
                </a:solidFill>
                <a:latin typeface="Arial"/>
                <a:ea typeface="Arial"/>
                <a:cs typeface="Arial"/>
              </a:defRPr>
            </a:lvl1pPr>
            <a:lvl2pPr>
              <a:defRPr sz="1875" b="1">
                <a:solidFill>
                  <a:srgbClr val="17313D"/>
                </a:solidFill>
                <a:latin typeface="Arial"/>
                <a:ea typeface="Arial"/>
                <a:cs typeface="Arial"/>
              </a:defRPr>
            </a:lvl2pPr>
            <a:lvl3pPr>
              <a:defRPr sz="1875" b="1">
                <a:solidFill>
                  <a:srgbClr val="17313D"/>
                </a:solidFill>
                <a:latin typeface="Arial"/>
                <a:ea typeface="Arial"/>
                <a:cs typeface="Arial"/>
              </a:defRPr>
            </a:lvl3pPr>
            <a:lvl4pPr>
              <a:defRPr sz="1875" b="1">
                <a:solidFill>
                  <a:srgbClr val="17313D"/>
                </a:solidFill>
                <a:latin typeface="Arial"/>
                <a:ea typeface="Arial"/>
                <a:cs typeface="Arial"/>
              </a:defRPr>
            </a:lvl4pPr>
            <a:lvl5pPr>
              <a:defRPr sz="1875" b="1">
                <a:solidFill>
                  <a:srgbClr val="17313D"/>
                </a:solidFill>
                <a:latin typeface="Arial"/>
                <a:ea typeface="Arial"/>
                <a:cs typeface="Arial"/>
              </a:defRPr>
            </a:lvl5pPr>
            <a:lvl6pPr>
              <a:defRPr sz="1875" b="1">
                <a:solidFill>
                  <a:srgbClr val="17313D"/>
                </a:solidFill>
                <a:latin typeface="Arial"/>
                <a:ea typeface="Arial"/>
                <a:cs typeface="Arial"/>
              </a:defRPr>
            </a:lvl6pPr>
            <a:lvl7pPr>
              <a:defRPr sz="1875" b="1">
                <a:solidFill>
                  <a:srgbClr val="17313D"/>
                </a:solidFill>
                <a:latin typeface="Arial"/>
                <a:ea typeface="Arial"/>
                <a:cs typeface="Arial"/>
              </a:defRPr>
            </a:lvl7pPr>
            <a:lvl8pPr>
              <a:defRPr sz="1875" b="1">
                <a:solidFill>
                  <a:srgbClr val="17313D"/>
                </a:solidFill>
                <a:latin typeface="Arial"/>
                <a:ea typeface="Arial"/>
                <a:cs typeface="Arial"/>
              </a:defRPr>
            </a:lvl8pPr>
            <a:lvl9pPr>
              <a:defRPr sz="1875" b="1">
                <a:solidFill>
                  <a:srgbClr val="17313D"/>
                </a:solidFill>
                <a:latin typeface="Arial"/>
                <a:ea typeface="Arial"/>
                <a:cs typeface="Arial"/>
              </a:defRPr>
            </a:lvl9pPr>
          </a:lstStyle>
          <a:p xmlns:a="http://schemas.openxmlformats.org/drawingml/2006/main">
            <a:pPr>
              <a:defRPr sz="1875" b="1">
                <a:solidFill>
                  <a:srgbClr val="17313D"/>
                </a:solidFill>
                <a:latin typeface="Arial"/>
                <a:ea typeface="Arial"/>
                <a:cs typeface="Arial"/>
              </a:defRPr>
            </a:pPr>
            <a:r>
              <a:rPr sz="1875" b="1">
                <a:solidFill>
                  <a:srgbClr val="17313D"/>
                </a:solidFill>
                <a:latin typeface="Arial"/>
                <a:ea typeface="Arial"/>
                <a:cs typeface="Arial"/>
              </a:rPr>
              <a:t>Original</a:t>
            </a:r>
          </a:p>
        </p:txBody>
      </p:sp>
      <p:pic>
        <p:nvPicPr>
          <p:cNvPr id="4" name="">
            <a:extLst xmlns:a="http://schemas.openxmlformats.org/drawingml/2006/main">
              <a:ext uri="{FF2B5EF4-FFF2-40B4-BE49-F238E27FC236}">
                <a16:creationId xmlns:a16="http://schemas.microsoft.com/office/drawing/2014/main" id="{915DE6EB-7362-4A9A-B5E9-7E9797CCACC1}"/>
              </a:ext>
            </a:extLst>
          </p:cNvPr>
          <p:cNvPicPr>
            <a:picLocks xmlns:a="http://schemas.openxmlformats.org/drawingml/2006/main" noChangeAspect="1"/>
          </p:cNvPicPr>
          <p:nvPr/>
        </p:nvPicPr>
        <p:blipFill>
          <a:blip xmlns:r="http://schemas.openxmlformats.org/officeDocument/2006/relationships" xmlns:a="http://schemas.openxmlformats.org/drawingml/2006/main" r:embed="Rf52a565760e748a8"/>
          <a:srcRect xmlns:a="http://schemas.openxmlformats.org/drawingml/2006/main" l="600" t="12700" r="80300" b="48800"/>
          <a:stretch xmlns:a="http://schemas.openxmlformats.org/drawingml/2006/main"/>
        </p:blipFill>
        <p:spPr>
          <a:xfrm xmlns:a="http://schemas.openxmlformats.org/drawingml/2006/main">
            <a:off x="609600" y="2181225"/>
            <a:ext cx="2857500" cy="2857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3D7AC1D-E80D-4455-B96E-9F568E30FD2A}"/>
              </a:ext>
            </a:extLst>
          </p:cNvPr>
          <p:cNvSpPr>
            <a:spLocks xmlns:a="http://schemas.openxmlformats.org/drawingml/2006/main" noGrp="1"/>
          </p:cNvSpPr>
          <p:nvPr/>
        </p:nvSpPr>
        <p:spPr>
          <a:xfrm xmlns:a="http://schemas.openxmlformats.org/drawingml/2006/main">
            <a:off x="4400550" y="168592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7313D"/>
                </a:solidFill>
                <a:latin typeface="Arial"/>
                <a:ea typeface="Arial"/>
                <a:cs typeface="Arial"/>
              </a:defRPr>
            </a:defPPr>
            <a:lvl1pPr>
              <a:defRPr sz="1875" b="1">
                <a:solidFill>
                  <a:srgbClr val="17313D"/>
                </a:solidFill>
                <a:latin typeface="Arial"/>
                <a:ea typeface="Arial"/>
                <a:cs typeface="Arial"/>
              </a:defRPr>
            </a:lvl1pPr>
            <a:lvl2pPr>
              <a:defRPr sz="1875" b="1">
                <a:solidFill>
                  <a:srgbClr val="17313D"/>
                </a:solidFill>
                <a:latin typeface="Arial"/>
                <a:ea typeface="Arial"/>
                <a:cs typeface="Arial"/>
              </a:defRPr>
            </a:lvl2pPr>
            <a:lvl3pPr>
              <a:defRPr sz="1875" b="1">
                <a:solidFill>
                  <a:srgbClr val="17313D"/>
                </a:solidFill>
                <a:latin typeface="Arial"/>
                <a:ea typeface="Arial"/>
                <a:cs typeface="Arial"/>
              </a:defRPr>
            </a:lvl3pPr>
            <a:lvl4pPr>
              <a:defRPr sz="1875" b="1">
                <a:solidFill>
                  <a:srgbClr val="17313D"/>
                </a:solidFill>
                <a:latin typeface="Arial"/>
                <a:ea typeface="Arial"/>
                <a:cs typeface="Arial"/>
              </a:defRPr>
            </a:lvl4pPr>
            <a:lvl5pPr>
              <a:defRPr sz="1875" b="1">
                <a:solidFill>
                  <a:srgbClr val="17313D"/>
                </a:solidFill>
                <a:latin typeface="Arial"/>
                <a:ea typeface="Arial"/>
                <a:cs typeface="Arial"/>
              </a:defRPr>
            </a:lvl5pPr>
            <a:lvl6pPr>
              <a:defRPr sz="1875" b="1">
                <a:solidFill>
                  <a:srgbClr val="17313D"/>
                </a:solidFill>
                <a:latin typeface="Arial"/>
                <a:ea typeface="Arial"/>
                <a:cs typeface="Arial"/>
              </a:defRPr>
            </a:lvl6pPr>
            <a:lvl7pPr>
              <a:defRPr sz="1875" b="1">
                <a:solidFill>
                  <a:srgbClr val="17313D"/>
                </a:solidFill>
                <a:latin typeface="Arial"/>
                <a:ea typeface="Arial"/>
                <a:cs typeface="Arial"/>
              </a:defRPr>
            </a:lvl7pPr>
            <a:lvl8pPr>
              <a:defRPr sz="1875" b="1">
                <a:solidFill>
                  <a:srgbClr val="17313D"/>
                </a:solidFill>
                <a:latin typeface="Arial"/>
                <a:ea typeface="Arial"/>
                <a:cs typeface="Arial"/>
              </a:defRPr>
            </a:lvl8pPr>
            <a:lvl9pPr>
              <a:defRPr sz="1875" b="1">
                <a:solidFill>
                  <a:srgbClr val="17313D"/>
                </a:solidFill>
                <a:latin typeface="Arial"/>
                <a:ea typeface="Arial"/>
                <a:cs typeface="Arial"/>
              </a:defRPr>
            </a:lvl9pPr>
          </a:lstStyle>
          <a:p xmlns:a="http://schemas.openxmlformats.org/drawingml/2006/main">
            <a:pPr>
              <a:defRPr sz="1875" b="1">
                <a:solidFill>
                  <a:srgbClr val="17313D"/>
                </a:solidFill>
                <a:latin typeface="Arial"/>
                <a:ea typeface="Arial"/>
                <a:cs typeface="Arial"/>
              </a:defRPr>
            </a:pPr>
            <a:r>
              <a:rPr sz="1875" b="1">
                <a:solidFill>
                  <a:srgbClr val="17313D"/>
                </a:solidFill>
                <a:latin typeface="Arial"/>
                <a:ea typeface="Arial"/>
                <a:cs typeface="Arial"/>
              </a:rPr>
              <a:t>Center, 25% image visible</a:t>
            </a:r>
          </a:p>
        </p:txBody>
      </p:sp>
      <p:pic>
        <p:nvPicPr>
          <p:cNvPr id="6" name="">
            <a:extLst xmlns:a="http://schemas.openxmlformats.org/drawingml/2006/main">
              <a:ext uri="{FF2B5EF4-FFF2-40B4-BE49-F238E27FC236}">
                <a16:creationId xmlns:a16="http://schemas.microsoft.com/office/drawing/2014/main" id="{876EFE3D-05BB-444B-94AE-FB30F44D6CFE}"/>
              </a:ext>
            </a:extLst>
          </p:cNvPr>
          <p:cNvPicPr>
            <a:picLocks xmlns:a="http://schemas.openxmlformats.org/drawingml/2006/main" noChangeAspect="1"/>
          </p:cNvPicPr>
          <p:nvPr/>
        </p:nvPicPr>
        <p:blipFill>
          <a:blip xmlns:r="http://schemas.openxmlformats.org/officeDocument/2006/relationships" xmlns:a="http://schemas.openxmlformats.org/drawingml/2006/main" r:embed="R3e836faa1fe84757"/>
          <a:srcRect xmlns:a="http://schemas.openxmlformats.org/drawingml/2006/main" l="20500" t="12700" r="60400" b="48800"/>
          <a:stretch xmlns:a="http://schemas.openxmlformats.org/drawingml/2006/main"/>
        </p:blipFill>
        <p:spPr>
          <a:xfrm xmlns:a="http://schemas.openxmlformats.org/drawingml/2006/main">
            <a:off x="4400550" y="2181225"/>
            <a:ext cx="2857500" cy="2857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E013A75-63F3-4D66-9B09-30CCD0BB759C}"/>
              </a:ext>
            </a:extLst>
          </p:cNvPr>
          <p:cNvSpPr>
            <a:spLocks xmlns:a="http://schemas.openxmlformats.org/drawingml/2006/main" noGrp="1"/>
          </p:cNvSpPr>
          <p:nvPr/>
        </p:nvSpPr>
        <p:spPr>
          <a:xfrm xmlns:a="http://schemas.openxmlformats.org/drawingml/2006/main">
            <a:off x="8191500" y="168592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7313D"/>
                </a:solidFill>
                <a:latin typeface="Arial"/>
                <a:ea typeface="Arial"/>
                <a:cs typeface="Arial"/>
              </a:defRPr>
            </a:defPPr>
            <a:lvl1pPr>
              <a:defRPr sz="1875" b="1">
                <a:solidFill>
                  <a:srgbClr val="17313D"/>
                </a:solidFill>
                <a:latin typeface="Arial"/>
                <a:ea typeface="Arial"/>
                <a:cs typeface="Arial"/>
              </a:defRPr>
            </a:lvl1pPr>
            <a:lvl2pPr>
              <a:defRPr sz="1875" b="1">
                <a:solidFill>
                  <a:srgbClr val="17313D"/>
                </a:solidFill>
                <a:latin typeface="Arial"/>
                <a:ea typeface="Arial"/>
                <a:cs typeface="Arial"/>
              </a:defRPr>
            </a:lvl2pPr>
            <a:lvl3pPr>
              <a:defRPr sz="1875" b="1">
                <a:solidFill>
                  <a:srgbClr val="17313D"/>
                </a:solidFill>
                <a:latin typeface="Arial"/>
                <a:ea typeface="Arial"/>
                <a:cs typeface="Arial"/>
              </a:defRPr>
            </a:lvl3pPr>
            <a:lvl4pPr>
              <a:defRPr sz="1875" b="1">
                <a:solidFill>
                  <a:srgbClr val="17313D"/>
                </a:solidFill>
                <a:latin typeface="Arial"/>
                <a:ea typeface="Arial"/>
                <a:cs typeface="Arial"/>
              </a:defRPr>
            </a:lvl4pPr>
            <a:lvl5pPr>
              <a:defRPr sz="1875" b="1">
                <a:solidFill>
                  <a:srgbClr val="17313D"/>
                </a:solidFill>
                <a:latin typeface="Arial"/>
                <a:ea typeface="Arial"/>
                <a:cs typeface="Arial"/>
              </a:defRPr>
            </a:lvl5pPr>
            <a:lvl6pPr>
              <a:defRPr sz="1875" b="1">
                <a:solidFill>
                  <a:srgbClr val="17313D"/>
                </a:solidFill>
                <a:latin typeface="Arial"/>
                <a:ea typeface="Arial"/>
                <a:cs typeface="Arial"/>
              </a:defRPr>
            </a:lvl6pPr>
            <a:lvl7pPr>
              <a:defRPr sz="1875" b="1">
                <a:solidFill>
                  <a:srgbClr val="17313D"/>
                </a:solidFill>
                <a:latin typeface="Arial"/>
                <a:ea typeface="Arial"/>
                <a:cs typeface="Arial"/>
              </a:defRPr>
            </a:lvl7pPr>
            <a:lvl8pPr>
              <a:defRPr sz="1875" b="1">
                <a:solidFill>
                  <a:srgbClr val="17313D"/>
                </a:solidFill>
                <a:latin typeface="Arial"/>
                <a:ea typeface="Arial"/>
                <a:cs typeface="Arial"/>
              </a:defRPr>
            </a:lvl8pPr>
            <a:lvl9pPr>
              <a:defRPr sz="1875" b="1">
                <a:solidFill>
                  <a:srgbClr val="17313D"/>
                </a:solidFill>
                <a:latin typeface="Arial"/>
                <a:ea typeface="Arial"/>
                <a:cs typeface="Arial"/>
              </a:defRPr>
            </a:lvl9pPr>
          </a:lstStyle>
          <a:p xmlns:a="http://schemas.openxmlformats.org/drawingml/2006/main">
            <a:pPr>
              <a:defRPr sz="1875" b="1">
                <a:solidFill>
                  <a:srgbClr val="17313D"/>
                </a:solidFill>
                <a:latin typeface="Arial"/>
                <a:ea typeface="Arial"/>
                <a:cs typeface="Arial"/>
              </a:defRPr>
            </a:pPr>
            <a:r>
              <a:rPr sz="1875" b="1">
                <a:solidFill>
                  <a:srgbClr val="17313D"/>
                </a:solidFill>
                <a:latin typeface="Arial"/>
                <a:ea typeface="Arial"/>
                <a:cs typeface="Arial"/>
              </a:rPr>
              <a:t>Random, 25% image visible</a:t>
            </a:r>
          </a:p>
        </p:txBody>
      </p:sp>
      <p:pic>
        <p:nvPicPr>
          <p:cNvPr id="8" name="">
            <a:extLst xmlns:a="http://schemas.openxmlformats.org/drawingml/2006/main">
              <a:ext uri="{FF2B5EF4-FFF2-40B4-BE49-F238E27FC236}">
                <a16:creationId xmlns:a16="http://schemas.microsoft.com/office/drawing/2014/main" id="{5FD2A608-E00E-4C38-A4D3-4C6294EC8750}"/>
              </a:ext>
            </a:extLst>
          </p:cNvPr>
          <p:cNvPicPr>
            <a:picLocks xmlns:a="http://schemas.openxmlformats.org/drawingml/2006/main" noChangeAspect="1"/>
          </p:cNvPicPr>
          <p:nvPr/>
        </p:nvPicPr>
        <p:blipFill>
          <a:blip xmlns:r="http://schemas.openxmlformats.org/officeDocument/2006/relationships" xmlns:a="http://schemas.openxmlformats.org/drawingml/2006/main" r:embed="R146b4641dbf44875"/>
          <a:srcRect xmlns:a="http://schemas.openxmlformats.org/drawingml/2006/main" l="40500" t="12700" r="40400" b="48800"/>
          <a:stretch xmlns:a="http://schemas.openxmlformats.org/drawingml/2006/main"/>
        </p:blipFill>
        <p:spPr>
          <a:xfrm xmlns:a="http://schemas.openxmlformats.org/drawingml/2006/main">
            <a:off x="8191500" y="2181225"/>
            <a:ext cx="2857500" cy="28575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ED646AA-EFB4-4C1C-968E-180A42C428E7}"/>
              </a:ext>
            </a:extLst>
          </p:cNvPr>
          <p:cNvSpPr>
            <a:spLocks xmlns:a="http://schemas.openxmlformats.org/drawingml/2006/main" noGrp="1"/>
          </p:cNvSpPr>
          <p:nvPr/>
        </p:nvSpPr>
        <p:spPr>
          <a:xfrm xmlns:a="http://schemas.openxmlformats.org/drawingml/2006/main">
            <a:off x="609600" y="5210175"/>
            <a:ext cx="342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16A"/>
                </a:solidFill>
                <a:latin typeface="Arial"/>
                <a:ea typeface="Arial"/>
                <a:cs typeface="Arial"/>
              </a:defRPr>
            </a:defPPr>
            <a:lvl1pPr>
              <a:defRPr sz="1725" b="0">
                <a:solidFill>
                  <a:srgbClr val="52616A"/>
                </a:solidFill>
                <a:latin typeface="Arial"/>
                <a:ea typeface="Arial"/>
                <a:cs typeface="Arial"/>
              </a:defRPr>
            </a:lvl1pPr>
            <a:lvl2pPr>
              <a:defRPr sz="1725" b="0">
                <a:solidFill>
                  <a:srgbClr val="52616A"/>
                </a:solidFill>
                <a:latin typeface="Arial"/>
                <a:ea typeface="Arial"/>
                <a:cs typeface="Arial"/>
              </a:defRPr>
            </a:lvl2pPr>
            <a:lvl3pPr>
              <a:defRPr sz="1725" b="0">
                <a:solidFill>
                  <a:srgbClr val="52616A"/>
                </a:solidFill>
                <a:latin typeface="Arial"/>
                <a:ea typeface="Arial"/>
                <a:cs typeface="Arial"/>
              </a:defRPr>
            </a:lvl3pPr>
            <a:lvl4pPr>
              <a:defRPr sz="1725" b="0">
                <a:solidFill>
                  <a:srgbClr val="52616A"/>
                </a:solidFill>
                <a:latin typeface="Arial"/>
                <a:ea typeface="Arial"/>
                <a:cs typeface="Arial"/>
              </a:defRPr>
            </a:lvl4pPr>
            <a:lvl5pPr>
              <a:defRPr sz="1725" b="0">
                <a:solidFill>
                  <a:srgbClr val="52616A"/>
                </a:solidFill>
                <a:latin typeface="Arial"/>
                <a:ea typeface="Arial"/>
                <a:cs typeface="Arial"/>
              </a:defRPr>
            </a:lvl5pPr>
            <a:lvl6pPr>
              <a:defRPr sz="1725" b="0">
                <a:solidFill>
                  <a:srgbClr val="52616A"/>
                </a:solidFill>
                <a:latin typeface="Arial"/>
                <a:ea typeface="Arial"/>
                <a:cs typeface="Arial"/>
              </a:defRPr>
            </a:lvl6pPr>
            <a:lvl7pPr>
              <a:defRPr sz="1725" b="0">
                <a:solidFill>
                  <a:srgbClr val="52616A"/>
                </a:solidFill>
                <a:latin typeface="Arial"/>
                <a:ea typeface="Arial"/>
                <a:cs typeface="Arial"/>
              </a:defRPr>
            </a:lvl7pPr>
            <a:lvl8pPr>
              <a:defRPr sz="1725" b="0">
                <a:solidFill>
                  <a:srgbClr val="52616A"/>
                </a:solidFill>
                <a:latin typeface="Arial"/>
                <a:ea typeface="Arial"/>
                <a:cs typeface="Arial"/>
              </a:defRPr>
            </a:lvl8pPr>
            <a:lvl9pPr>
              <a:defRPr sz="1725" b="0">
                <a:solidFill>
                  <a:srgbClr val="52616A"/>
                </a:solidFill>
                <a:latin typeface="Arial"/>
                <a:ea typeface="Arial"/>
                <a:cs typeface="Arial"/>
              </a:defRPr>
            </a:lvl9pPr>
          </a:lstStyle>
          <a:p xmlns:a="http://schemas.openxmlformats.org/drawingml/2006/main">
            <a:pPr>
              <a:defRPr sz="1725" b="0">
                <a:solidFill>
                  <a:srgbClr val="52616A"/>
                </a:solidFill>
                <a:latin typeface="Arial"/>
                <a:ea typeface="Arial"/>
                <a:cs typeface="Arial"/>
              </a:defRPr>
            </a:pPr>
            <a:r>
              <a:rPr sz="1725" b="0">
                <a:solidFill>
                  <a:srgbClr val="52616A"/>
                </a:solidFill>
                <a:latin typeface="Arial"/>
                <a:ea typeface="Arial"/>
                <a:cs typeface="Arial"/>
              </a:rPr>
              <a:t>Abyssinian_96</a:t>
            </a:r>
          </a:p>
          <a:p xmlns:a="http://schemas.openxmlformats.org/drawingml/2006/main">
            <a:pPr>
              <a:defRPr sz="1725" b="0">
                <a:solidFill>
                  <a:srgbClr val="52616A"/>
                </a:solidFill>
                <a:latin typeface="Arial"/>
                <a:ea typeface="Arial"/>
                <a:cs typeface="Arial"/>
              </a:defRPr>
            </a:pPr>
            <a:r>
              <a:rPr sz="1725" b="0">
                <a:solidFill>
                  <a:srgbClr val="52616A"/>
                </a:solidFill>
                <a:latin typeface="Arial"/>
                <a:ea typeface="Arial"/>
                <a:cs typeface="Arial"/>
              </a:rPr>
              <a:t>Illustrative input</a:t>
            </a:r>
          </a:p>
        </p:txBody>
      </p:sp>
      <p:sp>
        <p:nvSpPr>
          <p:cNvPr id="10" name="">
            <a:extLst xmlns:a="http://schemas.openxmlformats.org/drawingml/2006/main">
              <a:ext uri="{FF2B5EF4-FFF2-40B4-BE49-F238E27FC236}">
                <a16:creationId xmlns:a16="http://schemas.microsoft.com/office/drawing/2014/main" id="{4132AC96-83C7-46F7-A2D0-95B7E603E209}"/>
              </a:ext>
            </a:extLst>
          </p:cNvPr>
          <p:cNvSpPr>
            <a:spLocks xmlns:a="http://schemas.openxmlformats.org/drawingml/2006/main" noGrp="1"/>
          </p:cNvSpPr>
          <p:nvPr/>
        </p:nvSpPr>
        <p:spPr>
          <a:xfrm xmlns:a="http://schemas.openxmlformats.org/drawingml/2006/main">
            <a:off x="4400550" y="5210175"/>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007F7B"/>
                </a:solidFill>
                <a:latin typeface="Arial"/>
                <a:ea typeface="Arial"/>
                <a:cs typeface="Arial"/>
              </a:defRPr>
            </a:defPPr>
            <a:lvl1pPr>
              <a:defRPr sz="1875" b="1">
                <a:solidFill>
                  <a:srgbClr val="007F7B"/>
                </a:solidFill>
                <a:latin typeface="Arial"/>
                <a:ea typeface="Arial"/>
                <a:cs typeface="Arial"/>
              </a:defRPr>
            </a:lvl1pPr>
            <a:lvl2pPr>
              <a:defRPr sz="1875" b="1">
                <a:solidFill>
                  <a:srgbClr val="007F7B"/>
                </a:solidFill>
                <a:latin typeface="Arial"/>
                <a:ea typeface="Arial"/>
                <a:cs typeface="Arial"/>
              </a:defRPr>
            </a:lvl2pPr>
            <a:lvl3pPr>
              <a:defRPr sz="1875" b="1">
                <a:solidFill>
                  <a:srgbClr val="007F7B"/>
                </a:solidFill>
                <a:latin typeface="Arial"/>
                <a:ea typeface="Arial"/>
                <a:cs typeface="Arial"/>
              </a:defRPr>
            </a:lvl3pPr>
            <a:lvl4pPr>
              <a:defRPr sz="1875" b="1">
                <a:solidFill>
                  <a:srgbClr val="007F7B"/>
                </a:solidFill>
                <a:latin typeface="Arial"/>
                <a:ea typeface="Arial"/>
                <a:cs typeface="Arial"/>
              </a:defRPr>
            </a:lvl4pPr>
            <a:lvl5pPr>
              <a:defRPr sz="1875" b="1">
                <a:solidFill>
                  <a:srgbClr val="007F7B"/>
                </a:solidFill>
                <a:latin typeface="Arial"/>
                <a:ea typeface="Arial"/>
                <a:cs typeface="Arial"/>
              </a:defRPr>
            </a:lvl5pPr>
            <a:lvl6pPr>
              <a:defRPr sz="1875" b="1">
                <a:solidFill>
                  <a:srgbClr val="007F7B"/>
                </a:solidFill>
                <a:latin typeface="Arial"/>
                <a:ea typeface="Arial"/>
                <a:cs typeface="Arial"/>
              </a:defRPr>
            </a:lvl6pPr>
            <a:lvl7pPr>
              <a:defRPr sz="1875" b="1">
                <a:solidFill>
                  <a:srgbClr val="007F7B"/>
                </a:solidFill>
                <a:latin typeface="Arial"/>
                <a:ea typeface="Arial"/>
                <a:cs typeface="Arial"/>
              </a:defRPr>
            </a:lvl7pPr>
            <a:lvl8pPr>
              <a:defRPr sz="1875" b="1">
                <a:solidFill>
                  <a:srgbClr val="007F7B"/>
                </a:solidFill>
                <a:latin typeface="Arial"/>
                <a:ea typeface="Arial"/>
                <a:cs typeface="Arial"/>
              </a:defRPr>
            </a:lvl8pPr>
            <a:lvl9pPr>
              <a:defRPr sz="1875" b="1">
                <a:solidFill>
                  <a:srgbClr val="007F7B"/>
                </a:solidFill>
                <a:latin typeface="Arial"/>
                <a:ea typeface="Arial"/>
                <a:cs typeface="Arial"/>
              </a:defRPr>
            </a:lvl9pPr>
          </a:lstStyle>
          <a:p xmlns:a="http://schemas.openxmlformats.org/drawingml/2006/main">
            <a:pPr>
              <a:defRPr sz="1875" b="1">
                <a:solidFill>
                  <a:srgbClr val="007F7B"/>
                </a:solidFill>
                <a:latin typeface="Arial"/>
                <a:ea typeface="Arial"/>
                <a:cs typeface="Arial"/>
              </a:defRPr>
            </a:pPr>
            <a:r>
              <a:rPr sz="1875" b="1">
                <a:solidFill>
                  <a:srgbClr val="007F7B"/>
                </a:solidFill>
                <a:latin typeface="Arial"/>
                <a:ea typeface="Arial"/>
                <a:cs typeface="Arial"/>
              </a:rPr>
              <a:t>83.8% foreground visible</a:t>
            </a:r>
          </a:p>
        </p:txBody>
      </p:sp>
      <p:sp>
        <p:nvSpPr>
          <p:cNvPr id="11" name="">
            <a:extLst xmlns:a="http://schemas.openxmlformats.org/drawingml/2006/main">
              <a:ext uri="{FF2B5EF4-FFF2-40B4-BE49-F238E27FC236}">
                <a16:creationId xmlns:a16="http://schemas.microsoft.com/office/drawing/2014/main" id="{2F0E8263-48BC-4971-92C7-9D8C54F35108}"/>
              </a:ext>
            </a:extLst>
          </p:cNvPr>
          <p:cNvSpPr>
            <a:spLocks xmlns:a="http://schemas.openxmlformats.org/drawingml/2006/main" noGrp="1"/>
          </p:cNvSpPr>
          <p:nvPr/>
        </p:nvSpPr>
        <p:spPr>
          <a:xfrm xmlns:a="http://schemas.openxmlformats.org/drawingml/2006/main">
            <a:off x="8191500" y="5210175"/>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007F7B"/>
                </a:solidFill>
                <a:latin typeface="Arial"/>
                <a:ea typeface="Arial"/>
                <a:cs typeface="Arial"/>
              </a:defRPr>
            </a:defPPr>
            <a:lvl1pPr>
              <a:defRPr sz="1875" b="1">
                <a:solidFill>
                  <a:srgbClr val="007F7B"/>
                </a:solidFill>
                <a:latin typeface="Arial"/>
                <a:ea typeface="Arial"/>
                <a:cs typeface="Arial"/>
              </a:defRPr>
            </a:lvl1pPr>
            <a:lvl2pPr>
              <a:defRPr sz="1875" b="1">
                <a:solidFill>
                  <a:srgbClr val="007F7B"/>
                </a:solidFill>
                <a:latin typeface="Arial"/>
                <a:ea typeface="Arial"/>
                <a:cs typeface="Arial"/>
              </a:defRPr>
            </a:lvl2pPr>
            <a:lvl3pPr>
              <a:defRPr sz="1875" b="1">
                <a:solidFill>
                  <a:srgbClr val="007F7B"/>
                </a:solidFill>
                <a:latin typeface="Arial"/>
                <a:ea typeface="Arial"/>
                <a:cs typeface="Arial"/>
              </a:defRPr>
            </a:lvl3pPr>
            <a:lvl4pPr>
              <a:defRPr sz="1875" b="1">
                <a:solidFill>
                  <a:srgbClr val="007F7B"/>
                </a:solidFill>
                <a:latin typeface="Arial"/>
                <a:ea typeface="Arial"/>
                <a:cs typeface="Arial"/>
              </a:defRPr>
            </a:lvl4pPr>
            <a:lvl5pPr>
              <a:defRPr sz="1875" b="1">
                <a:solidFill>
                  <a:srgbClr val="007F7B"/>
                </a:solidFill>
                <a:latin typeface="Arial"/>
                <a:ea typeface="Arial"/>
                <a:cs typeface="Arial"/>
              </a:defRPr>
            </a:lvl5pPr>
            <a:lvl6pPr>
              <a:defRPr sz="1875" b="1">
                <a:solidFill>
                  <a:srgbClr val="007F7B"/>
                </a:solidFill>
                <a:latin typeface="Arial"/>
                <a:ea typeface="Arial"/>
                <a:cs typeface="Arial"/>
              </a:defRPr>
            </a:lvl6pPr>
            <a:lvl7pPr>
              <a:defRPr sz="1875" b="1">
                <a:solidFill>
                  <a:srgbClr val="007F7B"/>
                </a:solidFill>
                <a:latin typeface="Arial"/>
                <a:ea typeface="Arial"/>
                <a:cs typeface="Arial"/>
              </a:defRPr>
            </a:lvl7pPr>
            <a:lvl8pPr>
              <a:defRPr sz="1875" b="1">
                <a:solidFill>
                  <a:srgbClr val="007F7B"/>
                </a:solidFill>
                <a:latin typeface="Arial"/>
                <a:ea typeface="Arial"/>
                <a:cs typeface="Arial"/>
              </a:defRPr>
            </a:lvl8pPr>
            <a:lvl9pPr>
              <a:defRPr sz="1875" b="1">
                <a:solidFill>
                  <a:srgbClr val="007F7B"/>
                </a:solidFill>
                <a:latin typeface="Arial"/>
                <a:ea typeface="Arial"/>
                <a:cs typeface="Arial"/>
              </a:defRPr>
            </a:lvl9pPr>
          </a:lstStyle>
          <a:p xmlns:a="http://schemas.openxmlformats.org/drawingml/2006/main">
            <a:pPr>
              <a:defRPr sz="1875" b="1">
                <a:solidFill>
                  <a:srgbClr val="007F7B"/>
                </a:solidFill>
                <a:latin typeface="Arial"/>
                <a:ea typeface="Arial"/>
                <a:cs typeface="Arial"/>
              </a:defRPr>
            </a:pPr>
            <a:r>
              <a:rPr sz="1875" b="1">
                <a:solidFill>
                  <a:srgbClr val="007F7B"/>
                </a:solidFill>
                <a:latin typeface="Arial"/>
                <a:ea typeface="Arial"/>
                <a:cs typeface="Arial"/>
              </a:rPr>
              <a:t>22.3% foreground visible</a:t>
            </a:r>
          </a:p>
        </p:txBody>
      </p:sp>
      <p:sp>
        <p:nvSpPr>
          <p:cNvPr id="12" name="">
            <a:extLst xmlns:a="http://schemas.openxmlformats.org/drawingml/2006/main">
              <a:ext uri="{FF2B5EF4-FFF2-40B4-BE49-F238E27FC236}">
                <a16:creationId xmlns:a16="http://schemas.microsoft.com/office/drawing/2014/main" id="{6FE9C885-36F3-4214-9AEC-47D0E7AAFC20}"/>
              </a:ext>
            </a:extLst>
          </p:cNvPr>
          <p:cNvSpPr>
            <a:spLocks xmlns:a="http://schemas.openxmlformats.org/drawingml/2006/main" noGrp="1"/>
          </p:cNvSpPr>
          <p:nvPr/>
        </p:nvSpPr>
        <p:spPr>
          <a:xfrm xmlns:a="http://schemas.openxmlformats.org/drawingml/2006/main">
            <a:off x="609600" y="601980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16A"/>
                </a:solidFill>
                <a:latin typeface="Arial"/>
                <a:ea typeface="Arial"/>
                <a:cs typeface="Arial"/>
              </a:defRPr>
            </a:defPPr>
            <a:lvl1pPr>
              <a:defRPr sz="1725" b="0">
                <a:solidFill>
                  <a:srgbClr val="52616A"/>
                </a:solidFill>
                <a:latin typeface="Arial"/>
                <a:ea typeface="Arial"/>
                <a:cs typeface="Arial"/>
              </a:defRPr>
            </a:lvl1pPr>
            <a:lvl2pPr>
              <a:defRPr sz="1725" b="0">
                <a:solidFill>
                  <a:srgbClr val="52616A"/>
                </a:solidFill>
                <a:latin typeface="Arial"/>
                <a:ea typeface="Arial"/>
                <a:cs typeface="Arial"/>
              </a:defRPr>
            </a:lvl2pPr>
            <a:lvl3pPr>
              <a:defRPr sz="1725" b="0">
                <a:solidFill>
                  <a:srgbClr val="52616A"/>
                </a:solidFill>
                <a:latin typeface="Arial"/>
                <a:ea typeface="Arial"/>
                <a:cs typeface="Arial"/>
              </a:defRPr>
            </a:lvl3pPr>
            <a:lvl4pPr>
              <a:defRPr sz="1725" b="0">
                <a:solidFill>
                  <a:srgbClr val="52616A"/>
                </a:solidFill>
                <a:latin typeface="Arial"/>
                <a:ea typeface="Arial"/>
                <a:cs typeface="Arial"/>
              </a:defRPr>
            </a:lvl4pPr>
            <a:lvl5pPr>
              <a:defRPr sz="1725" b="0">
                <a:solidFill>
                  <a:srgbClr val="52616A"/>
                </a:solidFill>
                <a:latin typeface="Arial"/>
                <a:ea typeface="Arial"/>
                <a:cs typeface="Arial"/>
              </a:defRPr>
            </a:lvl5pPr>
            <a:lvl6pPr>
              <a:defRPr sz="1725" b="0">
                <a:solidFill>
                  <a:srgbClr val="52616A"/>
                </a:solidFill>
                <a:latin typeface="Arial"/>
                <a:ea typeface="Arial"/>
                <a:cs typeface="Arial"/>
              </a:defRPr>
            </a:lvl6pPr>
            <a:lvl7pPr>
              <a:defRPr sz="1725" b="0">
                <a:solidFill>
                  <a:srgbClr val="52616A"/>
                </a:solidFill>
                <a:latin typeface="Arial"/>
                <a:ea typeface="Arial"/>
                <a:cs typeface="Arial"/>
              </a:defRPr>
            </a:lvl7pPr>
            <a:lvl8pPr>
              <a:defRPr sz="1725" b="0">
                <a:solidFill>
                  <a:srgbClr val="52616A"/>
                </a:solidFill>
                <a:latin typeface="Arial"/>
                <a:ea typeface="Arial"/>
                <a:cs typeface="Arial"/>
              </a:defRPr>
            </a:lvl8pPr>
            <a:lvl9pPr>
              <a:defRPr sz="1725" b="0">
                <a:solidFill>
                  <a:srgbClr val="52616A"/>
                </a:solidFill>
                <a:latin typeface="Arial"/>
                <a:ea typeface="Arial"/>
                <a:cs typeface="Arial"/>
              </a:defRPr>
            </a:lvl9pPr>
          </a:lstStyle>
          <a:p xmlns:a="http://schemas.openxmlformats.org/drawingml/2006/main">
            <a:pPr>
              <a:defRPr sz="1725" b="0">
                <a:solidFill>
                  <a:srgbClr val="52616A"/>
                </a:solidFill>
                <a:latin typeface="Arial"/>
                <a:ea typeface="Arial"/>
                <a:cs typeface="Arial"/>
              </a:defRPr>
            </a:pPr>
            <a:r>
              <a:rPr sz="1725" b="0">
                <a:solidFill>
                  <a:srgbClr val="52616A"/>
                </a:solidFill>
                <a:latin typeface="Arial"/>
                <a:ea typeface="Arial"/>
                <a:cs typeface="Arial"/>
              </a:rPr>
              <a:t>Image visibility uses the whole image. Foreground visibility uses the annotated animal.</a:t>
            </a:r>
          </a:p>
        </p:txBody>
      </p:sp>
    </p:spTree>
    <p:extLst>
      <p:ext uri="{BB962C8B-B14F-4D97-AF65-F5344CB8AC3E}">
        <p14:creationId xmlns:p14="http://schemas.microsoft.com/office/powerpoint/2010/main" val="137072024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F35CB11-41EB-455F-B41F-6A464460E2C3}"/>
              </a:ext>
            </a:extLst>
          </p:cNvPr>
          <p:cNvSpPr>
            <a:spLocks xmlns:a="http://schemas.openxmlformats.org/drawingml/2006/main" noGrp="1"/>
          </p:cNvSpPr>
          <p:nvPr/>
        </p:nvSpPr>
        <p:spPr>
          <a:xfrm xmlns:a="http://schemas.openxmlformats.org/drawingml/2006/main">
            <a:off x="609600" y="40957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First test and second test</a:t>
            </a:r>
          </a:p>
        </p:txBody>
      </p:sp>
      <p:sp>
        <p:nvSpPr>
          <p:cNvPr id="2" name="">
            <a:extLst xmlns:a="http://schemas.openxmlformats.org/drawingml/2006/main">
              <a:ext uri="{FF2B5EF4-FFF2-40B4-BE49-F238E27FC236}">
                <a16:creationId xmlns:a16="http://schemas.microsoft.com/office/drawing/2014/main" id="{D229DD32-5075-44B1-B066-D4156B88B7A2}"/>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029B7C74-638F-4463-A773-85F379904D72}"/>
              </a:ext>
            </a:extLst>
          </p:cNvPr>
          <p:cNvSpPr>
            <a:spLocks xmlns:a="http://schemas.openxmlformats.org/drawingml/2006/main" noGrp="1"/>
          </p:cNvSpPr>
          <p:nvPr/>
        </p:nvSpPr>
        <p:spPr>
          <a:xfrm xmlns:a="http://schemas.openxmlformats.org/drawingml/2006/main">
            <a:off x="609600" y="15716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7F7B"/>
                </a:solidFill>
                <a:latin typeface="Arial"/>
                <a:ea typeface="Arial"/>
                <a:cs typeface="Arial"/>
              </a:defRPr>
            </a:defPPr>
            <a:lvl1pPr>
              <a:defRPr sz="2250" b="1">
                <a:solidFill>
                  <a:srgbClr val="007F7B"/>
                </a:solidFill>
                <a:latin typeface="Arial"/>
                <a:ea typeface="Arial"/>
                <a:cs typeface="Arial"/>
              </a:defRPr>
            </a:lvl1pPr>
            <a:lvl2pPr>
              <a:defRPr sz="2250" b="1">
                <a:solidFill>
                  <a:srgbClr val="007F7B"/>
                </a:solidFill>
                <a:latin typeface="Arial"/>
                <a:ea typeface="Arial"/>
                <a:cs typeface="Arial"/>
              </a:defRPr>
            </a:lvl2pPr>
            <a:lvl3pPr>
              <a:defRPr sz="2250" b="1">
                <a:solidFill>
                  <a:srgbClr val="007F7B"/>
                </a:solidFill>
                <a:latin typeface="Arial"/>
                <a:ea typeface="Arial"/>
                <a:cs typeface="Arial"/>
              </a:defRPr>
            </a:lvl3pPr>
            <a:lvl4pPr>
              <a:defRPr sz="2250" b="1">
                <a:solidFill>
                  <a:srgbClr val="007F7B"/>
                </a:solidFill>
                <a:latin typeface="Arial"/>
                <a:ea typeface="Arial"/>
                <a:cs typeface="Arial"/>
              </a:defRPr>
            </a:lvl4pPr>
            <a:lvl5pPr>
              <a:defRPr sz="2250" b="1">
                <a:solidFill>
                  <a:srgbClr val="007F7B"/>
                </a:solidFill>
                <a:latin typeface="Arial"/>
                <a:ea typeface="Arial"/>
                <a:cs typeface="Arial"/>
              </a:defRPr>
            </a:lvl5pPr>
            <a:lvl6pPr>
              <a:defRPr sz="2250" b="1">
                <a:solidFill>
                  <a:srgbClr val="007F7B"/>
                </a:solidFill>
                <a:latin typeface="Arial"/>
                <a:ea typeface="Arial"/>
                <a:cs typeface="Arial"/>
              </a:defRPr>
            </a:lvl6pPr>
            <a:lvl7pPr>
              <a:defRPr sz="2250" b="1">
                <a:solidFill>
                  <a:srgbClr val="007F7B"/>
                </a:solidFill>
                <a:latin typeface="Arial"/>
                <a:ea typeface="Arial"/>
                <a:cs typeface="Arial"/>
              </a:defRPr>
            </a:lvl7pPr>
            <a:lvl8pPr>
              <a:defRPr sz="2250" b="1">
                <a:solidFill>
                  <a:srgbClr val="007F7B"/>
                </a:solidFill>
                <a:latin typeface="Arial"/>
                <a:ea typeface="Arial"/>
                <a:cs typeface="Arial"/>
              </a:defRPr>
            </a:lvl8pPr>
            <a:lvl9pPr>
              <a:defRPr sz="2250" b="1">
                <a:solidFill>
                  <a:srgbClr val="007F7B"/>
                </a:solidFill>
                <a:latin typeface="Arial"/>
                <a:ea typeface="Arial"/>
                <a:cs typeface="Arial"/>
              </a:defRPr>
            </a:lvl9pPr>
          </a:lstStyle>
          <a:p xmlns:a="http://schemas.openxmlformats.org/drawingml/2006/main">
            <a:pPr>
              <a:defRPr sz="2250" b="1">
                <a:solidFill>
                  <a:srgbClr val="007F7B"/>
                </a:solidFill>
                <a:latin typeface="Arial"/>
                <a:ea typeface="Arial"/>
                <a:cs typeface="Arial"/>
              </a:defRPr>
            </a:pPr>
            <a:r>
              <a:rPr sz="2250" b="1">
                <a:solidFill>
                  <a:srgbClr val="007F7B"/>
                </a:solidFill>
                <a:latin typeface="Arial"/>
                <a:ea typeface="Arial"/>
                <a:cs typeface="Arial"/>
              </a:rPr>
              <a:t>One dataset: Oxford-IIIT Pet, 37 breeds</a:t>
            </a:r>
          </a:p>
        </p:txBody>
      </p:sp>
      <p:graphicFrame>
        <p:nvGraphicFramePr>
          <p:cNvPr id="4" name="">
            <a:extLst xmlns:a="http://schemas.openxmlformats.org/drawingml/2006/main">
              <a:ext uri="{FF2B5EF4-FFF2-40B4-BE49-F238E27FC236}">
                <a16:creationId xmlns:a16="http://schemas.microsoft.com/office/drawing/2014/main" id="{5A51F0CB-571F-4EB1-A3E5-0A8C3E4036FE}"/>
              </a:ext>
            </a:extLst>
          </p:cNvPr>
          <p:cNvGraphicFramePr/>
          <p:nvPr/>
        </p:nvGraphicFramePr>
        <p:xfrm>
          <a:off xmlns:a="http://schemas.openxmlformats.org/drawingml/2006/main" x="609600" y="2286000"/>
          <a:ext xmlns:a="http://schemas.openxmlformats.org/drawingml/2006/main" cx="10972800" cy="2667000"/>
        </p:xfrm>
        <a:graphic xmlns:a="http://schemas.openxmlformats.org/drawingml/2006/main">
          <a:graphicData uri="http://schemas.openxmlformats.org/drawingml/2006/table">
            <a:tbl>
              <a:tblPr/>
              <a:tblGrid>
                <a:gridCol w="2524125"/>
                <a:gridCol w="3143250"/>
                <a:gridCol w="5305425"/>
              </a:tblGrid>
              <a:tr h="666750">
                <a:tc>
                  <a:txBody>
                    <a:bodyPr/>
                    <a:lstStyle/>
                    <a:p>
                      <a:r>
                        <a:rPr sz="1875" b="1">
                          <a:solidFill>
                            <a:srgbClr val="007F7B"/>
                          </a:solidFill>
                          <a:latin typeface="Arial"/>
                          <a:ea typeface="Arial"/>
                          <a:cs typeface="Arial"/>
                        </a:rPr>
                        <a:t>Stage</a:t>
                      </a:r>
                    </a:p>
                  </a:txBody>
                  <a:tcPr marL="91440" marR="91440" marT="45720" marB="45720" anchor="ctr">
                    <a:lnL w="4763">
                      <a:solidFill>
                        <a:srgbClr val="D8E1E4"/>
                      </a:solidFill>
                      <a:prstDash val="solid"/>
                    </a:lnL>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875" b="1">
                          <a:solidFill>
                            <a:srgbClr val="007F7B"/>
                          </a:solidFill>
                          <a:latin typeface="Arial"/>
                          <a:ea typeface="Arial"/>
                          <a:cs typeface="Arial"/>
                        </a:rPr>
                        <a:t>Images</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875" b="1">
                          <a:solidFill>
                            <a:srgbClr val="007F7B"/>
                          </a:solidFill>
                          <a:latin typeface="Arial"/>
                          <a:ea typeface="Arial"/>
                          <a:cs typeface="Arial"/>
                        </a:rPr>
                        <a:t>Purpose</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r>
              <a:tr h="666750">
                <a:tc>
                  <a:txBody>
                    <a:bodyPr/>
                    <a:lstStyle/>
                    <a:p>
                      <a:r>
                        <a:rPr sz="1875" b="0">
                          <a:solidFill>
                            <a:srgbClr val="17313D"/>
                          </a:solidFill>
                          <a:latin typeface="Arial"/>
                          <a:ea typeface="Arial"/>
                          <a:cs typeface="Arial"/>
                        </a:rPr>
                        <a:t>Train / validation</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875" b="0">
                          <a:solidFill>
                            <a:srgbClr val="17313D"/>
                          </a:solidFill>
                          <a:latin typeface="Arial"/>
                          <a:ea typeface="Arial"/>
                          <a:cs typeface="Arial"/>
                        </a:rPr>
                        <a:t>1,480 / 370</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875" b="0">
                          <a:solidFill>
                            <a:srgbClr val="17313D"/>
                          </a:solidFill>
                          <a:latin typeface="Arial"/>
                          <a:ea typeface="Arial"/>
                          <a:cs typeface="Arial"/>
                        </a:rPr>
                        <a:t>Fit classifiers / choose settings</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666750">
                <a:tc>
                  <a:txBody>
                    <a:bodyPr/>
                    <a:lstStyle/>
                    <a:p>
                      <a:r>
                        <a:rPr sz="1875" b="0">
                          <a:solidFill>
                            <a:srgbClr val="17313D"/>
                          </a:solidFill>
                          <a:latin typeface="Arial"/>
                          <a:ea typeface="Arial"/>
                          <a:cs typeface="Arial"/>
                        </a:rPr>
                        <a:t>First test</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875" b="0">
                          <a:solidFill>
                            <a:srgbClr val="17313D"/>
                          </a:solidFill>
                          <a:latin typeface="Arial"/>
                          <a:ea typeface="Arial"/>
                          <a:cs typeface="Arial"/>
                        </a:rPr>
                        <a:t>185 (5 per breed)</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875" b="0">
                          <a:solidFill>
                            <a:srgbClr val="17313D"/>
                          </a:solidFill>
                          <a:latin typeface="Arial"/>
                          <a:ea typeface="Arial"/>
                          <a:cs typeface="Arial"/>
                        </a:rPr>
                        <a:t>Explore the pattern</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666750">
                <a:tc>
                  <a:txBody>
                    <a:bodyPr/>
                    <a:lstStyle/>
                    <a:p>
                      <a:r>
                        <a:rPr sz="1875" b="0">
                          <a:solidFill>
                            <a:srgbClr val="17313D"/>
                          </a:solidFill>
                          <a:latin typeface="Arial"/>
                          <a:ea typeface="Arial"/>
                          <a:cs typeface="Arial"/>
                        </a:rPr>
                        <a:t>Second test</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875" b="0">
                          <a:solidFill>
                            <a:srgbClr val="17313D"/>
                          </a:solidFill>
                          <a:latin typeface="Arial"/>
                          <a:ea typeface="Arial"/>
                          <a:cs typeface="Arial"/>
                        </a:rPr>
                        <a:t>740 different images</a:t>
                      </a:r>
                    </a:p>
                    <a:p>
                      <a:r>
                        <a:rPr sz="1875" b="0">
                          <a:solidFill>
                            <a:srgbClr val="17313D"/>
                          </a:solidFill>
                          <a:latin typeface="Arial"/>
                          <a:ea typeface="Arial"/>
                          <a:cs typeface="Arial"/>
                        </a:rPr>
                        <a:t>(20 per breed)</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875" b="0">
                          <a:solidFill>
                            <a:srgbClr val="17313D"/>
                          </a:solidFill>
                          <a:latin typeface="Arial"/>
                          <a:ea typeface="Arial"/>
                          <a:cs typeface="Arial"/>
                        </a:rPr>
                        <a:t>Check whether it repeats</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99BD6F0-A3D9-475A-82A1-5ACA30C98CCF}"/>
              </a:ext>
            </a:extLst>
          </p:cNvPr>
          <p:cNvSpPr>
            <a:spLocks xmlns:a="http://schemas.openxmlformats.org/drawingml/2006/main" noGrp="1"/>
          </p:cNvSpPr>
          <p:nvPr/>
        </p:nvSpPr>
        <p:spPr>
          <a:xfrm xmlns:a="http://schemas.openxmlformats.org/drawingml/2006/main">
            <a:off x="609600" y="540067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313D"/>
                </a:solidFill>
                <a:latin typeface="Arial"/>
                <a:ea typeface="Arial"/>
                <a:cs typeface="Arial"/>
              </a:defRPr>
            </a:defPPr>
            <a:lvl1pPr>
              <a:defRPr sz="2250" b="1">
                <a:solidFill>
                  <a:srgbClr val="17313D"/>
                </a:solidFill>
                <a:latin typeface="Arial"/>
                <a:ea typeface="Arial"/>
                <a:cs typeface="Arial"/>
              </a:defRPr>
            </a:lvl1pPr>
            <a:lvl2pPr>
              <a:defRPr sz="2250" b="1">
                <a:solidFill>
                  <a:srgbClr val="17313D"/>
                </a:solidFill>
                <a:latin typeface="Arial"/>
                <a:ea typeface="Arial"/>
                <a:cs typeface="Arial"/>
              </a:defRPr>
            </a:lvl2pPr>
            <a:lvl3pPr>
              <a:defRPr sz="2250" b="1">
                <a:solidFill>
                  <a:srgbClr val="17313D"/>
                </a:solidFill>
                <a:latin typeface="Arial"/>
                <a:ea typeface="Arial"/>
                <a:cs typeface="Arial"/>
              </a:defRPr>
            </a:lvl3pPr>
            <a:lvl4pPr>
              <a:defRPr sz="2250" b="1">
                <a:solidFill>
                  <a:srgbClr val="17313D"/>
                </a:solidFill>
                <a:latin typeface="Arial"/>
                <a:ea typeface="Arial"/>
                <a:cs typeface="Arial"/>
              </a:defRPr>
            </a:lvl4pPr>
            <a:lvl5pPr>
              <a:defRPr sz="2250" b="1">
                <a:solidFill>
                  <a:srgbClr val="17313D"/>
                </a:solidFill>
                <a:latin typeface="Arial"/>
                <a:ea typeface="Arial"/>
                <a:cs typeface="Arial"/>
              </a:defRPr>
            </a:lvl5pPr>
            <a:lvl6pPr>
              <a:defRPr sz="2250" b="1">
                <a:solidFill>
                  <a:srgbClr val="17313D"/>
                </a:solidFill>
                <a:latin typeface="Arial"/>
                <a:ea typeface="Arial"/>
                <a:cs typeface="Arial"/>
              </a:defRPr>
            </a:lvl6pPr>
            <a:lvl7pPr>
              <a:defRPr sz="2250" b="1">
                <a:solidFill>
                  <a:srgbClr val="17313D"/>
                </a:solidFill>
                <a:latin typeface="Arial"/>
                <a:ea typeface="Arial"/>
                <a:cs typeface="Arial"/>
              </a:defRPr>
            </a:lvl7pPr>
            <a:lvl8pPr>
              <a:defRPr sz="2250" b="1">
                <a:solidFill>
                  <a:srgbClr val="17313D"/>
                </a:solidFill>
                <a:latin typeface="Arial"/>
                <a:ea typeface="Arial"/>
                <a:cs typeface="Arial"/>
              </a:defRPr>
            </a:lvl8pPr>
            <a:lvl9pPr>
              <a:defRPr sz="2250" b="1">
                <a:solidFill>
                  <a:srgbClr val="17313D"/>
                </a:solidFill>
                <a:latin typeface="Arial"/>
                <a:ea typeface="Arial"/>
                <a:cs typeface="Arial"/>
              </a:defRPr>
            </a:lvl9pPr>
          </a:lstStyle>
          <a:p xmlns:a="http://schemas.openxmlformats.org/drawingml/2006/main">
            <a:pPr>
              <a:defRPr sz="2250" b="1">
                <a:solidFill>
                  <a:srgbClr val="17313D"/>
                </a:solidFill>
                <a:latin typeface="Arial"/>
                <a:ea typeface="Arial"/>
                <a:cs typeface="Arial"/>
              </a:defRPr>
            </a:pPr>
            <a:r>
              <a:rPr sz="2250" b="1">
                <a:solidFill>
                  <a:srgbClr val="17313D"/>
                </a:solidFill>
                <a:latin typeface="Arial"/>
                <a:ea typeface="Arial"/>
                <a:cs typeface="Arial"/>
              </a:rPr>
              <a:t>Same dataset. Same frozen models and classifiers.</a:t>
            </a:r>
          </a:p>
          <a:p xmlns:a="http://schemas.openxmlformats.org/drawingml/2006/main">
            <a:pPr>
              <a:defRPr sz="2250" b="1">
                <a:solidFill>
                  <a:srgbClr val="17313D"/>
                </a:solidFill>
                <a:latin typeface="Arial"/>
                <a:ea typeface="Arial"/>
                <a:cs typeface="Arial"/>
              </a:defRPr>
            </a:pPr>
            <a:r>
              <a:rPr sz="2250" b="1">
                <a:solidFill>
                  <a:srgbClr val="17313D"/>
                </a:solidFill>
                <a:latin typeface="Arial"/>
                <a:ea typeface="Arial"/>
                <a:cs typeface="Arial"/>
              </a:rPr>
              <a:t>No retraining on either test set.</a:t>
            </a:r>
          </a:p>
        </p:txBody>
      </p:sp>
    </p:spTree>
    <p:extLst>
      <p:ext uri="{BB962C8B-B14F-4D97-AF65-F5344CB8AC3E}">
        <p14:creationId xmlns:p14="http://schemas.microsoft.com/office/powerpoint/2010/main" val="18262390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C4805BB-8132-408A-AE98-25CE41E784BC}"/>
              </a:ext>
            </a:extLst>
          </p:cNvPr>
          <p:cNvSpPr>
            <a:spLocks xmlns:a="http://schemas.openxmlformats.org/drawingml/2006/main" noGrp="1"/>
          </p:cNvSpPr>
          <p:nvPr/>
        </p:nvSpPr>
        <p:spPr>
          <a:xfrm xmlns:a="http://schemas.openxmlformats.org/drawingml/2006/main">
            <a:off x="609600" y="40957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What stays the same?</a:t>
            </a:r>
          </a:p>
        </p:txBody>
      </p:sp>
      <p:sp>
        <p:nvSpPr>
          <p:cNvPr id="2" name="">
            <a:extLst xmlns:a="http://schemas.openxmlformats.org/drawingml/2006/main">
              <a:ext uri="{FF2B5EF4-FFF2-40B4-BE49-F238E27FC236}">
                <a16:creationId xmlns:a16="http://schemas.microsoft.com/office/drawing/2014/main" id="{EEA8C410-8178-4447-86CA-7E159A9D7F03}"/>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10DDECB4-6B2C-46CB-992B-41D4E46578CA}"/>
              </a:ext>
            </a:extLst>
          </p:cNvPr>
          <p:cNvGraphicFramePr/>
          <p:nvPr/>
        </p:nvGraphicFramePr>
        <p:xfrm>
          <a:off xmlns:a="http://schemas.openxmlformats.org/drawingml/2006/main" x="609600" y="1714500"/>
          <a:ext xmlns:a="http://schemas.openxmlformats.org/drawingml/2006/main" cx="10972800" cy="3238500"/>
        </p:xfrm>
        <a:graphic xmlns:a="http://schemas.openxmlformats.org/drawingml/2006/main">
          <a:graphicData uri="http://schemas.openxmlformats.org/drawingml/2006/table">
            <a:tbl>
              <a:tblPr/>
              <a:tblGrid>
                <a:gridCol w="2286000"/>
                <a:gridCol w="4381500"/>
                <a:gridCol w="4305300"/>
              </a:tblGrid>
              <a:tr h="809625">
                <a:tc>
                  <a:txBody>
                    <a:bodyPr/>
                    <a:lstStyle/>
                    <a:p>
                      <a:r>
                        <a:rPr sz="1875" b="1">
                          <a:solidFill>
                            <a:srgbClr val="007F7B"/>
                          </a:solidFill>
                          <a:latin typeface="Arial"/>
                          <a:ea typeface="Arial"/>
                          <a:cs typeface="Arial"/>
                        </a:rPr>
                        <a:t>Comparison</a:t>
                      </a:r>
                    </a:p>
                  </a:txBody>
                  <a:tcPr marL="91440" marR="91440" marT="45720" marB="45720" anchor="ctr">
                    <a:lnL w="4763">
                      <a:solidFill>
                        <a:srgbClr val="D8E1E4"/>
                      </a:solidFill>
                      <a:prstDash val="solid"/>
                    </a:lnL>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875" b="1">
                          <a:solidFill>
                            <a:srgbClr val="007F7B"/>
                          </a:solidFill>
                          <a:latin typeface="Arial"/>
                          <a:ea typeface="Arial"/>
                          <a:cs typeface="Arial"/>
                        </a:rPr>
                        <a:t>What stays the same?</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875" b="1">
                          <a:solidFill>
                            <a:srgbClr val="007F7B"/>
                          </a:solidFill>
                          <a:latin typeface="Arial"/>
                          <a:ea typeface="Arial"/>
                          <a:cs typeface="Arial"/>
                        </a:rPr>
                        <a:t>What changes?</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r>
              <a:tr h="809625">
                <a:tc>
                  <a:txBody>
                    <a:bodyPr/>
                    <a:lstStyle/>
                    <a:p>
                      <a:r>
                        <a:rPr sz="1875" b="0">
                          <a:solidFill>
                            <a:srgbClr val="17313D"/>
                          </a:solidFill>
                          <a:latin typeface="Arial"/>
                          <a:ea typeface="Arial"/>
                          <a:cs typeface="Arial"/>
                        </a:rPr>
                        <a:t>Two models</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875" b="0">
                          <a:solidFill>
                            <a:srgbClr val="17313D"/>
                          </a:solidFill>
                          <a:latin typeface="Arial"/>
                          <a:ea typeface="Arial"/>
                          <a:cs typeface="Arial"/>
                        </a:rPr>
                        <a:t>Pictures, masks,</a:t>
                      </a:r>
                    </a:p>
                    <a:p>
                      <a:r>
                        <a:rPr sz="1875" b="0">
                          <a:solidFill>
                            <a:srgbClr val="17313D"/>
                          </a:solidFill>
                          <a:latin typeface="Arial"/>
                          <a:ea typeface="Arial"/>
                          <a:cs typeface="Arial"/>
                        </a:rPr>
                        <a:t>classifier fitting method</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875" b="0">
                          <a:solidFill>
                            <a:srgbClr val="17313D"/>
                          </a:solidFill>
                          <a:latin typeface="Arial"/>
                          <a:ea typeface="Arial"/>
                          <a:cs typeface="Arial"/>
                        </a:rPr>
                        <a:t>Model and its training history</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809625">
                <a:tc>
                  <a:txBody>
                    <a:bodyPr/>
                    <a:lstStyle/>
                    <a:p>
                      <a:r>
                        <a:rPr sz="1875" b="0">
                          <a:solidFill>
                            <a:srgbClr val="17313D"/>
                          </a:solidFill>
                          <a:latin typeface="Arial"/>
                          <a:ea typeface="Arial"/>
                          <a:cs typeface="Arial"/>
                        </a:rPr>
                        <a:t>Gray / black</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875" b="0">
                          <a:solidFill>
                            <a:srgbClr val="17313D"/>
                          </a:solidFill>
                          <a:latin typeface="Arial"/>
                          <a:ea typeface="Arial"/>
                          <a:cs typeface="Arial"/>
                        </a:rPr>
                        <a:t>Model, picture, mask,</a:t>
                      </a:r>
                    </a:p>
                    <a:p>
                      <a:r>
                        <a:rPr sz="1875" b="0">
                          <a:solidFill>
                            <a:srgbClr val="17313D"/>
                          </a:solidFill>
                          <a:latin typeface="Arial"/>
                          <a:ea typeface="Arial"/>
                          <a:cs typeface="Arial"/>
                        </a:rPr>
                        <a:t>visible pixels</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875" b="0">
                          <a:solidFill>
                            <a:srgbClr val="17313D"/>
                          </a:solidFill>
                          <a:latin typeface="Arial"/>
                          <a:ea typeface="Arial"/>
                          <a:cs typeface="Arial"/>
                        </a:rPr>
                        <a:t>Fill color only</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809625">
                <a:tc>
                  <a:txBody>
                    <a:bodyPr/>
                    <a:lstStyle/>
                    <a:p>
                      <a:r>
                        <a:rPr sz="1875" b="0">
                          <a:solidFill>
                            <a:srgbClr val="17313D"/>
                          </a:solidFill>
                          <a:latin typeface="Arial"/>
                          <a:ea typeface="Arial"/>
                          <a:cs typeface="Arial"/>
                        </a:rPr>
                        <a:t>Moving a square</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875" b="0">
                          <a:solidFill>
                            <a:srgbClr val="17313D"/>
                          </a:solidFill>
                          <a:latin typeface="Arial"/>
                          <a:ea typeface="Arial"/>
                          <a:cs typeface="Arial"/>
                        </a:rPr>
                        <a:t>Picture, model,</a:t>
                      </a:r>
                    </a:p>
                    <a:p>
                      <a:r>
                        <a:rPr sz="1875" b="0">
                          <a:solidFill>
                            <a:srgbClr val="17313D"/>
                          </a:solidFill>
                          <a:latin typeface="Arial"/>
                          <a:ea typeface="Arial"/>
                          <a:cs typeface="Arial"/>
                        </a:rPr>
                        <a:t>square size and shape</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875" b="0">
                          <a:solidFill>
                            <a:srgbClr val="17313D"/>
                          </a:solidFill>
                          <a:latin typeface="Arial"/>
                          <a:ea typeface="Arial"/>
                          <a:cs typeface="Arial"/>
                        </a:rPr>
                        <a:t>Visible parts and background</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D813C9C-61E8-4B1D-B472-47A718FA6E1D}"/>
              </a:ext>
            </a:extLst>
          </p:cNvPr>
          <p:cNvSpPr>
            <a:spLocks xmlns:a="http://schemas.openxmlformats.org/drawingml/2006/main" noGrp="1"/>
          </p:cNvSpPr>
          <p:nvPr/>
        </p:nvSpPr>
        <p:spPr>
          <a:xfrm xmlns:a="http://schemas.openxmlformats.org/drawingml/2006/main">
            <a:off x="609600" y="53911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313D"/>
                </a:solidFill>
                <a:latin typeface="Arial"/>
                <a:ea typeface="Arial"/>
                <a:cs typeface="Arial"/>
              </a:defRPr>
            </a:defPPr>
            <a:lvl1pPr>
              <a:defRPr sz="2175" b="1">
                <a:solidFill>
                  <a:srgbClr val="17313D"/>
                </a:solidFill>
                <a:latin typeface="Arial"/>
                <a:ea typeface="Arial"/>
                <a:cs typeface="Arial"/>
              </a:defRPr>
            </a:lvl1pPr>
            <a:lvl2pPr>
              <a:defRPr sz="2175" b="1">
                <a:solidFill>
                  <a:srgbClr val="17313D"/>
                </a:solidFill>
                <a:latin typeface="Arial"/>
                <a:ea typeface="Arial"/>
                <a:cs typeface="Arial"/>
              </a:defRPr>
            </a:lvl2pPr>
            <a:lvl3pPr>
              <a:defRPr sz="2175" b="1">
                <a:solidFill>
                  <a:srgbClr val="17313D"/>
                </a:solidFill>
                <a:latin typeface="Arial"/>
                <a:ea typeface="Arial"/>
                <a:cs typeface="Arial"/>
              </a:defRPr>
            </a:lvl3pPr>
            <a:lvl4pPr>
              <a:defRPr sz="2175" b="1">
                <a:solidFill>
                  <a:srgbClr val="17313D"/>
                </a:solidFill>
                <a:latin typeface="Arial"/>
                <a:ea typeface="Arial"/>
                <a:cs typeface="Arial"/>
              </a:defRPr>
            </a:lvl4pPr>
            <a:lvl5pPr>
              <a:defRPr sz="2175" b="1">
                <a:solidFill>
                  <a:srgbClr val="17313D"/>
                </a:solidFill>
                <a:latin typeface="Arial"/>
                <a:ea typeface="Arial"/>
                <a:cs typeface="Arial"/>
              </a:defRPr>
            </a:lvl5pPr>
            <a:lvl6pPr>
              <a:defRPr sz="2175" b="1">
                <a:solidFill>
                  <a:srgbClr val="17313D"/>
                </a:solidFill>
                <a:latin typeface="Arial"/>
                <a:ea typeface="Arial"/>
                <a:cs typeface="Arial"/>
              </a:defRPr>
            </a:lvl6pPr>
            <a:lvl7pPr>
              <a:defRPr sz="2175" b="1">
                <a:solidFill>
                  <a:srgbClr val="17313D"/>
                </a:solidFill>
                <a:latin typeface="Arial"/>
                <a:ea typeface="Arial"/>
                <a:cs typeface="Arial"/>
              </a:defRPr>
            </a:lvl7pPr>
            <a:lvl8pPr>
              <a:defRPr sz="2175" b="1">
                <a:solidFill>
                  <a:srgbClr val="17313D"/>
                </a:solidFill>
                <a:latin typeface="Arial"/>
                <a:ea typeface="Arial"/>
                <a:cs typeface="Arial"/>
              </a:defRPr>
            </a:lvl8pPr>
            <a:lvl9pPr>
              <a:defRPr sz="2175" b="1">
                <a:solidFill>
                  <a:srgbClr val="17313D"/>
                </a:solidFill>
                <a:latin typeface="Arial"/>
                <a:ea typeface="Arial"/>
                <a:cs typeface="Arial"/>
              </a:defRPr>
            </a:lvl9pPr>
          </a:lstStyle>
          <a:p xmlns:a="http://schemas.openxmlformats.org/drawingml/2006/main">
            <a:pPr>
              <a:defRPr sz="2175" b="1">
                <a:solidFill>
                  <a:srgbClr val="17313D"/>
                </a:solidFill>
                <a:latin typeface="Arial"/>
                <a:ea typeface="Arial"/>
                <a:cs typeface="Arial"/>
              </a:defRPr>
            </a:pPr>
            <a:r>
              <a:rPr sz="2175" b="1">
                <a:solidFill>
                  <a:srgbClr val="17313D"/>
                </a:solidFill>
                <a:latin typeface="Arial"/>
                <a:ea typeface="Arial"/>
                <a:cs typeface="Arial"/>
              </a:rPr>
              <a:t>Different training histories remain uncontrolled.</a:t>
            </a:r>
          </a:p>
          <a:p xmlns:a="http://schemas.openxmlformats.org/drawingml/2006/main">
            <a:pPr>
              <a:defRPr sz="2175" b="1">
                <a:solidFill>
                  <a:srgbClr val="17313D"/>
                </a:solidFill>
                <a:latin typeface="Arial"/>
                <a:ea typeface="Arial"/>
                <a:cs typeface="Arial"/>
              </a:defRPr>
            </a:pPr>
            <a:r>
              <a:rPr sz="2175" b="1">
                <a:solidFill>
                  <a:srgbClr val="17313D"/>
                </a:solidFill>
                <a:latin typeface="Arial"/>
                <a:ea typeface="Arial"/>
                <a:cs typeface="Arial"/>
              </a:rPr>
              <a:t>These tests cannot isolate which training choice caused a difference.</a:t>
            </a:r>
          </a:p>
        </p:txBody>
      </p:sp>
    </p:spTree>
    <p:extLst>
      <p:ext uri="{BB962C8B-B14F-4D97-AF65-F5344CB8AC3E}">
        <p14:creationId xmlns:p14="http://schemas.microsoft.com/office/powerpoint/2010/main" val="359333199"/>
      </p:ext>
    </p:extLst>
  </p:cSld>
</p:sld>
</file>

<file path=ppt/slides/slide6.xml><?xml version="1.0" encoding="utf-8"?>
<p:sld xmlns:a="http://schemas.openxmlformats.org/drawingml/2006/main" xmlns:ns2="http://schemas.microsoft.com/office/drawing/2014/main" xmlns:ns3="http://schemas.openxmlformats.org/drawingml/2006/chart" xmlns:ns5="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6" name="">
            <a:extLst>
              <a:ext uri="{FF2B5EF4-FFF2-40B4-BE49-F238E27FC236}">
                <ns2:creationId id="{20ED84E3-2B82-4D9C-AA90-B550710F4D10}"/>
              </a:ext>
            </a:extLst>
          </p:cNvPr>
          <p:cNvSpPr>
            <a:spLocks noGrp="1"/>
          </p:cNvSpPr>
          <p:nvPr/>
        </p:nvSpPr>
        <p:spPr>
          <a:xfrm>
            <a:off x="609600" y="409575"/>
            <a:ext cx="10972800" cy="1009650"/>
          </a:xfrm>
          <a:prstGeom prst="rect">
            <a:avLst/>
          </a:prstGeom>
          <a:noFill/>
          <a:ln w="0">
            <a:noFill/>
          </a:ln>
        </p:spPr>
        <p:txBody>
          <a:bodyPr wrap="square" lIns="0" tIns="0" rIns="0" bIns="0" anchor="t">
            <a:noAutofit/>
          </a:bodyPr>
          <a:lstStyle>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a:pPr>
              <a:defRPr sz="3300" b="1">
                <a:solidFill>
                  <a:srgbClr val="17313D"/>
                </a:solidFill>
                <a:latin typeface="Arial"/>
                <a:ea typeface="Arial"/>
                <a:cs typeface="Arial"/>
              </a:defRPr>
            </a:pPr>
            <a:r>
              <a:rPr sz="3300" b="1">
                <a:solidFill>
                  <a:srgbClr val="17313D"/>
                </a:solidFill>
                <a:latin typeface="Arial"/>
                <a:ea typeface="Arial"/>
                <a:cs typeface="Arial"/>
              </a:rPr>
              <a:t>The better model changes with the mask</a:t>
            </a:r>
          </a:p>
        </p:txBody>
      </p:sp>
      <p:sp>
        <p:nvSpPr>
          <p:cNvPr id="2" name="">
            <a:extLst>
              <a:ext uri="{FF2B5EF4-FFF2-40B4-BE49-F238E27FC236}">
                <ns2:creationId id="{B20B26F2-A8E7-43B8-93ED-992C8ACA1497}"/>
              </a:ext>
            </a:extLst>
          </p:cNvPr>
          <p:cNvSpPr>
            <a:spLocks noGrp="1"/>
          </p:cNvSpPr>
          <p:nvPr/>
        </p:nvSpPr>
        <p:spPr>
          <a:xfrm>
            <a:off x="11334750" y="6477000"/>
            <a:ext cx="428625" cy="190500"/>
          </a:xfrm>
          <a:prstGeom prst="rect">
            <a:avLst/>
          </a:prstGeom>
          <a:noFill/>
          <a:ln w="0">
            <a:noFill/>
          </a:ln>
        </p:spPr>
        <p:txBody>
          <a:bodyPr wrap="square" lIns="0" tIns="0" rIns="0" bIns="0" anchor="t">
            <a:noAutofit/>
          </a:bodyPr>
          <a:lstStyle>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a:pPr>
              <a:defRPr sz="1050" b="0">
                <a:solidFill>
                  <a:srgbClr val="52616A"/>
                </a:solidFill>
                <a:latin typeface="Arial"/>
                <a:ea typeface="Arial"/>
                <a:cs typeface="Arial"/>
              </a:defRPr>
            </a:pPr>
            <a:r>
              <a:rPr sz="1050" b="0">
                <a:solidFill>
                  <a:srgbClr val="52616A"/>
                </a:solidFill>
                <a:latin typeface="Arial"/>
                <a:ea typeface="Arial"/>
                <a:cs typeface="Arial"/>
              </a:rPr>
              <a:t>06</a:t>
            </a:r>
          </a:p>
        </p:txBody>
      </p:sp>
      <p:sp>
        <p:nvSpPr>
          <p:cNvPr id="3" name="">
            <a:extLst>
              <a:ext uri="{FF2B5EF4-FFF2-40B4-BE49-F238E27FC236}">
                <ns2:creationId id="{D40A25E7-566A-4DFE-B852-0D613657CC00}"/>
              </a:ext>
            </a:extLst>
          </p:cNvPr>
          <p:cNvSpPr>
            <a:spLocks noGrp="1"/>
          </p:cNvSpPr>
          <p:nvPr/>
        </p:nvSpPr>
        <p:spPr>
          <a:xfrm>
            <a:off x="609600" y="1495425"/>
            <a:ext cx="10972800" cy="428625"/>
          </a:xfrm>
          <a:prstGeom prst="rect">
            <a:avLst/>
          </a:prstGeom>
          <a:noFill/>
          <a:ln w="0">
            <a:noFill/>
          </a:ln>
        </p:spPr>
        <p:txBody>
          <a:bodyPr wrap="square" lIns="0" tIns="0" rIns="0" bIns="0" anchor="t">
            <a:noAutofit/>
          </a:bodyPr>
          <a:lstStyle>
            <a:defPPr>
              <a:defRPr sz="1875" b="0">
                <a:solidFill>
                  <a:srgbClr val="52616A"/>
                </a:solidFill>
                <a:latin typeface="Arial"/>
                <a:ea typeface="Arial"/>
                <a:cs typeface="Arial"/>
              </a:defRPr>
            </a:defPPr>
            <a:lvl1pPr>
              <a:defRPr sz="1875" b="0">
                <a:solidFill>
                  <a:srgbClr val="52616A"/>
                </a:solidFill>
                <a:latin typeface="Arial"/>
                <a:ea typeface="Arial"/>
                <a:cs typeface="Arial"/>
              </a:defRPr>
            </a:lvl1pPr>
            <a:lvl2pPr>
              <a:defRPr sz="1875" b="0">
                <a:solidFill>
                  <a:srgbClr val="52616A"/>
                </a:solidFill>
                <a:latin typeface="Arial"/>
                <a:ea typeface="Arial"/>
                <a:cs typeface="Arial"/>
              </a:defRPr>
            </a:lvl2pPr>
            <a:lvl3pPr>
              <a:defRPr sz="1875" b="0">
                <a:solidFill>
                  <a:srgbClr val="52616A"/>
                </a:solidFill>
                <a:latin typeface="Arial"/>
                <a:ea typeface="Arial"/>
                <a:cs typeface="Arial"/>
              </a:defRPr>
            </a:lvl3pPr>
            <a:lvl4pPr>
              <a:defRPr sz="1875" b="0">
                <a:solidFill>
                  <a:srgbClr val="52616A"/>
                </a:solidFill>
                <a:latin typeface="Arial"/>
                <a:ea typeface="Arial"/>
                <a:cs typeface="Arial"/>
              </a:defRPr>
            </a:lvl4pPr>
            <a:lvl5pPr>
              <a:defRPr sz="1875" b="0">
                <a:solidFill>
                  <a:srgbClr val="52616A"/>
                </a:solidFill>
                <a:latin typeface="Arial"/>
                <a:ea typeface="Arial"/>
                <a:cs typeface="Arial"/>
              </a:defRPr>
            </a:lvl5pPr>
            <a:lvl6pPr>
              <a:defRPr sz="1875" b="0">
                <a:solidFill>
                  <a:srgbClr val="52616A"/>
                </a:solidFill>
                <a:latin typeface="Arial"/>
                <a:ea typeface="Arial"/>
                <a:cs typeface="Arial"/>
              </a:defRPr>
            </a:lvl6pPr>
            <a:lvl7pPr>
              <a:defRPr sz="1875" b="0">
                <a:solidFill>
                  <a:srgbClr val="52616A"/>
                </a:solidFill>
                <a:latin typeface="Arial"/>
                <a:ea typeface="Arial"/>
                <a:cs typeface="Arial"/>
              </a:defRPr>
            </a:lvl7pPr>
            <a:lvl8pPr>
              <a:defRPr sz="1875" b="0">
                <a:solidFill>
                  <a:srgbClr val="52616A"/>
                </a:solidFill>
                <a:latin typeface="Arial"/>
                <a:ea typeface="Arial"/>
                <a:cs typeface="Arial"/>
              </a:defRPr>
            </a:lvl8pPr>
            <a:lvl9pPr>
              <a:defRPr sz="1875" b="0">
                <a:solidFill>
                  <a:srgbClr val="52616A"/>
                </a:solidFill>
                <a:latin typeface="Arial"/>
                <a:ea typeface="Arial"/>
                <a:cs typeface="Arial"/>
              </a:defRPr>
            </a:lvl9pPr>
          </a:lstStyle>
          <a:p>
            <a:pPr>
              <a:defRPr sz="1875" b="0">
                <a:solidFill>
                  <a:srgbClr val="52616A"/>
                </a:solidFill>
                <a:latin typeface="Arial"/>
                <a:ea typeface="Arial"/>
                <a:cs typeface="Arial"/>
              </a:defRPr>
            </a:pPr>
            <a:r>
              <a:rPr sz="1875" b="0">
                <a:solidFill>
                  <a:srgbClr val="52616A"/>
                </a:solidFill>
                <a:latin typeface="Arial"/>
                <a:ea typeface="Arial"/>
                <a:cs typeface="Arial"/>
              </a:rPr>
              <a:t>Second test: 740 images, gray fill, 25% of each image visible</a:t>
            </a:r>
          </a:p>
        </p:txBody>
      </p:sp>
      <p:graphicFrame>
        <p:nvGraphicFramePr>
          <p:cNvPr id="4" name="Chart">
            <a:extLst>
              <a:ext uri="{FF2B5EF4-FFF2-40B4-BE49-F238E27FC236}">
                <ns2:creationId id="{A47FB34F-DBDA-482F-80A1-D203F1EF1B64}"/>
              </a:ext>
            </a:extLst>
          </p:cNvPr>
          <p:cNvGraphicFramePr/>
          <p:nvPr/>
        </p:nvGraphicFramePr>
        <p:xfrm>
          <a:off x="609600" y="2095500"/>
          <a:ext cx="10972800" cy="3190875"/>
        </p:xfrm>
        <a:graphic>
          <a:graphicData uri="http://schemas.openxmlformats.org/drawingml/2006/chart">
            <ns3:chart r:id="Rd524409bbd0c4cb0"/>
          </a:graphicData>
        </a:graphic>
      </p:graphicFrame>
      <p:sp>
        <p:nvSpPr>
          <p:cNvPr id="5" name="">
            <a:extLst>
              <a:ext uri="{FF2B5EF4-FFF2-40B4-BE49-F238E27FC236}">
                <ns2:creationId id="{AE687FC1-5F7A-477B-8746-690898AC2B0C}"/>
              </a:ext>
            </a:extLst>
          </p:cNvPr>
          <p:cNvSpPr>
            <a:spLocks noGrp="1"/>
          </p:cNvSpPr>
          <p:nvPr/>
        </p:nvSpPr>
        <p:spPr>
          <a:xfrm>
            <a:off x="609600" y="5667375"/>
            <a:ext cx="10972800" cy="619125"/>
          </a:xfrm>
          <a:prstGeom prst="rect">
            <a:avLst/>
          </a:prstGeom>
          <a:noFill/>
          <a:ln w="0">
            <a:noFill/>
          </a:ln>
        </p:spPr>
        <p:txBody>
          <a:bodyPr wrap="square" lIns="0" tIns="0" rIns="0" bIns="0" anchor="t">
            <a:noAutofit/>
          </a:bodyPr>
          <a:lstStyle>
            <a:defPPr>
              <a:defRPr sz="2250" b="1">
                <a:solidFill>
                  <a:srgbClr val="007F7B"/>
                </a:solidFill>
                <a:latin typeface="Arial"/>
                <a:ea typeface="Arial"/>
                <a:cs typeface="Arial"/>
              </a:defRPr>
            </a:defPPr>
            <a:lvl1pPr>
              <a:defRPr sz="2250" b="1">
                <a:solidFill>
                  <a:srgbClr val="007F7B"/>
                </a:solidFill>
                <a:latin typeface="Arial"/>
                <a:ea typeface="Arial"/>
                <a:cs typeface="Arial"/>
              </a:defRPr>
            </a:lvl1pPr>
            <a:lvl2pPr>
              <a:defRPr sz="2250" b="1">
                <a:solidFill>
                  <a:srgbClr val="007F7B"/>
                </a:solidFill>
                <a:latin typeface="Arial"/>
                <a:ea typeface="Arial"/>
                <a:cs typeface="Arial"/>
              </a:defRPr>
            </a:lvl2pPr>
            <a:lvl3pPr>
              <a:defRPr sz="2250" b="1">
                <a:solidFill>
                  <a:srgbClr val="007F7B"/>
                </a:solidFill>
                <a:latin typeface="Arial"/>
                <a:ea typeface="Arial"/>
                <a:cs typeface="Arial"/>
              </a:defRPr>
            </a:lvl3pPr>
            <a:lvl4pPr>
              <a:defRPr sz="2250" b="1">
                <a:solidFill>
                  <a:srgbClr val="007F7B"/>
                </a:solidFill>
                <a:latin typeface="Arial"/>
                <a:ea typeface="Arial"/>
                <a:cs typeface="Arial"/>
              </a:defRPr>
            </a:lvl4pPr>
            <a:lvl5pPr>
              <a:defRPr sz="2250" b="1">
                <a:solidFill>
                  <a:srgbClr val="007F7B"/>
                </a:solidFill>
                <a:latin typeface="Arial"/>
                <a:ea typeface="Arial"/>
                <a:cs typeface="Arial"/>
              </a:defRPr>
            </a:lvl5pPr>
            <a:lvl6pPr>
              <a:defRPr sz="2250" b="1">
                <a:solidFill>
                  <a:srgbClr val="007F7B"/>
                </a:solidFill>
                <a:latin typeface="Arial"/>
                <a:ea typeface="Arial"/>
                <a:cs typeface="Arial"/>
              </a:defRPr>
            </a:lvl6pPr>
            <a:lvl7pPr>
              <a:defRPr sz="2250" b="1">
                <a:solidFill>
                  <a:srgbClr val="007F7B"/>
                </a:solidFill>
                <a:latin typeface="Arial"/>
                <a:ea typeface="Arial"/>
                <a:cs typeface="Arial"/>
              </a:defRPr>
            </a:lvl7pPr>
            <a:lvl8pPr>
              <a:defRPr sz="2250" b="1">
                <a:solidFill>
                  <a:srgbClr val="007F7B"/>
                </a:solidFill>
                <a:latin typeface="Arial"/>
                <a:ea typeface="Arial"/>
                <a:cs typeface="Arial"/>
              </a:defRPr>
            </a:lvl8pPr>
            <a:lvl9pPr>
              <a:defRPr sz="2250" b="1">
                <a:solidFill>
                  <a:srgbClr val="007F7B"/>
                </a:solidFill>
                <a:latin typeface="Arial"/>
                <a:ea typeface="Arial"/>
                <a:cs typeface="Arial"/>
              </a:defRPr>
            </a:lvl9pPr>
          </a:lstStyle>
          <a:p>
            <a:pPr>
              <a:defRPr sz="2250" b="1">
                <a:solidFill>
                  <a:srgbClr val="007F7B"/>
                </a:solidFill>
                <a:latin typeface="Arial"/>
                <a:ea typeface="Arial"/>
                <a:cs typeface="Arial"/>
              </a:defRPr>
            </a:pPr>
            <a:r>
              <a:rPr sz="2250" b="1">
                <a:solidFill>
                  <a:srgbClr val="007F7B"/>
                </a:solidFill>
                <a:latin typeface="Arial"/>
                <a:ea typeface="Arial"/>
                <a:cs typeface="Arial"/>
              </a:rPr>
              <a:t>Center: AIMv2 does better. Random: DINOv2 does better.</a:t>
            </a:r>
          </a:p>
        </p:txBody>
      </p:sp>
      <p:sp>
        <p:nvSpPr>
          <p:cNvPr id="7" name="four-pattern-scope">
            <a:extLst>
              <a:ext uri="{FF2B5EF4-FFF2-40B4-BE49-F238E27FC236}">
                <ns2:creationId id="{D5FFD1B2-CC1D-4FD9-92D0-1F9BE76EB951}"/>
              </a:ext>
            </a:extLst>
          </p:cNvPr>
          <p:cNvSpPr>
            <a:spLocks noGrp="1"/>
          </p:cNvSpPr>
          <p:nvPr/>
        </p:nvSpPr>
        <p:spPr>
          <a:xfrm>
            <a:off x="609600" y="1933575"/>
            <a:ext cx="10972800" cy="285750"/>
          </a:xfrm>
          <a:prstGeom prst="rect">
            <a:avLst/>
          </a:prstGeom>
          <a:noFill/>
          <a:ln w="0">
            <a:noFill/>
          </a:ln>
        </p:spPr>
        <p:txBody>
          <a:bodyPr wrap="square" lIns="0" tIns="0" rIns="0" bIns="0" anchor="t">
            <a:noAutofit/>
          </a:bodyPr>
          <a:lstStyle>
            <a:defPPr>
              <a:defRPr sz="1650" b="0">
                <a:solidFill>
                  <a:srgbClr val="52616A"/>
                </a:solidFill>
                <a:latin typeface="Arial"/>
                <a:ea typeface="Arial"/>
                <a:cs typeface="Arial"/>
              </a:defRPr>
            </a:defPPr>
            <a:lvl1pPr>
              <a:defRPr sz="1650" b="0">
                <a:solidFill>
                  <a:srgbClr val="52616A"/>
                </a:solidFill>
                <a:latin typeface="Arial"/>
                <a:ea typeface="Arial"/>
                <a:cs typeface="Arial"/>
              </a:defRPr>
            </a:lvl1pPr>
            <a:lvl2pPr>
              <a:defRPr sz="1650" b="0">
                <a:solidFill>
                  <a:srgbClr val="52616A"/>
                </a:solidFill>
                <a:latin typeface="Arial"/>
                <a:ea typeface="Arial"/>
                <a:cs typeface="Arial"/>
              </a:defRPr>
            </a:lvl2pPr>
            <a:lvl3pPr>
              <a:defRPr sz="1650" b="0">
                <a:solidFill>
                  <a:srgbClr val="52616A"/>
                </a:solidFill>
                <a:latin typeface="Arial"/>
                <a:ea typeface="Arial"/>
                <a:cs typeface="Arial"/>
              </a:defRPr>
            </a:lvl3pPr>
            <a:lvl4pPr>
              <a:defRPr sz="1650" b="0">
                <a:solidFill>
                  <a:srgbClr val="52616A"/>
                </a:solidFill>
                <a:latin typeface="Arial"/>
                <a:ea typeface="Arial"/>
                <a:cs typeface="Arial"/>
              </a:defRPr>
            </a:lvl4pPr>
            <a:lvl5pPr>
              <a:defRPr sz="1650" b="0">
                <a:solidFill>
                  <a:srgbClr val="52616A"/>
                </a:solidFill>
                <a:latin typeface="Arial"/>
                <a:ea typeface="Arial"/>
                <a:cs typeface="Arial"/>
              </a:defRPr>
            </a:lvl5pPr>
            <a:lvl6pPr>
              <a:defRPr sz="1650" b="0">
                <a:solidFill>
                  <a:srgbClr val="52616A"/>
                </a:solidFill>
                <a:latin typeface="Arial"/>
                <a:ea typeface="Arial"/>
                <a:cs typeface="Arial"/>
              </a:defRPr>
            </a:lvl6pPr>
            <a:lvl7pPr>
              <a:defRPr sz="1650" b="0">
                <a:solidFill>
                  <a:srgbClr val="52616A"/>
                </a:solidFill>
                <a:latin typeface="Arial"/>
                <a:ea typeface="Arial"/>
                <a:cs typeface="Arial"/>
              </a:defRPr>
            </a:lvl7pPr>
            <a:lvl8pPr>
              <a:defRPr sz="1650" b="0">
                <a:solidFill>
                  <a:srgbClr val="52616A"/>
                </a:solidFill>
                <a:latin typeface="Arial"/>
                <a:ea typeface="Arial"/>
                <a:cs typeface="Arial"/>
              </a:defRPr>
            </a:lvl8pPr>
            <a:lvl9pPr>
              <a:defRPr sz="1650" b="0">
                <a:solidFill>
                  <a:srgbClr val="52616A"/>
                </a:solidFill>
                <a:latin typeface="Arial"/>
                <a:ea typeface="Arial"/>
                <a:cs typeface="Arial"/>
              </a:defRPr>
            </a:lvl9pPr>
          </a:lstStyle>
          <a:p>
            <a:pPr>
              <a:defRPr sz="1650" b="0">
                <a:solidFill>
                  <a:srgbClr val="52616A"/>
                </a:solidFill>
                <a:latin typeface="Arial"/>
                <a:ea typeface="Arial"/>
                <a:cs typeface="Arial"/>
              </a:defRPr>
            </a:pPr>
            <a:r>
              <a:rPr sz="1650" b="0">
                <a:solidFill>
                  <a:srgbClr val="52616A"/>
                </a:solidFill>
                <a:latin typeface="Arial"/>
                <a:ea typeface="Arial"/>
                <a:cs typeface="Arial"/>
              </a:rPr>
              <a:t>All four patterns tested. Main comparison: Center and Random.</a:t>
            </a:r>
          </a:p>
        </p:txBody>
      </p:sp>
    </p:spTree>
    <p:extLst>
      <p:ext uri="{BB962C8B-B14F-4D97-AF65-F5344CB8AC3E}">
        <ns5:creationId val="11621525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975C245-1BE1-463F-BEA1-3523B438DCCA}"/>
              </a:ext>
            </a:extLst>
          </p:cNvPr>
          <p:cNvSpPr>
            <a:spLocks xmlns:a="http://schemas.openxmlformats.org/drawingml/2006/main" noGrp="1"/>
          </p:cNvSpPr>
          <p:nvPr/>
        </p:nvSpPr>
        <p:spPr>
          <a:xfrm xmlns:a="http://schemas.openxmlformats.org/drawingml/2006/main">
            <a:off x="609600" y="40957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The pattern repeats with black fill</a:t>
            </a:r>
          </a:p>
        </p:txBody>
      </p:sp>
      <p:sp>
        <p:nvSpPr>
          <p:cNvPr id="2" name="">
            <a:extLst xmlns:a="http://schemas.openxmlformats.org/drawingml/2006/main">
              <a:ext uri="{FF2B5EF4-FFF2-40B4-BE49-F238E27FC236}">
                <a16:creationId xmlns:a16="http://schemas.microsoft.com/office/drawing/2014/main" id="{55BBD977-2B07-4C90-B95D-8E5BF8961288}"/>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07</a:t>
            </a:r>
          </a:p>
        </p:txBody>
      </p:sp>
      <p:graphicFrame>
        <p:nvGraphicFramePr>
          <p:cNvPr id="3" name="">
            <a:extLst xmlns:a="http://schemas.openxmlformats.org/drawingml/2006/main">
              <a:ext uri="{FF2B5EF4-FFF2-40B4-BE49-F238E27FC236}">
                <a16:creationId xmlns:a16="http://schemas.microsoft.com/office/drawing/2014/main" id="{42AD42DE-2C91-4AB7-B02E-40295D2632CD}"/>
              </a:ext>
            </a:extLst>
          </p:cNvPr>
          <p:cNvGraphicFramePr/>
          <p:nvPr/>
        </p:nvGraphicFramePr>
        <p:xfrm>
          <a:off xmlns:a="http://schemas.openxmlformats.org/drawingml/2006/main" x="609600" y="1781175"/>
          <a:ext xmlns:a="http://schemas.openxmlformats.org/drawingml/2006/main" cx="10972800" cy="2857500"/>
        </p:xfrm>
        <a:graphic xmlns:a="http://schemas.openxmlformats.org/drawingml/2006/main">
          <a:graphicData uri="http://schemas.openxmlformats.org/drawingml/2006/table">
            <a:tbl>
              <a:tblPr/>
              <a:tblGrid>
                <a:gridCol w="2095500"/>
                <a:gridCol w="2571750"/>
                <a:gridCol w="3152775"/>
                <a:gridCol w="3152775"/>
              </a:tblGrid>
              <a:tr h="571500">
                <a:tc>
                  <a:txBody>
                    <a:bodyPr/>
                    <a:lstStyle/>
                    <a:p>
                      <a:r>
                        <a:rPr sz="2025" b="1">
                          <a:solidFill>
                            <a:srgbClr val="007F7B"/>
                          </a:solidFill>
                          <a:latin typeface="Arial"/>
                          <a:ea typeface="Arial"/>
                          <a:cs typeface="Arial"/>
                        </a:rPr>
                        <a:t>Fill</a:t>
                      </a:r>
                    </a:p>
                  </a:txBody>
                  <a:tcPr marL="91440" marR="91440" marT="45720" marB="45720" anchor="ctr">
                    <a:lnL w="4763">
                      <a:solidFill>
                        <a:srgbClr val="D8E1E4"/>
                      </a:solidFill>
                      <a:prstDash val="solid"/>
                    </a:lnL>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2025" b="1">
                          <a:solidFill>
                            <a:srgbClr val="007F7B"/>
                          </a:solidFill>
                          <a:latin typeface="Arial"/>
                          <a:ea typeface="Arial"/>
                          <a:cs typeface="Arial"/>
                        </a:rPr>
                        <a:t>Pattern</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2025" b="1">
                          <a:solidFill>
                            <a:srgbClr val="007F7B"/>
                          </a:solidFill>
                          <a:latin typeface="Arial"/>
                          <a:ea typeface="Arial"/>
                          <a:cs typeface="Arial"/>
                        </a:rPr>
                        <a:t>AIMv2 accuracy</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2025" b="1">
                          <a:solidFill>
                            <a:srgbClr val="007F7B"/>
                          </a:solidFill>
                          <a:latin typeface="Arial"/>
                          <a:ea typeface="Arial"/>
                          <a:cs typeface="Arial"/>
                        </a:rPr>
                        <a:t>DINOv2 accuracy</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r>
              <a:tr h="571500">
                <a:tc>
                  <a:txBody>
                    <a:bodyPr/>
                    <a:lstStyle/>
                    <a:p>
                      <a:r>
                        <a:rPr sz="2025" b="0">
                          <a:solidFill>
                            <a:srgbClr val="17313D"/>
                          </a:solidFill>
                          <a:latin typeface="Arial"/>
                          <a:ea typeface="Arial"/>
                          <a:cs typeface="Arial"/>
                        </a:rPr>
                        <a:t>Gray</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2025" b="0">
                          <a:solidFill>
                            <a:srgbClr val="17313D"/>
                          </a:solidFill>
                          <a:latin typeface="Arial"/>
                          <a:ea typeface="Arial"/>
                          <a:cs typeface="Arial"/>
                        </a:rPr>
                        <a:t>Center</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2025" b="0">
                          <a:solidFill>
                            <a:srgbClr val="17313D"/>
                          </a:solidFill>
                          <a:latin typeface="Arial"/>
                          <a:ea typeface="Arial"/>
                          <a:cs typeface="Arial"/>
                        </a:rPr>
                        <a:t>87.0%</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2025" b="0">
                          <a:solidFill>
                            <a:srgbClr val="17313D"/>
                          </a:solidFill>
                          <a:latin typeface="Arial"/>
                          <a:ea typeface="Arial"/>
                          <a:cs typeface="Arial"/>
                        </a:rPr>
                        <a:t>63.1%</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71500">
                <a:tc>
                  <a:txBody>
                    <a:bodyPr/>
                    <a:lstStyle/>
                    <a:p>
                      <a:r>
                        <a:rPr sz="2025" b="0">
                          <a:solidFill>
                            <a:srgbClr val="17313D"/>
                          </a:solidFill>
                          <a:latin typeface="Arial"/>
                          <a:ea typeface="Arial"/>
                          <a:cs typeface="Arial"/>
                        </a:rPr>
                        <a:t>Gray</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2025" b="0">
                          <a:solidFill>
                            <a:srgbClr val="17313D"/>
                          </a:solidFill>
                          <a:latin typeface="Arial"/>
                          <a:ea typeface="Arial"/>
                          <a:cs typeface="Arial"/>
                        </a:rPr>
                        <a:t>Random</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2025" b="0">
                          <a:solidFill>
                            <a:srgbClr val="17313D"/>
                          </a:solidFill>
                          <a:latin typeface="Arial"/>
                          <a:ea typeface="Arial"/>
                          <a:cs typeface="Arial"/>
                        </a:rPr>
                        <a:t>33.6%</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2025" b="0">
                          <a:solidFill>
                            <a:srgbClr val="17313D"/>
                          </a:solidFill>
                          <a:latin typeface="Arial"/>
                          <a:ea typeface="Arial"/>
                          <a:cs typeface="Arial"/>
                        </a:rPr>
                        <a:t>69.6%</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71500">
                <a:tc>
                  <a:txBody>
                    <a:bodyPr/>
                    <a:lstStyle/>
                    <a:p>
                      <a:r>
                        <a:rPr sz="2025" b="0">
                          <a:solidFill>
                            <a:srgbClr val="17313D"/>
                          </a:solidFill>
                          <a:latin typeface="Arial"/>
                          <a:ea typeface="Arial"/>
                          <a:cs typeface="Arial"/>
                        </a:rPr>
                        <a:t>Black</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2025" b="0">
                          <a:solidFill>
                            <a:srgbClr val="17313D"/>
                          </a:solidFill>
                          <a:latin typeface="Arial"/>
                          <a:ea typeface="Arial"/>
                          <a:cs typeface="Arial"/>
                        </a:rPr>
                        <a:t>Center</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2025" b="0">
                          <a:solidFill>
                            <a:srgbClr val="17313D"/>
                          </a:solidFill>
                          <a:latin typeface="Arial"/>
                          <a:ea typeface="Arial"/>
                          <a:cs typeface="Arial"/>
                        </a:rPr>
                        <a:t>87.3%</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2025" b="0">
                          <a:solidFill>
                            <a:srgbClr val="17313D"/>
                          </a:solidFill>
                          <a:latin typeface="Arial"/>
                          <a:ea typeface="Arial"/>
                          <a:cs typeface="Arial"/>
                        </a:rPr>
                        <a:t>61.9%</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71500">
                <a:tc>
                  <a:txBody>
                    <a:bodyPr/>
                    <a:lstStyle/>
                    <a:p>
                      <a:r>
                        <a:rPr sz="2025" b="0">
                          <a:solidFill>
                            <a:srgbClr val="17313D"/>
                          </a:solidFill>
                          <a:latin typeface="Arial"/>
                          <a:ea typeface="Arial"/>
                          <a:cs typeface="Arial"/>
                        </a:rPr>
                        <a:t>Black</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2025" b="0">
                          <a:solidFill>
                            <a:srgbClr val="17313D"/>
                          </a:solidFill>
                          <a:latin typeface="Arial"/>
                          <a:ea typeface="Arial"/>
                          <a:cs typeface="Arial"/>
                        </a:rPr>
                        <a:t>Random</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2025" b="0">
                          <a:solidFill>
                            <a:srgbClr val="17313D"/>
                          </a:solidFill>
                          <a:latin typeface="Arial"/>
                          <a:ea typeface="Arial"/>
                          <a:cs typeface="Arial"/>
                        </a:rPr>
                        <a:t>30.4%</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2025" b="0">
                          <a:solidFill>
                            <a:srgbClr val="17313D"/>
                          </a:solidFill>
                          <a:latin typeface="Arial"/>
                          <a:ea typeface="Arial"/>
                          <a:cs typeface="Arial"/>
                        </a:rPr>
                        <a:t>62.2%</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1D3457B-AE54-4320-B2EA-DBC1FA28D050}"/>
              </a:ext>
            </a:extLst>
          </p:cNvPr>
          <p:cNvSpPr>
            <a:spLocks xmlns:a="http://schemas.openxmlformats.org/drawingml/2006/main" noGrp="1"/>
          </p:cNvSpPr>
          <p:nvPr/>
        </p:nvSpPr>
        <p:spPr>
          <a:xfrm xmlns:a="http://schemas.openxmlformats.org/drawingml/2006/main">
            <a:off x="609600" y="50768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F7B"/>
                </a:solidFill>
                <a:latin typeface="Arial"/>
                <a:ea typeface="Arial"/>
                <a:cs typeface="Arial"/>
              </a:defRPr>
            </a:defPPr>
            <a:lvl1pPr>
              <a:defRPr sz="2175" b="1">
                <a:solidFill>
                  <a:srgbClr val="007F7B"/>
                </a:solidFill>
                <a:latin typeface="Arial"/>
                <a:ea typeface="Arial"/>
                <a:cs typeface="Arial"/>
              </a:defRPr>
            </a:lvl1pPr>
            <a:lvl2pPr>
              <a:defRPr sz="2175" b="1">
                <a:solidFill>
                  <a:srgbClr val="007F7B"/>
                </a:solidFill>
                <a:latin typeface="Arial"/>
                <a:ea typeface="Arial"/>
                <a:cs typeface="Arial"/>
              </a:defRPr>
            </a:lvl2pPr>
            <a:lvl3pPr>
              <a:defRPr sz="2175" b="1">
                <a:solidFill>
                  <a:srgbClr val="007F7B"/>
                </a:solidFill>
                <a:latin typeface="Arial"/>
                <a:ea typeface="Arial"/>
                <a:cs typeface="Arial"/>
              </a:defRPr>
            </a:lvl3pPr>
            <a:lvl4pPr>
              <a:defRPr sz="2175" b="1">
                <a:solidFill>
                  <a:srgbClr val="007F7B"/>
                </a:solidFill>
                <a:latin typeface="Arial"/>
                <a:ea typeface="Arial"/>
                <a:cs typeface="Arial"/>
              </a:defRPr>
            </a:lvl4pPr>
            <a:lvl5pPr>
              <a:defRPr sz="2175" b="1">
                <a:solidFill>
                  <a:srgbClr val="007F7B"/>
                </a:solidFill>
                <a:latin typeface="Arial"/>
                <a:ea typeface="Arial"/>
                <a:cs typeface="Arial"/>
              </a:defRPr>
            </a:lvl5pPr>
            <a:lvl6pPr>
              <a:defRPr sz="2175" b="1">
                <a:solidFill>
                  <a:srgbClr val="007F7B"/>
                </a:solidFill>
                <a:latin typeface="Arial"/>
                <a:ea typeface="Arial"/>
                <a:cs typeface="Arial"/>
              </a:defRPr>
            </a:lvl6pPr>
            <a:lvl7pPr>
              <a:defRPr sz="2175" b="1">
                <a:solidFill>
                  <a:srgbClr val="007F7B"/>
                </a:solidFill>
                <a:latin typeface="Arial"/>
                <a:ea typeface="Arial"/>
                <a:cs typeface="Arial"/>
              </a:defRPr>
            </a:lvl7pPr>
            <a:lvl8pPr>
              <a:defRPr sz="2175" b="1">
                <a:solidFill>
                  <a:srgbClr val="007F7B"/>
                </a:solidFill>
                <a:latin typeface="Arial"/>
                <a:ea typeface="Arial"/>
                <a:cs typeface="Arial"/>
              </a:defRPr>
            </a:lvl8pPr>
            <a:lvl9pPr>
              <a:defRPr sz="2175" b="1">
                <a:solidFill>
                  <a:srgbClr val="007F7B"/>
                </a:solidFill>
                <a:latin typeface="Arial"/>
                <a:ea typeface="Arial"/>
                <a:cs typeface="Arial"/>
              </a:defRPr>
            </a:lvl9pPr>
          </a:lstStyle>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Same visible pixels and mask positions. Only the fill color changes.</a:t>
            </a:r>
          </a:p>
        </p:txBody>
      </p:sp>
      <p:sp>
        <p:nvSpPr>
          <p:cNvPr id="5" name="">
            <a:extLst xmlns:a="http://schemas.openxmlformats.org/drawingml/2006/main">
              <a:ext uri="{FF2B5EF4-FFF2-40B4-BE49-F238E27FC236}">
                <a16:creationId xmlns:a16="http://schemas.microsoft.com/office/drawing/2014/main" id="{B047CF86-7848-440D-9AA1-73B06C12C639}"/>
              </a:ext>
            </a:extLst>
          </p:cNvPr>
          <p:cNvSpPr>
            <a:spLocks xmlns:a="http://schemas.openxmlformats.org/drawingml/2006/main" noGrp="1"/>
          </p:cNvSpPr>
          <p:nvPr/>
        </p:nvSpPr>
        <p:spPr>
          <a:xfrm xmlns:a="http://schemas.openxmlformats.org/drawingml/2006/main">
            <a:off x="609600" y="59245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16A"/>
                </a:solidFill>
                <a:latin typeface="Arial"/>
                <a:ea typeface="Arial"/>
                <a:cs typeface="Arial"/>
              </a:defRPr>
            </a:defPPr>
            <a:lvl1pPr>
              <a:defRPr sz="1875" b="0">
                <a:solidFill>
                  <a:srgbClr val="52616A"/>
                </a:solidFill>
                <a:latin typeface="Arial"/>
                <a:ea typeface="Arial"/>
                <a:cs typeface="Arial"/>
              </a:defRPr>
            </a:lvl1pPr>
            <a:lvl2pPr>
              <a:defRPr sz="1875" b="0">
                <a:solidFill>
                  <a:srgbClr val="52616A"/>
                </a:solidFill>
                <a:latin typeface="Arial"/>
                <a:ea typeface="Arial"/>
                <a:cs typeface="Arial"/>
              </a:defRPr>
            </a:lvl2pPr>
            <a:lvl3pPr>
              <a:defRPr sz="1875" b="0">
                <a:solidFill>
                  <a:srgbClr val="52616A"/>
                </a:solidFill>
                <a:latin typeface="Arial"/>
                <a:ea typeface="Arial"/>
                <a:cs typeface="Arial"/>
              </a:defRPr>
            </a:lvl3pPr>
            <a:lvl4pPr>
              <a:defRPr sz="1875" b="0">
                <a:solidFill>
                  <a:srgbClr val="52616A"/>
                </a:solidFill>
                <a:latin typeface="Arial"/>
                <a:ea typeface="Arial"/>
                <a:cs typeface="Arial"/>
              </a:defRPr>
            </a:lvl4pPr>
            <a:lvl5pPr>
              <a:defRPr sz="1875" b="0">
                <a:solidFill>
                  <a:srgbClr val="52616A"/>
                </a:solidFill>
                <a:latin typeface="Arial"/>
                <a:ea typeface="Arial"/>
                <a:cs typeface="Arial"/>
              </a:defRPr>
            </a:lvl5pPr>
            <a:lvl6pPr>
              <a:defRPr sz="1875" b="0">
                <a:solidFill>
                  <a:srgbClr val="52616A"/>
                </a:solidFill>
                <a:latin typeface="Arial"/>
                <a:ea typeface="Arial"/>
                <a:cs typeface="Arial"/>
              </a:defRPr>
            </a:lvl6pPr>
            <a:lvl7pPr>
              <a:defRPr sz="1875" b="0">
                <a:solidFill>
                  <a:srgbClr val="52616A"/>
                </a:solidFill>
                <a:latin typeface="Arial"/>
                <a:ea typeface="Arial"/>
                <a:cs typeface="Arial"/>
              </a:defRPr>
            </a:lvl7pPr>
            <a:lvl8pPr>
              <a:defRPr sz="1875" b="0">
                <a:solidFill>
                  <a:srgbClr val="52616A"/>
                </a:solidFill>
                <a:latin typeface="Arial"/>
                <a:ea typeface="Arial"/>
                <a:cs typeface="Arial"/>
              </a:defRPr>
            </a:lvl8pPr>
            <a:lvl9pPr>
              <a:defRPr sz="1875" b="0">
                <a:solidFill>
                  <a:srgbClr val="52616A"/>
                </a:solidFill>
                <a:latin typeface="Arial"/>
                <a:ea typeface="Arial"/>
                <a:cs typeface="Arial"/>
              </a:defRPr>
            </a:lvl9pPr>
          </a:lstStyle>
          <a:p xmlns:a="http://schemas.openxmlformats.org/drawingml/2006/main">
            <a:pPr>
              <a:defRPr sz="1875" b="0">
                <a:solidFill>
                  <a:srgbClr val="52616A"/>
                </a:solidFill>
                <a:latin typeface="Arial"/>
                <a:ea typeface="Arial"/>
                <a:cs typeface="Arial"/>
              </a:defRPr>
            </a:pPr>
            <a:r>
              <a:rPr sz="1875" b="0">
                <a:solidFill>
                  <a:srgbClr val="52616A"/>
                </a:solidFill>
                <a:latin typeface="Arial"/>
                <a:ea typeface="Arial"/>
                <a:cs typeface="Arial"/>
              </a:rPr>
              <a:t>The ordering repeats under gray and black. The scores still change.</a:t>
            </a:r>
          </a:p>
        </p:txBody>
      </p:sp>
    </p:spTree>
    <p:extLst>
      <p:ext uri="{BB962C8B-B14F-4D97-AF65-F5344CB8AC3E}">
        <p14:creationId xmlns:p14="http://schemas.microsoft.com/office/powerpoint/2010/main" val="19810862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46819EF-145E-461C-9A71-CC966594E037}"/>
              </a:ext>
            </a:extLst>
          </p:cNvPr>
          <p:cNvSpPr>
            <a:spLocks xmlns:a="http://schemas.openxmlformats.org/drawingml/2006/main" noGrp="1"/>
          </p:cNvSpPr>
          <p:nvPr/>
        </p:nvSpPr>
        <p:spPr>
          <a:xfrm xmlns:a="http://schemas.openxmlformats.org/drawingml/2006/main">
            <a:off x="609600" y="40957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How much of the animal is visible?</a:t>
            </a:r>
          </a:p>
        </p:txBody>
      </p:sp>
      <p:sp>
        <p:nvSpPr>
          <p:cNvPr id="2" name="">
            <a:extLst xmlns:a="http://schemas.openxmlformats.org/drawingml/2006/main">
              <a:ext uri="{FF2B5EF4-FFF2-40B4-BE49-F238E27FC236}">
                <a16:creationId xmlns:a16="http://schemas.microsoft.com/office/drawing/2014/main" id="{AF4D0C59-CD9D-4171-9381-7030FC9A334D}"/>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400E9F31-A551-4460-9A07-B9A420BCB0A7}"/>
              </a:ext>
            </a:extLst>
          </p:cNvPr>
          <p:cNvSpPr>
            <a:spLocks xmlns:a="http://schemas.openxmlformats.org/drawingml/2006/main" noGrp="1"/>
          </p:cNvSpPr>
          <p:nvPr/>
        </p:nvSpPr>
        <p:spPr>
          <a:xfrm xmlns:a="http://schemas.openxmlformats.org/drawingml/2006/main">
            <a:off x="609600" y="15811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16A"/>
                </a:solidFill>
                <a:latin typeface="Arial"/>
                <a:ea typeface="Arial"/>
                <a:cs typeface="Arial"/>
              </a:defRPr>
            </a:defPPr>
            <a:lvl1pPr>
              <a:defRPr sz="2025" b="0">
                <a:solidFill>
                  <a:srgbClr val="52616A"/>
                </a:solidFill>
                <a:latin typeface="Arial"/>
                <a:ea typeface="Arial"/>
                <a:cs typeface="Arial"/>
              </a:defRPr>
            </a:lvl1pPr>
            <a:lvl2pPr>
              <a:defRPr sz="2025" b="0">
                <a:solidFill>
                  <a:srgbClr val="52616A"/>
                </a:solidFill>
                <a:latin typeface="Arial"/>
                <a:ea typeface="Arial"/>
                <a:cs typeface="Arial"/>
              </a:defRPr>
            </a:lvl2pPr>
            <a:lvl3pPr>
              <a:defRPr sz="2025" b="0">
                <a:solidFill>
                  <a:srgbClr val="52616A"/>
                </a:solidFill>
                <a:latin typeface="Arial"/>
                <a:ea typeface="Arial"/>
                <a:cs typeface="Arial"/>
              </a:defRPr>
            </a:lvl3pPr>
            <a:lvl4pPr>
              <a:defRPr sz="2025" b="0">
                <a:solidFill>
                  <a:srgbClr val="52616A"/>
                </a:solidFill>
                <a:latin typeface="Arial"/>
                <a:ea typeface="Arial"/>
                <a:cs typeface="Arial"/>
              </a:defRPr>
            </a:lvl4pPr>
            <a:lvl5pPr>
              <a:defRPr sz="2025" b="0">
                <a:solidFill>
                  <a:srgbClr val="52616A"/>
                </a:solidFill>
                <a:latin typeface="Arial"/>
                <a:ea typeface="Arial"/>
                <a:cs typeface="Arial"/>
              </a:defRPr>
            </a:lvl5pPr>
            <a:lvl6pPr>
              <a:defRPr sz="2025" b="0">
                <a:solidFill>
                  <a:srgbClr val="52616A"/>
                </a:solidFill>
                <a:latin typeface="Arial"/>
                <a:ea typeface="Arial"/>
                <a:cs typeface="Arial"/>
              </a:defRPr>
            </a:lvl6pPr>
            <a:lvl7pPr>
              <a:defRPr sz="2025" b="0">
                <a:solidFill>
                  <a:srgbClr val="52616A"/>
                </a:solidFill>
                <a:latin typeface="Arial"/>
                <a:ea typeface="Arial"/>
                <a:cs typeface="Arial"/>
              </a:defRPr>
            </a:lvl7pPr>
            <a:lvl8pPr>
              <a:defRPr sz="2025" b="0">
                <a:solidFill>
                  <a:srgbClr val="52616A"/>
                </a:solidFill>
                <a:latin typeface="Arial"/>
                <a:ea typeface="Arial"/>
                <a:cs typeface="Arial"/>
              </a:defRPr>
            </a:lvl8pPr>
            <a:lvl9pPr>
              <a:defRPr sz="2025" b="0">
                <a:solidFill>
                  <a:srgbClr val="52616A"/>
                </a:solidFill>
                <a:latin typeface="Arial"/>
                <a:ea typeface="Arial"/>
                <a:cs typeface="Arial"/>
              </a:defRPr>
            </a:lvl9pPr>
          </a:lstStyle>
          <a:p xmlns:a="http://schemas.openxmlformats.org/drawingml/2006/main">
            <a:pPr>
              <a:defRPr sz="2025" b="0">
                <a:solidFill>
                  <a:srgbClr val="52616A"/>
                </a:solidFill>
                <a:latin typeface="Arial"/>
                <a:ea typeface="Arial"/>
                <a:cs typeface="Arial"/>
              </a:defRPr>
            </a:pPr>
            <a:r>
              <a:rPr sz="2025" b="0">
                <a:solidFill>
                  <a:srgbClr val="52616A"/>
                </a:solidFill>
                <a:latin typeface="Arial"/>
                <a:ea typeface="Arial"/>
                <a:cs typeface="Arial"/>
              </a:rPr>
              <a:t>All patterns keep 25% of the picture. Animal visibility differs.</a:t>
            </a:r>
          </a:p>
        </p:txBody>
      </p:sp>
      <p:graphicFrame>
        <p:nvGraphicFramePr>
          <p:cNvPr id="4" name="Chart">
            <a:extLst xmlns:a="http://schemas.openxmlformats.org/drawingml/2006/main">
              <a:ext uri="{FF2B5EF4-FFF2-40B4-BE49-F238E27FC236}">
                <a16:creationId xmlns:a16="http://schemas.microsoft.com/office/drawing/2014/main" id="{54028A62-5C1A-4874-BFB0-825CE477042D}"/>
              </a:ext>
            </a:extLst>
          </p:cNvPr>
          <p:cNvGraphicFramePr/>
          <p:nvPr/>
        </p:nvGraphicFramePr>
        <p:xfrm>
          <a:off xmlns:a="http://schemas.openxmlformats.org/drawingml/2006/main" x="609600" y="2209800"/>
          <a:ext xmlns:a="http://schemas.openxmlformats.org/drawingml/2006/main" cx="10972800" cy="3143250"/>
        </p:xfrm>
        <a:graphic xmlns:a="http://schemas.openxmlformats.org/drawingml/2006/main">
          <a:graphicData uri="http://schemas.openxmlformats.org/drawingml/2006/chart">
            <c:chart xmlns:r="http://schemas.openxmlformats.org/officeDocument/2006/relationships" xmlns:c="http://schemas.openxmlformats.org/drawingml/2006/chart" r:id="R52bf9b29701340cb"/>
          </a:graphicData>
        </a:graphic>
      </p:graphicFrame>
      <p:sp>
        <p:nvSpPr>
          <p:cNvPr id="5" name="">
            <a:extLst xmlns:a="http://schemas.openxmlformats.org/drawingml/2006/main">
              <a:ext uri="{FF2B5EF4-FFF2-40B4-BE49-F238E27FC236}">
                <a16:creationId xmlns:a16="http://schemas.microsoft.com/office/drawing/2014/main" id="{6131A752-6EF1-40C1-B643-AA97A09A769E}"/>
              </a:ext>
            </a:extLst>
          </p:cNvPr>
          <p:cNvSpPr>
            <a:spLocks xmlns:a="http://schemas.openxmlformats.org/drawingml/2006/main" noGrp="1"/>
          </p:cNvSpPr>
          <p:nvPr/>
        </p:nvSpPr>
        <p:spPr>
          <a:xfrm xmlns:a="http://schemas.openxmlformats.org/drawingml/2006/main">
            <a:off x="609600" y="55721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313D"/>
                </a:solidFill>
                <a:latin typeface="Arial"/>
                <a:ea typeface="Arial"/>
                <a:cs typeface="Arial"/>
              </a:defRPr>
            </a:defPPr>
            <a:lvl1pPr>
              <a:defRPr sz="2325" b="1">
                <a:solidFill>
                  <a:srgbClr val="17313D"/>
                </a:solidFill>
                <a:latin typeface="Arial"/>
                <a:ea typeface="Arial"/>
                <a:cs typeface="Arial"/>
              </a:defRPr>
            </a:lvl1pPr>
            <a:lvl2pPr>
              <a:defRPr sz="2325" b="1">
                <a:solidFill>
                  <a:srgbClr val="17313D"/>
                </a:solidFill>
                <a:latin typeface="Arial"/>
                <a:ea typeface="Arial"/>
                <a:cs typeface="Arial"/>
              </a:defRPr>
            </a:lvl2pPr>
            <a:lvl3pPr>
              <a:defRPr sz="2325" b="1">
                <a:solidFill>
                  <a:srgbClr val="17313D"/>
                </a:solidFill>
                <a:latin typeface="Arial"/>
                <a:ea typeface="Arial"/>
                <a:cs typeface="Arial"/>
              </a:defRPr>
            </a:lvl3pPr>
            <a:lvl4pPr>
              <a:defRPr sz="2325" b="1">
                <a:solidFill>
                  <a:srgbClr val="17313D"/>
                </a:solidFill>
                <a:latin typeface="Arial"/>
                <a:ea typeface="Arial"/>
                <a:cs typeface="Arial"/>
              </a:defRPr>
            </a:lvl4pPr>
            <a:lvl5pPr>
              <a:defRPr sz="2325" b="1">
                <a:solidFill>
                  <a:srgbClr val="17313D"/>
                </a:solidFill>
                <a:latin typeface="Arial"/>
                <a:ea typeface="Arial"/>
                <a:cs typeface="Arial"/>
              </a:defRPr>
            </a:lvl5pPr>
            <a:lvl6pPr>
              <a:defRPr sz="2325" b="1">
                <a:solidFill>
                  <a:srgbClr val="17313D"/>
                </a:solidFill>
                <a:latin typeface="Arial"/>
                <a:ea typeface="Arial"/>
                <a:cs typeface="Arial"/>
              </a:defRPr>
            </a:lvl6pPr>
            <a:lvl7pPr>
              <a:defRPr sz="2325" b="1">
                <a:solidFill>
                  <a:srgbClr val="17313D"/>
                </a:solidFill>
                <a:latin typeface="Arial"/>
                <a:ea typeface="Arial"/>
                <a:cs typeface="Arial"/>
              </a:defRPr>
            </a:lvl7pPr>
            <a:lvl8pPr>
              <a:defRPr sz="2325" b="1">
                <a:solidFill>
                  <a:srgbClr val="17313D"/>
                </a:solidFill>
                <a:latin typeface="Arial"/>
                <a:ea typeface="Arial"/>
                <a:cs typeface="Arial"/>
              </a:defRPr>
            </a:lvl8pPr>
            <a:lvl9pPr>
              <a:defRPr sz="2325" b="1">
                <a:solidFill>
                  <a:srgbClr val="17313D"/>
                </a:solidFill>
                <a:latin typeface="Arial"/>
                <a:ea typeface="Arial"/>
                <a:cs typeface="Arial"/>
              </a:defRPr>
            </a:lvl9pPr>
          </a:lstStyle>
          <a:p xmlns:a="http://schemas.openxmlformats.org/drawingml/2006/main">
            <a:pPr>
              <a:defRPr sz="2325" b="1">
                <a:solidFill>
                  <a:srgbClr val="17313D"/>
                </a:solidFill>
                <a:latin typeface="Arial"/>
                <a:ea typeface="Arial"/>
                <a:cs typeface="Arial"/>
              </a:defRPr>
            </a:pPr>
            <a:r>
              <a:rPr sz="2325" b="1">
                <a:solidFill>
                  <a:srgbClr val="17313D"/>
                </a:solidFill>
                <a:latin typeface="Arial"/>
                <a:ea typeface="Arial"/>
                <a:cs typeface="Arial"/>
              </a:rPr>
              <a:t>Mask location and visible content change together.</a:t>
            </a:r>
          </a:p>
        </p:txBody>
      </p:sp>
      <p:sp>
        <p:nvSpPr>
          <p:cNvPr id="6" name="">
            <a:extLst xmlns:a="http://schemas.openxmlformats.org/drawingml/2006/main">
              <a:ext uri="{FF2B5EF4-FFF2-40B4-BE49-F238E27FC236}">
                <a16:creationId xmlns:a16="http://schemas.microsoft.com/office/drawing/2014/main" id="{5B538CC6-B4D0-494F-AC26-777073B54E8A}"/>
              </a:ext>
            </a:extLst>
          </p:cNvPr>
          <p:cNvSpPr>
            <a:spLocks xmlns:a="http://schemas.openxmlformats.org/drawingml/2006/main" noGrp="1"/>
          </p:cNvSpPr>
          <p:nvPr/>
        </p:nvSpPr>
        <p:spPr>
          <a:xfrm xmlns:a="http://schemas.openxmlformats.org/drawingml/2006/main">
            <a:off x="609600" y="61245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16A"/>
                </a:solidFill>
                <a:latin typeface="Arial"/>
                <a:ea typeface="Arial"/>
                <a:cs typeface="Arial"/>
              </a:defRPr>
            </a:defPPr>
            <a:lvl1pPr>
              <a:defRPr sz="1725" b="0">
                <a:solidFill>
                  <a:srgbClr val="52616A"/>
                </a:solidFill>
                <a:latin typeface="Arial"/>
                <a:ea typeface="Arial"/>
                <a:cs typeface="Arial"/>
              </a:defRPr>
            </a:lvl1pPr>
            <a:lvl2pPr>
              <a:defRPr sz="1725" b="0">
                <a:solidFill>
                  <a:srgbClr val="52616A"/>
                </a:solidFill>
                <a:latin typeface="Arial"/>
                <a:ea typeface="Arial"/>
                <a:cs typeface="Arial"/>
              </a:defRPr>
            </a:lvl2pPr>
            <a:lvl3pPr>
              <a:defRPr sz="1725" b="0">
                <a:solidFill>
                  <a:srgbClr val="52616A"/>
                </a:solidFill>
                <a:latin typeface="Arial"/>
                <a:ea typeface="Arial"/>
                <a:cs typeface="Arial"/>
              </a:defRPr>
            </a:lvl3pPr>
            <a:lvl4pPr>
              <a:defRPr sz="1725" b="0">
                <a:solidFill>
                  <a:srgbClr val="52616A"/>
                </a:solidFill>
                <a:latin typeface="Arial"/>
                <a:ea typeface="Arial"/>
                <a:cs typeface="Arial"/>
              </a:defRPr>
            </a:lvl4pPr>
            <a:lvl5pPr>
              <a:defRPr sz="1725" b="0">
                <a:solidFill>
                  <a:srgbClr val="52616A"/>
                </a:solidFill>
                <a:latin typeface="Arial"/>
                <a:ea typeface="Arial"/>
                <a:cs typeface="Arial"/>
              </a:defRPr>
            </a:lvl5pPr>
            <a:lvl6pPr>
              <a:defRPr sz="1725" b="0">
                <a:solidFill>
                  <a:srgbClr val="52616A"/>
                </a:solidFill>
                <a:latin typeface="Arial"/>
                <a:ea typeface="Arial"/>
                <a:cs typeface="Arial"/>
              </a:defRPr>
            </a:lvl6pPr>
            <a:lvl7pPr>
              <a:defRPr sz="1725" b="0">
                <a:solidFill>
                  <a:srgbClr val="52616A"/>
                </a:solidFill>
                <a:latin typeface="Arial"/>
                <a:ea typeface="Arial"/>
                <a:cs typeface="Arial"/>
              </a:defRPr>
            </a:lvl7pPr>
            <a:lvl8pPr>
              <a:defRPr sz="1725" b="0">
                <a:solidFill>
                  <a:srgbClr val="52616A"/>
                </a:solidFill>
                <a:latin typeface="Arial"/>
                <a:ea typeface="Arial"/>
                <a:cs typeface="Arial"/>
              </a:defRPr>
            </a:lvl8pPr>
            <a:lvl9pPr>
              <a:defRPr sz="1725" b="0">
                <a:solidFill>
                  <a:srgbClr val="52616A"/>
                </a:solidFill>
                <a:latin typeface="Arial"/>
                <a:ea typeface="Arial"/>
                <a:cs typeface="Arial"/>
              </a:defRPr>
            </a:lvl9pPr>
          </a:lstStyle>
          <a:p xmlns:a="http://schemas.openxmlformats.org/drawingml/2006/main">
            <a:pPr>
              <a:defRPr sz="1725" b="0">
                <a:solidFill>
                  <a:srgbClr val="52616A"/>
                </a:solidFill>
                <a:latin typeface="Arial"/>
                <a:ea typeface="Arial"/>
                <a:cs typeface="Arial"/>
              </a:defRPr>
            </a:pPr>
            <a:r>
              <a:rPr sz="1725" b="0">
                <a:solidFill>
                  <a:srgbClr val="52616A"/>
                </a:solidFill>
                <a:latin typeface="Arial"/>
                <a:ea typeface="Arial"/>
                <a:cs typeface="Arial"/>
              </a:rPr>
              <a:t>This does not tell us how much animal visibility explains the score gap.</a:t>
            </a:r>
          </a:p>
        </p:txBody>
      </p:sp>
    </p:spTree>
    <p:extLst>
      <p:ext uri="{BB962C8B-B14F-4D97-AF65-F5344CB8AC3E}">
        <p14:creationId xmlns:p14="http://schemas.microsoft.com/office/powerpoint/2010/main" val="101648233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DC266C-969D-4CEC-8018-CEBC1E34AFCB}"/>
              </a:ext>
            </a:extLst>
          </p:cNvPr>
          <p:cNvSpPr>
            <a:spLocks xmlns:a="http://schemas.openxmlformats.org/drawingml/2006/main" noGrp="1"/>
          </p:cNvSpPr>
          <p:nvPr/>
        </p:nvSpPr>
        <p:spPr>
          <a:xfrm xmlns:a="http://schemas.openxmlformats.org/drawingml/2006/main">
            <a:off x="609600" y="40957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Same square, different locations</a:t>
            </a:r>
          </a:p>
        </p:txBody>
      </p:sp>
      <p:sp>
        <p:nvSpPr>
          <p:cNvPr id="2" name="">
            <a:extLst xmlns:a="http://schemas.openxmlformats.org/drawingml/2006/main">
              <a:ext uri="{FF2B5EF4-FFF2-40B4-BE49-F238E27FC236}">
                <a16:creationId xmlns:a16="http://schemas.microsoft.com/office/drawing/2014/main" id="{A3428E20-FFD5-4425-9A98-D84BB4C5A653}"/>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A90A8ED2-2D95-48A4-B649-9B8A1D46690D}"/>
              </a:ext>
            </a:extLst>
          </p:cNvPr>
          <p:cNvSpPr>
            <a:spLocks xmlns:a="http://schemas.openxmlformats.org/drawingml/2006/main" noGrp="1"/>
          </p:cNvSpPr>
          <p:nvPr/>
        </p:nvSpPr>
        <p:spPr>
          <a:xfrm xmlns:a="http://schemas.openxmlformats.org/drawingml/2006/main">
            <a:off x="609600" y="1571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7F7B"/>
                </a:solidFill>
                <a:latin typeface="Arial"/>
                <a:ea typeface="Arial"/>
                <a:cs typeface="Arial"/>
              </a:defRPr>
            </a:defPPr>
            <a:lvl1pPr>
              <a:defRPr sz="2325" b="1">
                <a:solidFill>
                  <a:srgbClr val="007F7B"/>
                </a:solidFill>
                <a:latin typeface="Arial"/>
                <a:ea typeface="Arial"/>
                <a:cs typeface="Arial"/>
              </a:defRPr>
            </a:lvl1pPr>
            <a:lvl2pPr>
              <a:defRPr sz="2325" b="1">
                <a:solidFill>
                  <a:srgbClr val="007F7B"/>
                </a:solidFill>
                <a:latin typeface="Arial"/>
                <a:ea typeface="Arial"/>
                <a:cs typeface="Arial"/>
              </a:defRPr>
            </a:lvl2pPr>
            <a:lvl3pPr>
              <a:defRPr sz="2325" b="1">
                <a:solidFill>
                  <a:srgbClr val="007F7B"/>
                </a:solidFill>
                <a:latin typeface="Arial"/>
                <a:ea typeface="Arial"/>
                <a:cs typeface="Arial"/>
              </a:defRPr>
            </a:lvl3pPr>
            <a:lvl4pPr>
              <a:defRPr sz="2325" b="1">
                <a:solidFill>
                  <a:srgbClr val="007F7B"/>
                </a:solidFill>
                <a:latin typeface="Arial"/>
                <a:ea typeface="Arial"/>
                <a:cs typeface="Arial"/>
              </a:defRPr>
            </a:lvl4pPr>
            <a:lvl5pPr>
              <a:defRPr sz="2325" b="1">
                <a:solidFill>
                  <a:srgbClr val="007F7B"/>
                </a:solidFill>
                <a:latin typeface="Arial"/>
                <a:ea typeface="Arial"/>
                <a:cs typeface="Arial"/>
              </a:defRPr>
            </a:lvl5pPr>
            <a:lvl6pPr>
              <a:defRPr sz="2325" b="1">
                <a:solidFill>
                  <a:srgbClr val="007F7B"/>
                </a:solidFill>
                <a:latin typeface="Arial"/>
                <a:ea typeface="Arial"/>
                <a:cs typeface="Arial"/>
              </a:defRPr>
            </a:lvl6pPr>
            <a:lvl7pPr>
              <a:defRPr sz="2325" b="1">
                <a:solidFill>
                  <a:srgbClr val="007F7B"/>
                </a:solidFill>
                <a:latin typeface="Arial"/>
                <a:ea typeface="Arial"/>
                <a:cs typeface="Arial"/>
              </a:defRPr>
            </a:lvl7pPr>
            <a:lvl8pPr>
              <a:defRPr sz="2325" b="1">
                <a:solidFill>
                  <a:srgbClr val="007F7B"/>
                </a:solidFill>
                <a:latin typeface="Arial"/>
                <a:ea typeface="Arial"/>
                <a:cs typeface="Arial"/>
              </a:defRPr>
            </a:lvl8pPr>
            <a:lvl9pPr>
              <a:defRPr sz="2325" b="1">
                <a:solidFill>
                  <a:srgbClr val="007F7B"/>
                </a:solidFill>
                <a:latin typeface="Arial"/>
                <a:ea typeface="Arial"/>
                <a:cs typeface="Arial"/>
              </a:defRPr>
            </a:lvl9pPr>
          </a:lstStyle>
          <a:p xmlns:a="http://schemas.openxmlformats.org/drawingml/2006/main">
            <a:pPr>
              <a:defRPr sz="2325" b="1">
                <a:solidFill>
                  <a:srgbClr val="007F7B"/>
                </a:solidFill>
                <a:latin typeface="Arial"/>
                <a:ea typeface="Arial"/>
                <a:cs typeface="Arial"/>
              </a:defRPr>
            </a:pPr>
            <a:r>
              <a:rPr sz="2325" b="1">
                <a:solidFill>
                  <a:srgbClr val="007F7B"/>
                </a:solidFill>
                <a:latin typeface="Arial"/>
                <a:ea typeface="Arial"/>
                <a:cs typeface="Arial"/>
              </a:rPr>
              <a:t>A square covers 25%. The other 75% stays visible.</a:t>
            </a:r>
          </a:p>
        </p:txBody>
      </p:sp>
      <p:sp>
        <p:nvSpPr>
          <p:cNvPr id="4" name="">
            <a:extLst xmlns:a="http://schemas.openxmlformats.org/drawingml/2006/main">
              <a:ext uri="{FF2B5EF4-FFF2-40B4-BE49-F238E27FC236}">
                <a16:creationId xmlns:a16="http://schemas.microsoft.com/office/drawing/2014/main" id="{7C46DC83-04E1-44DF-93F0-AA95A5F29B6F}"/>
              </a:ext>
            </a:extLst>
          </p:cNvPr>
          <p:cNvSpPr>
            <a:spLocks xmlns:a="http://schemas.openxmlformats.org/drawingml/2006/main" noGrp="1"/>
          </p:cNvSpPr>
          <p:nvPr/>
        </p:nvSpPr>
        <p:spPr>
          <a:xfrm xmlns:a="http://schemas.openxmlformats.org/drawingml/2006/main">
            <a:off x="609600" y="225742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313D"/>
                </a:solidFill>
                <a:latin typeface="Arial"/>
                <a:ea typeface="Arial"/>
                <a:cs typeface="Arial"/>
              </a:defRPr>
            </a:defPPr>
            <a:lvl1pPr>
              <a:defRPr sz="2100" b="0">
                <a:solidFill>
                  <a:srgbClr val="17313D"/>
                </a:solidFill>
                <a:latin typeface="Arial"/>
                <a:ea typeface="Arial"/>
                <a:cs typeface="Arial"/>
              </a:defRPr>
            </a:lvl1pPr>
            <a:lvl2pPr>
              <a:defRPr sz="2100" b="0">
                <a:solidFill>
                  <a:srgbClr val="17313D"/>
                </a:solidFill>
                <a:latin typeface="Arial"/>
                <a:ea typeface="Arial"/>
                <a:cs typeface="Arial"/>
              </a:defRPr>
            </a:lvl2pPr>
            <a:lvl3pPr>
              <a:defRPr sz="2100" b="0">
                <a:solidFill>
                  <a:srgbClr val="17313D"/>
                </a:solidFill>
                <a:latin typeface="Arial"/>
                <a:ea typeface="Arial"/>
                <a:cs typeface="Arial"/>
              </a:defRPr>
            </a:lvl3pPr>
            <a:lvl4pPr>
              <a:defRPr sz="2100" b="0">
                <a:solidFill>
                  <a:srgbClr val="17313D"/>
                </a:solidFill>
                <a:latin typeface="Arial"/>
                <a:ea typeface="Arial"/>
                <a:cs typeface="Arial"/>
              </a:defRPr>
            </a:lvl4pPr>
            <a:lvl5pPr>
              <a:defRPr sz="2100" b="0">
                <a:solidFill>
                  <a:srgbClr val="17313D"/>
                </a:solidFill>
                <a:latin typeface="Arial"/>
                <a:ea typeface="Arial"/>
                <a:cs typeface="Arial"/>
              </a:defRPr>
            </a:lvl5pPr>
            <a:lvl6pPr>
              <a:defRPr sz="2100" b="0">
                <a:solidFill>
                  <a:srgbClr val="17313D"/>
                </a:solidFill>
                <a:latin typeface="Arial"/>
                <a:ea typeface="Arial"/>
                <a:cs typeface="Arial"/>
              </a:defRPr>
            </a:lvl6pPr>
            <a:lvl7pPr>
              <a:defRPr sz="2100" b="0">
                <a:solidFill>
                  <a:srgbClr val="17313D"/>
                </a:solidFill>
                <a:latin typeface="Arial"/>
                <a:ea typeface="Arial"/>
                <a:cs typeface="Arial"/>
              </a:defRPr>
            </a:lvl7pPr>
            <a:lvl8pPr>
              <a:defRPr sz="2100" b="0">
                <a:solidFill>
                  <a:srgbClr val="17313D"/>
                </a:solidFill>
                <a:latin typeface="Arial"/>
                <a:ea typeface="Arial"/>
                <a:cs typeface="Arial"/>
              </a:defRPr>
            </a:lvl8pPr>
            <a:lvl9pPr>
              <a:defRPr sz="2100" b="0">
                <a:solidFill>
                  <a:srgbClr val="17313D"/>
                </a:solidFill>
                <a:latin typeface="Arial"/>
                <a:ea typeface="Arial"/>
                <a:cs typeface="Arial"/>
              </a:defRPr>
            </a:lvl9pPr>
          </a:lstStyle>
          <a:p xmlns:a="http://schemas.openxmlformats.org/drawingml/2006/main">
            <a:pPr>
              <a:defRPr sz="2100" b="0">
                <a:solidFill>
                  <a:srgbClr val="17313D"/>
                </a:solidFill>
                <a:latin typeface="Arial"/>
                <a:ea typeface="Arial"/>
                <a:cs typeface="Arial"/>
              </a:defRPr>
            </a:pPr>
            <a:r>
              <a:rPr sz="2100" b="0">
                <a:solidFill>
                  <a:srgbClr val="17313D"/>
                </a:solidFill>
                <a:latin typeface="Arial"/>
                <a:ea typeface="Arial"/>
                <a:cs typeface="Arial"/>
              </a:rPr>
              <a:t>Move the same-sized square to leave more or less animal visible.</a:t>
            </a:r>
          </a:p>
        </p:txBody>
      </p:sp>
      <p:graphicFrame>
        <p:nvGraphicFramePr>
          <p:cNvPr id="5" name="">
            <a:extLst xmlns:a="http://schemas.openxmlformats.org/drawingml/2006/main">
              <a:ext uri="{FF2B5EF4-FFF2-40B4-BE49-F238E27FC236}">
                <a16:creationId xmlns:a16="http://schemas.microsoft.com/office/drawing/2014/main" id="{4D8A7C07-053C-42CE-9D28-436F7F5A613B}"/>
              </a:ext>
            </a:extLst>
          </p:cNvPr>
          <p:cNvGraphicFramePr/>
          <p:nvPr/>
        </p:nvGraphicFramePr>
        <p:xfrm>
          <a:off xmlns:a="http://schemas.openxmlformats.org/drawingml/2006/main" x="609600" y="3133725"/>
          <a:ext xmlns:a="http://schemas.openxmlformats.org/drawingml/2006/main" cx="10972800" cy="1628775"/>
        </p:xfrm>
        <a:graphic xmlns:a="http://schemas.openxmlformats.org/drawingml/2006/main">
          <a:graphicData uri="http://schemas.openxmlformats.org/drawingml/2006/table">
            <a:tbl>
              <a:tblPr/>
              <a:tblGrid>
                <a:gridCol w="3333750"/>
                <a:gridCol w="3819525"/>
                <a:gridCol w="3819525"/>
              </a:tblGrid>
              <a:tr h="542925">
                <a:tc>
                  <a:txBody>
                    <a:bodyPr/>
                    <a:lstStyle/>
                    <a:p>
                      <a:r>
                        <a:rPr sz="1950" b="1">
                          <a:solidFill>
                            <a:srgbClr val="007F7B"/>
                          </a:solidFill>
                          <a:latin typeface="Arial"/>
                          <a:ea typeface="Arial"/>
                          <a:cs typeface="Arial"/>
                        </a:rPr>
                        <a:t>Gray fill, 740 images</a:t>
                      </a:r>
                    </a:p>
                  </a:txBody>
                  <a:tcPr marL="91440" marR="91440" marT="45720" marB="45720" anchor="ctr">
                    <a:lnL w="4763">
                      <a:solidFill>
                        <a:srgbClr val="D8E1E4"/>
                      </a:solidFill>
                      <a:prstDash val="solid"/>
                    </a:lnL>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950" b="1">
                          <a:solidFill>
                            <a:srgbClr val="007F7B"/>
                          </a:solidFill>
                          <a:latin typeface="Arial"/>
                          <a:ea typeface="Arial"/>
                          <a:cs typeface="Arial"/>
                        </a:rPr>
                        <a:t>More animal visible</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950" b="1">
                          <a:solidFill>
                            <a:srgbClr val="007F7B"/>
                          </a:solidFill>
                          <a:latin typeface="Arial"/>
                          <a:ea typeface="Arial"/>
                          <a:cs typeface="Arial"/>
                        </a:rPr>
                        <a:t>Less animal visible</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r>
              <a:tr h="542925">
                <a:tc>
                  <a:txBody>
                    <a:bodyPr/>
                    <a:lstStyle/>
                    <a:p>
                      <a:r>
                        <a:rPr sz="1950" b="0">
                          <a:solidFill>
                            <a:srgbClr val="17313D"/>
                          </a:solidFill>
                          <a:latin typeface="Arial"/>
                          <a:ea typeface="Arial"/>
                          <a:cs typeface="Arial"/>
                        </a:rPr>
                        <a:t>AIMv2</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950" b="0">
                          <a:solidFill>
                            <a:srgbClr val="17313D"/>
                          </a:solidFill>
                          <a:latin typeface="Arial"/>
                          <a:ea typeface="Arial"/>
                          <a:cs typeface="Arial"/>
                        </a:rPr>
                        <a:t>92.8%</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950" b="0">
                          <a:solidFill>
                            <a:srgbClr val="17313D"/>
                          </a:solidFill>
                          <a:latin typeface="Arial"/>
                          <a:ea typeface="Arial"/>
                          <a:cs typeface="Arial"/>
                        </a:rPr>
                        <a:t>67.2%</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42925">
                <a:tc>
                  <a:txBody>
                    <a:bodyPr/>
                    <a:lstStyle/>
                    <a:p>
                      <a:r>
                        <a:rPr sz="1950" b="0">
                          <a:solidFill>
                            <a:srgbClr val="17313D"/>
                          </a:solidFill>
                          <a:latin typeface="Arial"/>
                          <a:ea typeface="Arial"/>
                          <a:cs typeface="Arial"/>
                        </a:rPr>
                        <a:t>DINOv2</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950" b="0">
                          <a:solidFill>
                            <a:srgbClr val="17313D"/>
                          </a:solidFill>
                          <a:latin typeface="Arial"/>
                          <a:ea typeface="Arial"/>
                          <a:cs typeface="Arial"/>
                        </a:rPr>
                        <a:t>82.6%</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950" b="0">
                          <a:solidFill>
                            <a:srgbClr val="17313D"/>
                          </a:solidFill>
                          <a:latin typeface="Arial"/>
                          <a:ea typeface="Arial"/>
                          <a:cs typeface="Arial"/>
                        </a:rPr>
                        <a:t>67.2%</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F2A25C9-3721-4295-8A1B-DA67E0C90C0F}"/>
              </a:ext>
            </a:extLst>
          </p:cNvPr>
          <p:cNvSpPr>
            <a:spLocks xmlns:a="http://schemas.openxmlformats.org/drawingml/2006/main" noGrp="1"/>
          </p:cNvSpPr>
          <p:nvPr/>
        </p:nvSpPr>
        <p:spPr>
          <a:xfrm xmlns:a="http://schemas.openxmlformats.org/drawingml/2006/main">
            <a:off x="609600" y="51244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Arial"/>
                <a:ea typeface="Arial"/>
                <a:cs typeface="Arial"/>
              </a:defRPr>
            </a:defPPr>
            <a:lvl1pPr>
              <a:defRPr sz="2100" b="1">
                <a:solidFill>
                  <a:srgbClr val="007F7B"/>
                </a:solidFill>
                <a:latin typeface="Arial"/>
                <a:ea typeface="Arial"/>
                <a:cs typeface="Arial"/>
              </a:defRPr>
            </a:lvl1pPr>
            <a:lvl2pPr>
              <a:defRPr sz="2100" b="1">
                <a:solidFill>
                  <a:srgbClr val="007F7B"/>
                </a:solidFill>
                <a:latin typeface="Arial"/>
                <a:ea typeface="Arial"/>
                <a:cs typeface="Arial"/>
              </a:defRPr>
            </a:lvl2pPr>
            <a:lvl3pPr>
              <a:defRPr sz="2100" b="1">
                <a:solidFill>
                  <a:srgbClr val="007F7B"/>
                </a:solidFill>
                <a:latin typeface="Arial"/>
                <a:ea typeface="Arial"/>
                <a:cs typeface="Arial"/>
              </a:defRPr>
            </a:lvl3pPr>
            <a:lvl4pPr>
              <a:defRPr sz="2100" b="1">
                <a:solidFill>
                  <a:srgbClr val="007F7B"/>
                </a:solidFill>
                <a:latin typeface="Arial"/>
                <a:ea typeface="Arial"/>
                <a:cs typeface="Arial"/>
              </a:defRPr>
            </a:lvl4pPr>
            <a:lvl5pPr>
              <a:defRPr sz="2100" b="1">
                <a:solidFill>
                  <a:srgbClr val="007F7B"/>
                </a:solidFill>
                <a:latin typeface="Arial"/>
                <a:ea typeface="Arial"/>
                <a:cs typeface="Arial"/>
              </a:defRPr>
            </a:lvl5pPr>
            <a:lvl6pPr>
              <a:defRPr sz="2100" b="1">
                <a:solidFill>
                  <a:srgbClr val="007F7B"/>
                </a:solidFill>
                <a:latin typeface="Arial"/>
                <a:ea typeface="Arial"/>
                <a:cs typeface="Arial"/>
              </a:defRPr>
            </a:lvl6pPr>
            <a:lvl7pPr>
              <a:defRPr sz="2100" b="1">
                <a:solidFill>
                  <a:srgbClr val="007F7B"/>
                </a:solidFill>
                <a:latin typeface="Arial"/>
                <a:ea typeface="Arial"/>
                <a:cs typeface="Arial"/>
              </a:defRPr>
            </a:lvl7pPr>
            <a:lvl8pPr>
              <a:defRPr sz="2100" b="1">
                <a:solidFill>
                  <a:srgbClr val="007F7B"/>
                </a:solidFill>
                <a:latin typeface="Arial"/>
                <a:ea typeface="Arial"/>
                <a:cs typeface="Arial"/>
              </a:defRPr>
            </a:lvl8pPr>
            <a:lvl9pPr>
              <a:defRPr sz="2100" b="1">
                <a:solidFill>
                  <a:srgbClr val="007F7B"/>
                </a:solidFill>
                <a:latin typeface="Arial"/>
                <a:ea typeface="Arial"/>
                <a:cs typeface="Arial"/>
              </a:defRPr>
            </a:lvl9pPr>
          </a:lstStyle>
          <a:p xmlns:a="http://schemas.openxmlformats.org/drawingml/2006/main">
            <a:pPr>
              <a:defRPr sz="2100" b="1">
                <a:solidFill>
                  <a:srgbClr val="007F7B"/>
                </a:solidFill>
                <a:latin typeface="Arial"/>
                <a:ea typeface="Arial"/>
                <a:cs typeface="Arial"/>
              </a:defRPr>
            </a:pPr>
            <a:r>
              <a:rPr sz="2100" b="1">
                <a:solidFill>
                  <a:srgbClr val="007F7B"/>
                </a:solidFill>
                <a:latin typeface="Arial"/>
                <a:ea typeface="Arial"/>
                <a:cs typeface="Arial"/>
              </a:rPr>
              <a:t>Match animal visibility within 3 percentage points:</a:t>
            </a:r>
          </a:p>
        </p:txBody>
      </p:sp>
      <p:sp>
        <p:nvSpPr>
          <p:cNvPr id="7" name="">
            <a:extLst xmlns:a="http://schemas.openxmlformats.org/drawingml/2006/main">
              <a:ext uri="{FF2B5EF4-FFF2-40B4-BE49-F238E27FC236}">
                <a16:creationId xmlns:a16="http://schemas.microsoft.com/office/drawing/2014/main" id="{E21F60B3-DA90-49A0-B45D-53947A8891DB}"/>
              </a:ext>
            </a:extLst>
          </p:cNvPr>
          <p:cNvSpPr>
            <a:spLocks xmlns:a="http://schemas.openxmlformats.org/drawingml/2006/main" noGrp="1"/>
          </p:cNvSpPr>
          <p:nvPr/>
        </p:nvSpPr>
        <p:spPr>
          <a:xfrm xmlns:a="http://schemas.openxmlformats.org/drawingml/2006/main">
            <a:off x="609600" y="56769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313D"/>
                </a:solidFill>
                <a:latin typeface="Arial"/>
                <a:ea typeface="Arial"/>
                <a:cs typeface="Arial"/>
              </a:defRPr>
            </a:defPPr>
            <a:lvl1pPr>
              <a:defRPr sz="1950" b="0">
                <a:solidFill>
                  <a:srgbClr val="17313D"/>
                </a:solidFill>
                <a:latin typeface="Arial"/>
                <a:ea typeface="Arial"/>
                <a:cs typeface="Arial"/>
              </a:defRPr>
            </a:lvl1pPr>
            <a:lvl2pPr>
              <a:defRPr sz="1950" b="0">
                <a:solidFill>
                  <a:srgbClr val="17313D"/>
                </a:solidFill>
                <a:latin typeface="Arial"/>
                <a:ea typeface="Arial"/>
                <a:cs typeface="Arial"/>
              </a:defRPr>
            </a:lvl2pPr>
            <a:lvl3pPr>
              <a:defRPr sz="1950" b="0">
                <a:solidFill>
                  <a:srgbClr val="17313D"/>
                </a:solidFill>
                <a:latin typeface="Arial"/>
                <a:ea typeface="Arial"/>
                <a:cs typeface="Arial"/>
              </a:defRPr>
            </a:lvl3pPr>
            <a:lvl4pPr>
              <a:defRPr sz="1950" b="0">
                <a:solidFill>
                  <a:srgbClr val="17313D"/>
                </a:solidFill>
                <a:latin typeface="Arial"/>
                <a:ea typeface="Arial"/>
                <a:cs typeface="Arial"/>
              </a:defRPr>
            </a:lvl4pPr>
            <a:lvl5pPr>
              <a:defRPr sz="1950" b="0">
                <a:solidFill>
                  <a:srgbClr val="17313D"/>
                </a:solidFill>
                <a:latin typeface="Arial"/>
                <a:ea typeface="Arial"/>
                <a:cs typeface="Arial"/>
              </a:defRPr>
            </a:lvl5pPr>
            <a:lvl6pPr>
              <a:defRPr sz="1950" b="0">
                <a:solidFill>
                  <a:srgbClr val="17313D"/>
                </a:solidFill>
                <a:latin typeface="Arial"/>
                <a:ea typeface="Arial"/>
                <a:cs typeface="Arial"/>
              </a:defRPr>
            </a:lvl6pPr>
            <a:lvl7pPr>
              <a:defRPr sz="1950" b="0">
                <a:solidFill>
                  <a:srgbClr val="17313D"/>
                </a:solidFill>
                <a:latin typeface="Arial"/>
                <a:ea typeface="Arial"/>
                <a:cs typeface="Arial"/>
              </a:defRPr>
            </a:lvl7pPr>
            <a:lvl8pPr>
              <a:defRPr sz="1950" b="0">
                <a:solidFill>
                  <a:srgbClr val="17313D"/>
                </a:solidFill>
                <a:latin typeface="Arial"/>
                <a:ea typeface="Arial"/>
                <a:cs typeface="Arial"/>
              </a:defRPr>
            </a:lvl8pPr>
            <a:lvl9pPr>
              <a:defRPr sz="1950" b="0">
                <a:solidFill>
                  <a:srgbClr val="17313D"/>
                </a:solidFill>
                <a:latin typeface="Arial"/>
                <a:ea typeface="Arial"/>
                <a:cs typeface="Arial"/>
              </a:defRPr>
            </a:lvl9pPr>
          </a:lstStyle>
          <a:p xmlns:a="http://schemas.openxmlformats.org/drawingml/2006/main">
            <a:pPr>
              <a:defRPr sz="1950" b="0">
                <a:solidFill>
                  <a:srgbClr val="17313D"/>
                </a:solidFill>
                <a:latin typeface="Arial"/>
                <a:ea typeface="Arial"/>
                <a:cs typeface="Arial"/>
              </a:defRPr>
            </a:pPr>
            <a:r>
              <a:rPr sz="1950" b="0">
                <a:solidFill>
                  <a:srgbClr val="17313D"/>
                </a:solidFill>
                <a:latin typeface="Arial"/>
                <a:ea typeface="Arial"/>
                <a:cs typeface="Arial"/>
              </a:rPr>
              <a:t>Correct / wrong switches: AIMv2 10.7%, DINOv2 8.5%.</a:t>
            </a:r>
          </a:p>
          <a:p xmlns:a="http://schemas.openxmlformats.org/drawingml/2006/main">
            <a:pPr>
              <a:defRPr sz="1950" b="0">
                <a:solidFill>
                  <a:srgbClr val="17313D"/>
                </a:solidFill>
                <a:latin typeface="Arial"/>
                <a:ea typeface="Arial"/>
                <a:cs typeface="Arial"/>
              </a:defRPr>
            </a:pPr>
            <a:r>
              <a:rPr sz="1950" b="0">
                <a:solidFill>
                  <a:srgbClr val="17313D"/>
                </a:solidFill>
                <a:latin typeface="Arial"/>
                <a:ea typeface="Arial"/>
                <a:cs typeface="Arial"/>
              </a:rPr>
              <a:t>Fewer switches alone do not mean better performance.</a:t>
            </a:r>
          </a:p>
        </p:txBody>
      </p:sp>
    </p:spTree>
    <p:extLst>
      <p:ext uri="{BB962C8B-B14F-4D97-AF65-F5344CB8AC3E}">
        <p14:creationId xmlns:p14="http://schemas.microsoft.com/office/powerpoint/2010/main" val="69312455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414ED61-EA8F-4639-A33E-37B1383A82B1}"/>
              </a:ext>
            </a:extLst>
          </p:cNvPr>
          <p:cNvSpPr>
            <a:spLocks xmlns:a="http://schemas.openxmlformats.org/drawingml/2006/main" noGrp="1"/>
          </p:cNvSpPr>
          <p:nvPr/>
        </p:nvSpPr>
        <p:spPr>
          <a:xfrm xmlns:a="http://schemas.openxmlformats.org/drawingml/2006/main">
            <a:off x="609600" y="40957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Similar area, different animal parts</a:t>
            </a:r>
          </a:p>
        </p:txBody>
      </p:sp>
      <p:sp>
        <p:nvSpPr>
          <p:cNvPr id="2" name="">
            <a:extLst xmlns:a="http://schemas.openxmlformats.org/drawingml/2006/main">
              <a:ext uri="{FF2B5EF4-FFF2-40B4-BE49-F238E27FC236}">
                <a16:creationId xmlns:a16="http://schemas.microsoft.com/office/drawing/2014/main" id="{8C7A747A-9BB7-451E-8986-6352AA0C80CE}"/>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A63B52AD-B080-47D4-8B15-8D4F3F966402}"/>
              </a:ext>
            </a:extLst>
          </p:cNvPr>
          <p:cNvSpPr>
            <a:spLocks xmlns:a="http://schemas.openxmlformats.org/drawingml/2006/main" noGrp="1"/>
          </p:cNvSpPr>
          <p:nvPr/>
        </p:nvSpPr>
        <p:spPr>
          <a:xfrm xmlns:a="http://schemas.openxmlformats.org/drawingml/2006/main">
            <a:off x="609600" y="14954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16A"/>
                </a:solidFill>
                <a:latin typeface="Arial"/>
                <a:ea typeface="Arial"/>
                <a:cs typeface="Arial"/>
              </a:defRPr>
            </a:defPPr>
            <a:lvl1pPr>
              <a:defRPr sz="1875" b="0">
                <a:solidFill>
                  <a:srgbClr val="52616A"/>
                </a:solidFill>
                <a:latin typeface="Arial"/>
                <a:ea typeface="Arial"/>
                <a:cs typeface="Arial"/>
              </a:defRPr>
            </a:lvl1pPr>
            <a:lvl2pPr>
              <a:defRPr sz="1875" b="0">
                <a:solidFill>
                  <a:srgbClr val="52616A"/>
                </a:solidFill>
                <a:latin typeface="Arial"/>
                <a:ea typeface="Arial"/>
                <a:cs typeface="Arial"/>
              </a:defRPr>
            </a:lvl2pPr>
            <a:lvl3pPr>
              <a:defRPr sz="1875" b="0">
                <a:solidFill>
                  <a:srgbClr val="52616A"/>
                </a:solidFill>
                <a:latin typeface="Arial"/>
                <a:ea typeface="Arial"/>
                <a:cs typeface="Arial"/>
              </a:defRPr>
            </a:lvl3pPr>
            <a:lvl4pPr>
              <a:defRPr sz="1875" b="0">
                <a:solidFill>
                  <a:srgbClr val="52616A"/>
                </a:solidFill>
                <a:latin typeface="Arial"/>
                <a:ea typeface="Arial"/>
                <a:cs typeface="Arial"/>
              </a:defRPr>
            </a:lvl4pPr>
            <a:lvl5pPr>
              <a:defRPr sz="1875" b="0">
                <a:solidFill>
                  <a:srgbClr val="52616A"/>
                </a:solidFill>
                <a:latin typeface="Arial"/>
                <a:ea typeface="Arial"/>
                <a:cs typeface="Arial"/>
              </a:defRPr>
            </a:lvl5pPr>
            <a:lvl6pPr>
              <a:defRPr sz="1875" b="0">
                <a:solidFill>
                  <a:srgbClr val="52616A"/>
                </a:solidFill>
                <a:latin typeface="Arial"/>
                <a:ea typeface="Arial"/>
                <a:cs typeface="Arial"/>
              </a:defRPr>
            </a:lvl6pPr>
            <a:lvl7pPr>
              <a:defRPr sz="1875" b="0">
                <a:solidFill>
                  <a:srgbClr val="52616A"/>
                </a:solidFill>
                <a:latin typeface="Arial"/>
                <a:ea typeface="Arial"/>
                <a:cs typeface="Arial"/>
              </a:defRPr>
            </a:lvl7pPr>
            <a:lvl8pPr>
              <a:defRPr sz="1875" b="0">
                <a:solidFill>
                  <a:srgbClr val="52616A"/>
                </a:solidFill>
                <a:latin typeface="Arial"/>
                <a:ea typeface="Arial"/>
                <a:cs typeface="Arial"/>
              </a:defRPr>
            </a:lvl8pPr>
            <a:lvl9pPr>
              <a:defRPr sz="1875" b="0">
                <a:solidFill>
                  <a:srgbClr val="52616A"/>
                </a:solidFill>
                <a:latin typeface="Arial"/>
                <a:ea typeface="Arial"/>
                <a:cs typeface="Arial"/>
              </a:defRPr>
            </a:lvl9pPr>
          </a:lstStyle>
          <a:p xmlns:a="http://schemas.openxmlformats.org/drawingml/2006/main">
            <a:pPr>
              <a:defRPr sz="1875" b="0">
                <a:solidFill>
                  <a:srgbClr val="52616A"/>
                </a:solidFill>
                <a:latin typeface="Arial"/>
                <a:ea typeface="Arial"/>
                <a:cs typeface="Arial"/>
              </a:defRPr>
            </a:pPr>
            <a:r>
              <a:rPr sz="1875" b="0">
                <a:solidFill>
                  <a:srgbClr val="52616A"/>
                </a:solidFill>
                <a:latin typeface="Arial"/>
                <a:ea typeface="Arial"/>
                <a:cs typeface="Arial"/>
              </a:rPr>
              <a:t>Separate check: 159 of 185 images meet the pairing rules</a:t>
            </a:r>
          </a:p>
        </p:txBody>
      </p:sp>
      <p:sp>
        <p:nvSpPr>
          <p:cNvPr id="4" name="">
            <a:extLst xmlns:a="http://schemas.openxmlformats.org/drawingml/2006/main">
              <a:ext uri="{FF2B5EF4-FFF2-40B4-BE49-F238E27FC236}">
                <a16:creationId xmlns:a16="http://schemas.microsoft.com/office/drawing/2014/main" id="{DB7A6222-EA0F-4FE3-83B3-9BC9629905E1}"/>
              </a:ext>
            </a:extLst>
          </p:cNvPr>
          <p:cNvSpPr>
            <a:spLocks xmlns:a="http://schemas.openxmlformats.org/drawingml/2006/main" noGrp="1"/>
          </p:cNvSpPr>
          <p:nvPr/>
        </p:nvSpPr>
        <p:spPr>
          <a:xfrm xmlns:a="http://schemas.openxmlformats.org/drawingml/2006/main">
            <a:off x="609600" y="2085975"/>
            <a:ext cx="2305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313D"/>
                </a:solidFill>
                <a:latin typeface="Arial"/>
                <a:ea typeface="Arial"/>
                <a:cs typeface="Arial"/>
              </a:defRPr>
            </a:defPPr>
            <a:lvl1pPr>
              <a:defRPr sz="1725" b="1">
                <a:solidFill>
                  <a:srgbClr val="17313D"/>
                </a:solidFill>
                <a:latin typeface="Arial"/>
                <a:ea typeface="Arial"/>
                <a:cs typeface="Arial"/>
              </a:defRPr>
            </a:lvl1pPr>
            <a:lvl2pPr>
              <a:defRPr sz="1725" b="1">
                <a:solidFill>
                  <a:srgbClr val="17313D"/>
                </a:solidFill>
                <a:latin typeface="Arial"/>
                <a:ea typeface="Arial"/>
                <a:cs typeface="Arial"/>
              </a:defRPr>
            </a:lvl2pPr>
            <a:lvl3pPr>
              <a:defRPr sz="1725" b="1">
                <a:solidFill>
                  <a:srgbClr val="17313D"/>
                </a:solidFill>
                <a:latin typeface="Arial"/>
                <a:ea typeface="Arial"/>
                <a:cs typeface="Arial"/>
              </a:defRPr>
            </a:lvl3pPr>
            <a:lvl4pPr>
              <a:defRPr sz="1725" b="1">
                <a:solidFill>
                  <a:srgbClr val="17313D"/>
                </a:solidFill>
                <a:latin typeface="Arial"/>
                <a:ea typeface="Arial"/>
                <a:cs typeface="Arial"/>
              </a:defRPr>
            </a:lvl4pPr>
            <a:lvl5pPr>
              <a:defRPr sz="1725" b="1">
                <a:solidFill>
                  <a:srgbClr val="17313D"/>
                </a:solidFill>
                <a:latin typeface="Arial"/>
                <a:ea typeface="Arial"/>
                <a:cs typeface="Arial"/>
              </a:defRPr>
            </a:lvl5pPr>
            <a:lvl6pPr>
              <a:defRPr sz="1725" b="1">
                <a:solidFill>
                  <a:srgbClr val="17313D"/>
                </a:solidFill>
                <a:latin typeface="Arial"/>
                <a:ea typeface="Arial"/>
                <a:cs typeface="Arial"/>
              </a:defRPr>
            </a:lvl6pPr>
            <a:lvl7pPr>
              <a:defRPr sz="1725" b="1">
                <a:solidFill>
                  <a:srgbClr val="17313D"/>
                </a:solidFill>
                <a:latin typeface="Arial"/>
                <a:ea typeface="Arial"/>
                <a:cs typeface="Arial"/>
              </a:defRPr>
            </a:lvl7pPr>
            <a:lvl8pPr>
              <a:defRPr sz="1725" b="1">
                <a:solidFill>
                  <a:srgbClr val="17313D"/>
                </a:solidFill>
                <a:latin typeface="Arial"/>
                <a:ea typeface="Arial"/>
                <a:cs typeface="Arial"/>
              </a:defRPr>
            </a:lvl8pPr>
            <a:lvl9pPr>
              <a:defRPr sz="1725" b="1">
                <a:solidFill>
                  <a:srgbClr val="17313D"/>
                </a:solidFill>
                <a:latin typeface="Arial"/>
                <a:ea typeface="Arial"/>
                <a:cs typeface="Arial"/>
              </a:defRPr>
            </a:lvl9pPr>
          </a:lstStyle>
          <a:p xmlns:a="http://schemas.openxmlformats.org/drawingml/2006/main">
            <a:pPr>
              <a:defRPr sz="1725" b="1">
                <a:solidFill>
                  <a:srgbClr val="17313D"/>
                </a:solidFill>
                <a:latin typeface="Arial"/>
                <a:ea typeface="Arial"/>
                <a:cs typeface="Arial"/>
              </a:defRPr>
            </a:pPr>
            <a:r>
              <a:rPr sz="1725" b="1">
                <a:solidFill>
                  <a:srgbClr val="17313D"/>
                </a:solidFill>
                <a:latin typeface="Arial"/>
                <a:ea typeface="Arial"/>
                <a:cs typeface="Arial"/>
              </a:rPr>
              <a:t>Higher head visibility</a:t>
            </a:r>
          </a:p>
        </p:txBody>
      </p:sp>
      <p:pic>
        <p:nvPicPr>
          <p:cNvPr id="5" name="">
            <a:extLst xmlns:a="http://schemas.openxmlformats.org/drawingml/2006/main">
              <a:ext uri="{FF2B5EF4-FFF2-40B4-BE49-F238E27FC236}">
                <a16:creationId xmlns:a16="http://schemas.microsoft.com/office/drawing/2014/main" id="{7072F124-467A-4548-9F0C-AAC7A3567A55}"/>
              </a:ext>
            </a:extLst>
          </p:cNvPr>
          <p:cNvPicPr>
            <a:picLocks xmlns:a="http://schemas.openxmlformats.org/drawingml/2006/main" noChangeAspect="1"/>
          </p:cNvPicPr>
          <p:nvPr/>
        </p:nvPicPr>
        <p:blipFill>
          <a:blip xmlns:r="http://schemas.openxmlformats.org/officeDocument/2006/relationships" xmlns:a="http://schemas.openxmlformats.org/drawingml/2006/main" r:embed="R75c613231f404462"/>
          <a:srcRect xmlns:a="http://schemas.openxmlformats.org/drawingml/2006/main" l="20500" t="60400" r="60400" b="1100"/>
          <a:stretch xmlns:a="http://schemas.openxmlformats.org/drawingml/2006/main"/>
        </p:blipFill>
        <p:spPr>
          <a:xfrm xmlns:a="http://schemas.openxmlformats.org/drawingml/2006/main">
            <a:off x="609600" y="2590800"/>
            <a:ext cx="2133600" cy="21336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9F021AC-16AA-4C56-93DC-A3E79E7C9831}"/>
              </a:ext>
            </a:extLst>
          </p:cNvPr>
          <p:cNvSpPr>
            <a:spLocks xmlns:a="http://schemas.openxmlformats.org/drawingml/2006/main" noGrp="1"/>
          </p:cNvSpPr>
          <p:nvPr/>
        </p:nvSpPr>
        <p:spPr>
          <a:xfrm xmlns:a="http://schemas.openxmlformats.org/drawingml/2006/main">
            <a:off x="3019425" y="2085975"/>
            <a:ext cx="2305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313D"/>
                </a:solidFill>
                <a:latin typeface="Arial"/>
                <a:ea typeface="Arial"/>
                <a:cs typeface="Arial"/>
              </a:defRPr>
            </a:defPPr>
            <a:lvl1pPr>
              <a:defRPr sz="1725" b="1">
                <a:solidFill>
                  <a:srgbClr val="17313D"/>
                </a:solidFill>
                <a:latin typeface="Arial"/>
                <a:ea typeface="Arial"/>
                <a:cs typeface="Arial"/>
              </a:defRPr>
            </a:lvl1pPr>
            <a:lvl2pPr>
              <a:defRPr sz="1725" b="1">
                <a:solidFill>
                  <a:srgbClr val="17313D"/>
                </a:solidFill>
                <a:latin typeface="Arial"/>
                <a:ea typeface="Arial"/>
                <a:cs typeface="Arial"/>
              </a:defRPr>
            </a:lvl2pPr>
            <a:lvl3pPr>
              <a:defRPr sz="1725" b="1">
                <a:solidFill>
                  <a:srgbClr val="17313D"/>
                </a:solidFill>
                <a:latin typeface="Arial"/>
                <a:ea typeface="Arial"/>
                <a:cs typeface="Arial"/>
              </a:defRPr>
            </a:lvl3pPr>
            <a:lvl4pPr>
              <a:defRPr sz="1725" b="1">
                <a:solidFill>
                  <a:srgbClr val="17313D"/>
                </a:solidFill>
                <a:latin typeface="Arial"/>
                <a:ea typeface="Arial"/>
                <a:cs typeface="Arial"/>
              </a:defRPr>
            </a:lvl4pPr>
            <a:lvl5pPr>
              <a:defRPr sz="1725" b="1">
                <a:solidFill>
                  <a:srgbClr val="17313D"/>
                </a:solidFill>
                <a:latin typeface="Arial"/>
                <a:ea typeface="Arial"/>
                <a:cs typeface="Arial"/>
              </a:defRPr>
            </a:lvl5pPr>
            <a:lvl6pPr>
              <a:defRPr sz="1725" b="1">
                <a:solidFill>
                  <a:srgbClr val="17313D"/>
                </a:solidFill>
                <a:latin typeface="Arial"/>
                <a:ea typeface="Arial"/>
                <a:cs typeface="Arial"/>
              </a:defRPr>
            </a:lvl6pPr>
            <a:lvl7pPr>
              <a:defRPr sz="1725" b="1">
                <a:solidFill>
                  <a:srgbClr val="17313D"/>
                </a:solidFill>
                <a:latin typeface="Arial"/>
                <a:ea typeface="Arial"/>
                <a:cs typeface="Arial"/>
              </a:defRPr>
            </a:lvl7pPr>
            <a:lvl8pPr>
              <a:defRPr sz="1725" b="1">
                <a:solidFill>
                  <a:srgbClr val="17313D"/>
                </a:solidFill>
                <a:latin typeface="Arial"/>
                <a:ea typeface="Arial"/>
                <a:cs typeface="Arial"/>
              </a:defRPr>
            </a:lvl8pPr>
            <a:lvl9pPr>
              <a:defRPr sz="1725" b="1">
                <a:solidFill>
                  <a:srgbClr val="17313D"/>
                </a:solidFill>
                <a:latin typeface="Arial"/>
                <a:ea typeface="Arial"/>
                <a:cs typeface="Arial"/>
              </a:defRPr>
            </a:lvl9pPr>
          </a:lstStyle>
          <a:p xmlns:a="http://schemas.openxmlformats.org/drawingml/2006/main">
            <a:pPr>
              <a:defRPr sz="1725" b="1">
                <a:solidFill>
                  <a:srgbClr val="17313D"/>
                </a:solidFill>
                <a:latin typeface="Arial"/>
                <a:ea typeface="Arial"/>
                <a:cs typeface="Arial"/>
              </a:defRPr>
            </a:pPr>
            <a:r>
              <a:rPr sz="1725" b="1">
                <a:solidFill>
                  <a:srgbClr val="17313D"/>
                </a:solidFill>
                <a:latin typeface="Arial"/>
                <a:ea typeface="Arial"/>
                <a:cs typeface="Arial"/>
              </a:rPr>
              <a:t>Lower head visibility</a:t>
            </a:r>
          </a:p>
        </p:txBody>
      </p:sp>
      <p:pic>
        <p:nvPicPr>
          <p:cNvPr id="7" name="">
            <a:extLst xmlns:a="http://schemas.openxmlformats.org/drawingml/2006/main">
              <a:ext uri="{FF2B5EF4-FFF2-40B4-BE49-F238E27FC236}">
                <a16:creationId xmlns:a16="http://schemas.microsoft.com/office/drawing/2014/main" id="{585F304E-9FFC-45EB-B403-EF64C7041618}"/>
              </a:ext>
            </a:extLst>
          </p:cNvPr>
          <p:cNvPicPr>
            <a:picLocks xmlns:a="http://schemas.openxmlformats.org/drawingml/2006/main" noChangeAspect="1"/>
          </p:cNvPicPr>
          <p:nvPr/>
        </p:nvPicPr>
        <p:blipFill>
          <a:blip xmlns:r="http://schemas.openxmlformats.org/officeDocument/2006/relationships" xmlns:a="http://schemas.openxmlformats.org/drawingml/2006/main" r:embed="Rdf40b28db1554d53"/>
          <a:srcRect xmlns:a="http://schemas.openxmlformats.org/drawingml/2006/main" l="40500" t="60400" r="40400" b="1100"/>
          <a:stretch xmlns:a="http://schemas.openxmlformats.org/drawingml/2006/main"/>
        </p:blipFill>
        <p:spPr>
          <a:xfrm xmlns:a="http://schemas.openxmlformats.org/drawingml/2006/main">
            <a:off x="3019425" y="2590800"/>
            <a:ext cx="2133600" cy="2133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413C22E-6265-4B20-A3AA-878956AE371B}"/>
              </a:ext>
            </a:extLst>
          </p:cNvPr>
          <p:cNvSpPr>
            <a:spLocks xmlns:a="http://schemas.openxmlformats.org/drawingml/2006/main" noGrp="1"/>
          </p:cNvSpPr>
          <p:nvPr/>
        </p:nvSpPr>
        <p:spPr>
          <a:xfrm xmlns:a="http://schemas.openxmlformats.org/drawingml/2006/main">
            <a:off x="609600" y="4924425"/>
            <a:ext cx="4714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16A"/>
                </a:solidFill>
                <a:latin typeface="Arial"/>
                <a:ea typeface="Arial"/>
                <a:cs typeface="Arial"/>
              </a:defRPr>
            </a:defPPr>
            <a:lvl1pPr>
              <a:defRPr sz="1800" b="0">
                <a:solidFill>
                  <a:srgbClr val="52616A"/>
                </a:solidFill>
                <a:latin typeface="Arial"/>
                <a:ea typeface="Arial"/>
                <a:cs typeface="Arial"/>
              </a:defRPr>
            </a:lvl1pPr>
            <a:lvl2pPr>
              <a:defRPr sz="1800" b="0">
                <a:solidFill>
                  <a:srgbClr val="52616A"/>
                </a:solidFill>
                <a:latin typeface="Arial"/>
                <a:ea typeface="Arial"/>
                <a:cs typeface="Arial"/>
              </a:defRPr>
            </a:lvl2pPr>
            <a:lvl3pPr>
              <a:defRPr sz="1800" b="0">
                <a:solidFill>
                  <a:srgbClr val="52616A"/>
                </a:solidFill>
                <a:latin typeface="Arial"/>
                <a:ea typeface="Arial"/>
                <a:cs typeface="Arial"/>
              </a:defRPr>
            </a:lvl3pPr>
            <a:lvl4pPr>
              <a:defRPr sz="1800" b="0">
                <a:solidFill>
                  <a:srgbClr val="52616A"/>
                </a:solidFill>
                <a:latin typeface="Arial"/>
                <a:ea typeface="Arial"/>
                <a:cs typeface="Arial"/>
              </a:defRPr>
            </a:lvl4pPr>
            <a:lvl5pPr>
              <a:defRPr sz="1800" b="0">
                <a:solidFill>
                  <a:srgbClr val="52616A"/>
                </a:solidFill>
                <a:latin typeface="Arial"/>
                <a:ea typeface="Arial"/>
                <a:cs typeface="Arial"/>
              </a:defRPr>
            </a:lvl5pPr>
            <a:lvl6pPr>
              <a:defRPr sz="1800" b="0">
                <a:solidFill>
                  <a:srgbClr val="52616A"/>
                </a:solidFill>
                <a:latin typeface="Arial"/>
                <a:ea typeface="Arial"/>
                <a:cs typeface="Arial"/>
              </a:defRPr>
            </a:lvl6pPr>
            <a:lvl7pPr>
              <a:defRPr sz="1800" b="0">
                <a:solidFill>
                  <a:srgbClr val="52616A"/>
                </a:solidFill>
                <a:latin typeface="Arial"/>
                <a:ea typeface="Arial"/>
                <a:cs typeface="Arial"/>
              </a:defRPr>
            </a:lvl7pPr>
            <a:lvl8pPr>
              <a:defRPr sz="1800" b="0">
                <a:solidFill>
                  <a:srgbClr val="52616A"/>
                </a:solidFill>
                <a:latin typeface="Arial"/>
                <a:ea typeface="Arial"/>
                <a:cs typeface="Arial"/>
              </a:defRPr>
            </a:lvl8pPr>
            <a:lvl9pPr>
              <a:defRPr sz="1800" b="0">
                <a:solidFill>
                  <a:srgbClr val="52616A"/>
                </a:solidFill>
                <a:latin typeface="Arial"/>
                <a:ea typeface="Arial"/>
                <a:cs typeface="Arial"/>
              </a:defRPr>
            </a:lvl9pPr>
          </a:lstStyle>
          <a:p xmlns:a="http://schemas.openxmlformats.org/drawingml/2006/main">
            <a:pPr>
              <a:defRPr sz="1800" b="0">
                <a:solidFill>
                  <a:srgbClr val="52616A"/>
                </a:solidFill>
                <a:latin typeface="Arial"/>
                <a:ea typeface="Arial"/>
                <a:cs typeface="Arial"/>
              </a:defRPr>
            </a:pPr>
            <a:r>
              <a:rPr sz="1800" b="0">
                <a:solidFill>
                  <a:srgbClr val="52616A"/>
                </a:solidFill>
                <a:latin typeface="Arial"/>
                <a:ea typeface="Arial"/>
                <a:cs typeface="Arial"/>
              </a:rPr>
              <a:t>Example pair, same square area</a:t>
            </a:r>
          </a:p>
          <a:p xmlns:a="http://schemas.openxmlformats.org/drawingml/2006/main">
            <a:pPr>
              <a:defRPr sz="1800" b="0">
                <a:solidFill>
                  <a:srgbClr val="52616A"/>
                </a:solidFill>
                <a:latin typeface="Arial"/>
                <a:ea typeface="Arial"/>
                <a:cs typeface="Arial"/>
              </a:defRPr>
            </a:pPr>
            <a:r>
              <a:rPr sz="1800" b="0">
                <a:solidFill>
                  <a:srgbClr val="52616A"/>
                </a:solidFill>
                <a:latin typeface="Arial"/>
                <a:ea typeface="Arial"/>
                <a:cs typeface="Arial"/>
              </a:rPr>
              <a:t>75% image visible</a:t>
            </a:r>
          </a:p>
        </p:txBody>
      </p:sp>
      <p:graphicFrame>
        <p:nvGraphicFramePr>
          <p:cNvPr id="9" name="">
            <a:extLst xmlns:a="http://schemas.openxmlformats.org/drawingml/2006/main">
              <a:ext uri="{FF2B5EF4-FFF2-40B4-BE49-F238E27FC236}">
                <a16:creationId xmlns:a16="http://schemas.microsoft.com/office/drawing/2014/main" id="{89BE62C7-DAA2-4717-9022-71B7F1EEAE04}"/>
              </a:ext>
            </a:extLst>
          </p:cNvPr>
          <p:cNvGraphicFramePr/>
          <p:nvPr/>
        </p:nvGraphicFramePr>
        <p:xfrm>
          <a:off xmlns:a="http://schemas.openxmlformats.org/drawingml/2006/main" x="5600700" y="2190750"/>
          <a:ext xmlns:a="http://schemas.openxmlformats.org/drawingml/2006/main" cx="5981700" cy="1657350"/>
        </p:xfrm>
        <a:graphic xmlns:a="http://schemas.openxmlformats.org/drawingml/2006/main">
          <a:graphicData uri="http://schemas.openxmlformats.org/drawingml/2006/table">
            <a:tbl>
              <a:tblPr/>
              <a:tblGrid>
                <a:gridCol w="1381125"/>
                <a:gridCol w="1562100"/>
                <a:gridCol w="1562100"/>
                <a:gridCol w="1476375"/>
              </a:tblGrid>
              <a:tr h="552450">
                <a:tc>
                  <a:txBody>
                    <a:bodyPr/>
                    <a:lstStyle/>
                    <a:p>
                      <a:r>
                        <a:rPr sz="1725" b="1">
                          <a:solidFill>
                            <a:srgbClr val="007F7B"/>
                          </a:solidFill>
                          <a:latin typeface="Arial"/>
                          <a:ea typeface="Arial"/>
                          <a:cs typeface="Arial"/>
                        </a:rPr>
                        <a:t>Gray fill</a:t>
                      </a:r>
                    </a:p>
                  </a:txBody>
                  <a:tcPr marL="91440" marR="91440" marT="45720" marB="45720" anchor="ctr">
                    <a:lnL w="4763">
                      <a:solidFill>
                        <a:srgbClr val="D8E1E4"/>
                      </a:solidFill>
                      <a:prstDash val="solid"/>
                    </a:lnL>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725" b="1">
                          <a:solidFill>
                            <a:srgbClr val="007F7B"/>
                          </a:solidFill>
                          <a:latin typeface="Arial"/>
                          <a:ea typeface="Arial"/>
                          <a:cs typeface="Arial"/>
                        </a:rPr>
                        <a:t>Higher head</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725" b="1">
                          <a:solidFill>
                            <a:srgbClr val="007F7B"/>
                          </a:solidFill>
                          <a:latin typeface="Arial"/>
                          <a:ea typeface="Arial"/>
                          <a:cs typeface="Arial"/>
                        </a:rPr>
                        <a:t>Lower head</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725" b="1">
                          <a:solidFill>
                            <a:srgbClr val="007F7B"/>
                          </a:solidFill>
                          <a:latin typeface="Arial"/>
                          <a:ea typeface="Arial"/>
                          <a:cs typeface="Arial"/>
                        </a:rPr>
                        <a:t>Gap (pp)</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r>
              <a:tr h="552450">
                <a:tc>
                  <a:txBody>
                    <a:bodyPr/>
                    <a:lstStyle/>
                    <a:p>
                      <a:r>
                        <a:rPr sz="1725" b="0">
                          <a:solidFill>
                            <a:srgbClr val="17313D"/>
                          </a:solidFill>
                          <a:latin typeface="Arial"/>
                          <a:ea typeface="Arial"/>
                          <a:cs typeface="Arial"/>
                        </a:rPr>
                        <a:t>AIMv2</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92.4%</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73.2%</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19.2</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52450">
                <a:tc>
                  <a:txBody>
                    <a:bodyPr/>
                    <a:lstStyle/>
                    <a:p>
                      <a:r>
                        <a:rPr sz="1725" b="0">
                          <a:solidFill>
                            <a:srgbClr val="17313D"/>
                          </a:solidFill>
                          <a:latin typeface="Arial"/>
                          <a:ea typeface="Arial"/>
                          <a:cs typeface="Arial"/>
                        </a:rPr>
                        <a:t>DINOv2</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82.9%</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72.4%</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10.5</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BDE7822D-396D-4DB1-ACB0-9F7E93BF146E}"/>
              </a:ext>
            </a:extLst>
          </p:cNvPr>
          <p:cNvSpPr>
            <a:spLocks xmlns:a="http://schemas.openxmlformats.org/drawingml/2006/main" noGrp="1"/>
          </p:cNvSpPr>
          <p:nvPr/>
        </p:nvSpPr>
        <p:spPr>
          <a:xfrm xmlns:a="http://schemas.openxmlformats.org/drawingml/2006/main">
            <a:off x="5600700" y="4162425"/>
            <a:ext cx="5981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07F7B"/>
                </a:solidFill>
                <a:latin typeface="Arial"/>
                <a:ea typeface="Arial"/>
                <a:cs typeface="Arial"/>
              </a:defRPr>
            </a:defPPr>
            <a:lvl1pPr>
              <a:defRPr sz="1950" b="1">
                <a:solidFill>
                  <a:srgbClr val="007F7B"/>
                </a:solidFill>
                <a:latin typeface="Arial"/>
                <a:ea typeface="Arial"/>
                <a:cs typeface="Arial"/>
              </a:defRPr>
            </a:lvl1pPr>
            <a:lvl2pPr>
              <a:defRPr sz="1950" b="1">
                <a:solidFill>
                  <a:srgbClr val="007F7B"/>
                </a:solidFill>
                <a:latin typeface="Arial"/>
                <a:ea typeface="Arial"/>
                <a:cs typeface="Arial"/>
              </a:defRPr>
            </a:lvl2pPr>
            <a:lvl3pPr>
              <a:defRPr sz="1950" b="1">
                <a:solidFill>
                  <a:srgbClr val="007F7B"/>
                </a:solidFill>
                <a:latin typeface="Arial"/>
                <a:ea typeface="Arial"/>
                <a:cs typeface="Arial"/>
              </a:defRPr>
            </a:lvl3pPr>
            <a:lvl4pPr>
              <a:defRPr sz="1950" b="1">
                <a:solidFill>
                  <a:srgbClr val="007F7B"/>
                </a:solidFill>
                <a:latin typeface="Arial"/>
                <a:ea typeface="Arial"/>
                <a:cs typeface="Arial"/>
              </a:defRPr>
            </a:lvl4pPr>
            <a:lvl5pPr>
              <a:defRPr sz="1950" b="1">
                <a:solidFill>
                  <a:srgbClr val="007F7B"/>
                </a:solidFill>
                <a:latin typeface="Arial"/>
                <a:ea typeface="Arial"/>
                <a:cs typeface="Arial"/>
              </a:defRPr>
            </a:lvl5pPr>
            <a:lvl6pPr>
              <a:defRPr sz="1950" b="1">
                <a:solidFill>
                  <a:srgbClr val="007F7B"/>
                </a:solidFill>
                <a:latin typeface="Arial"/>
                <a:ea typeface="Arial"/>
                <a:cs typeface="Arial"/>
              </a:defRPr>
            </a:lvl6pPr>
            <a:lvl7pPr>
              <a:defRPr sz="1950" b="1">
                <a:solidFill>
                  <a:srgbClr val="007F7B"/>
                </a:solidFill>
                <a:latin typeface="Arial"/>
                <a:ea typeface="Arial"/>
                <a:cs typeface="Arial"/>
              </a:defRPr>
            </a:lvl7pPr>
            <a:lvl8pPr>
              <a:defRPr sz="1950" b="1">
                <a:solidFill>
                  <a:srgbClr val="007F7B"/>
                </a:solidFill>
                <a:latin typeface="Arial"/>
                <a:ea typeface="Arial"/>
                <a:cs typeface="Arial"/>
              </a:defRPr>
            </a:lvl8pPr>
            <a:lvl9pPr>
              <a:defRPr sz="1950" b="1">
                <a:solidFill>
                  <a:srgbClr val="007F7B"/>
                </a:solidFill>
                <a:latin typeface="Arial"/>
                <a:ea typeface="Arial"/>
                <a:cs typeface="Arial"/>
              </a:defRPr>
            </a:lvl9pPr>
          </a:lstStyle>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rPr>
              <a:t>Mean foreground visible: 55.9% / 55.4%</a:t>
            </a:r>
          </a:p>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rPr>
              <a:t>Mean head region visible: 83.0% / 12.7%</a:t>
            </a:r>
          </a:p>
        </p:txBody>
      </p:sp>
      <p:sp>
        <p:nvSpPr>
          <p:cNvPr id="11" name="">
            <a:extLst xmlns:a="http://schemas.openxmlformats.org/drawingml/2006/main">
              <a:ext uri="{FF2B5EF4-FFF2-40B4-BE49-F238E27FC236}">
                <a16:creationId xmlns:a16="http://schemas.microsoft.com/office/drawing/2014/main" id="{09F51FFD-7B92-45CC-A8EB-578EF645E800}"/>
              </a:ext>
            </a:extLst>
          </p:cNvPr>
          <p:cNvSpPr>
            <a:spLocks xmlns:a="http://schemas.openxmlformats.org/drawingml/2006/main" noGrp="1"/>
          </p:cNvSpPr>
          <p:nvPr/>
        </p:nvSpPr>
        <p:spPr>
          <a:xfrm xmlns:a="http://schemas.openxmlformats.org/drawingml/2006/main">
            <a:off x="609600" y="58102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313D"/>
                </a:solidFill>
                <a:latin typeface="Arial"/>
                <a:ea typeface="Arial"/>
                <a:cs typeface="Arial"/>
              </a:defRPr>
            </a:defPPr>
            <a:lvl1pPr>
              <a:defRPr sz="1875" b="0">
                <a:solidFill>
                  <a:srgbClr val="17313D"/>
                </a:solidFill>
                <a:latin typeface="Arial"/>
                <a:ea typeface="Arial"/>
                <a:cs typeface="Arial"/>
              </a:defRPr>
            </a:lvl1pPr>
            <a:lvl2pPr>
              <a:defRPr sz="1875" b="0">
                <a:solidFill>
                  <a:srgbClr val="17313D"/>
                </a:solidFill>
                <a:latin typeface="Arial"/>
                <a:ea typeface="Arial"/>
                <a:cs typeface="Arial"/>
              </a:defRPr>
            </a:lvl2pPr>
            <a:lvl3pPr>
              <a:defRPr sz="1875" b="0">
                <a:solidFill>
                  <a:srgbClr val="17313D"/>
                </a:solidFill>
                <a:latin typeface="Arial"/>
                <a:ea typeface="Arial"/>
                <a:cs typeface="Arial"/>
              </a:defRPr>
            </a:lvl3pPr>
            <a:lvl4pPr>
              <a:defRPr sz="1875" b="0">
                <a:solidFill>
                  <a:srgbClr val="17313D"/>
                </a:solidFill>
                <a:latin typeface="Arial"/>
                <a:ea typeface="Arial"/>
                <a:cs typeface="Arial"/>
              </a:defRPr>
            </a:lvl4pPr>
            <a:lvl5pPr>
              <a:defRPr sz="1875" b="0">
                <a:solidFill>
                  <a:srgbClr val="17313D"/>
                </a:solidFill>
                <a:latin typeface="Arial"/>
                <a:ea typeface="Arial"/>
                <a:cs typeface="Arial"/>
              </a:defRPr>
            </a:lvl5pPr>
            <a:lvl6pPr>
              <a:defRPr sz="1875" b="0">
                <a:solidFill>
                  <a:srgbClr val="17313D"/>
                </a:solidFill>
                <a:latin typeface="Arial"/>
                <a:ea typeface="Arial"/>
                <a:cs typeface="Arial"/>
              </a:defRPr>
            </a:lvl6pPr>
            <a:lvl7pPr>
              <a:defRPr sz="1875" b="0">
                <a:solidFill>
                  <a:srgbClr val="17313D"/>
                </a:solidFill>
                <a:latin typeface="Arial"/>
                <a:ea typeface="Arial"/>
                <a:cs typeface="Arial"/>
              </a:defRPr>
            </a:lvl7pPr>
            <a:lvl8pPr>
              <a:defRPr sz="1875" b="0">
                <a:solidFill>
                  <a:srgbClr val="17313D"/>
                </a:solidFill>
                <a:latin typeface="Arial"/>
                <a:ea typeface="Arial"/>
                <a:cs typeface="Arial"/>
              </a:defRPr>
            </a:lvl8pPr>
            <a:lvl9pPr>
              <a:defRPr sz="1875" b="0">
                <a:solidFill>
                  <a:srgbClr val="17313D"/>
                </a:solidFill>
                <a:latin typeface="Arial"/>
                <a:ea typeface="Arial"/>
                <a:cs typeface="Arial"/>
              </a:defRPr>
            </a:lvl9pPr>
          </a:lstStyle>
          <a:p xmlns:a="http://schemas.openxmlformats.org/drawingml/2006/main">
            <a:pPr>
              <a:defRPr sz="1875" b="0">
                <a:solidFill>
                  <a:srgbClr val="17313D"/>
                </a:solidFill>
                <a:latin typeface="Arial"/>
                <a:ea typeface="Arial"/>
                <a:cs typeface="Arial"/>
              </a:defRPr>
            </a:pPr>
            <a:r>
              <a:rPr sz="1875" b="0">
                <a:solidFill>
                  <a:srgbClr val="17313D"/>
                </a:solidFill>
                <a:latin typeface="Arial"/>
                <a:ea typeface="Arial"/>
                <a:cs typeface="Arial"/>
              </a:rPr>
              <a:t>Other parts and background change too.</a:t>
            </a:r>
          </a:p>
          <a:p xmlns:a="http://schemas.openxmlformats.org/drawingml/2006/main">
            <a:pPr>
              <a:defRPr sz="1875" b="0">
                <a:solidFill>
                  <a:srgbClr val="17313D"/>
                </a:solidFill>
                <a:latin typeface="Arial"/>
                <a:ea typeface="Arial"/>
                <a:cs typeface="Arial"/>
              </a:defRPr>
            </a:pPr>
            <a:r>
              <a:rPr sz="1875" b="0">
                <a:solidFill>
                  <a:srgbClr val="17313D"/>
                </a:solidFill>
                <a:latin typeface="Arial"/>
                <a:ea typeface="Arial"/>
                <a:cs typeface="Arial"/>
              </a:rPr>
              <a:t>This does not isolate the effect of the head.</a:t>
            </a:r>
          </a:p>
        </p:txBody>
      </p:sp>
    </p:spTree>
    <p:extLst>
      <p:ext uri="{BB962C8B-B14F-4D97-AF65-F5344CB8AC3E}">
        <p14:creationId xmlns:p14="http://schemas.microsoft.com/office/powerpoint/2010/main" val="153750671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9582BBE-BAE1-4ABE-B1A4-171D8CBDA6CD}"/>
              </a:ext>
            </a:extLst>
          </p:cNvPr>
          <p:cNvSpPr>
            <a:spLocks xmlns:a="http://schemas.openxmlformats.org/drawingml/2006/main" noGrp="1"/>
          </p:cNvSpPr>
          <p:nvPr/>
        </p:nvSpPr>
        <p:spPr>
          <a:xfrm xmlns:a="http://schemas.openxmlformats.org/drawingml/2006/main">
            <a:off x="609600" y="40957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What we learned</a:t>
            </a:r>
          </a:p>
        </p:txBody>
      </p:sp>
      <p:sp>
        <p:nvSpPr>
          <p:cNvPr id="2" name="">
            <a:extLst xmlns:a="http://schemas.openxmlformats.org/drawingml/2006/main">
              <a:ext uri="{FF2B5EF4-FFF2-40B4-BE49-F238E27FC236}">
                <a16:creationId xmlns:a16="http://schemas.microsoft.com/office/drawing/2014/main" id="{2B1587A2-0585-43A2-843E-3ADC417554A5}"/>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FBF9459C-5D45-49DD-A089-EED82CD9F3F1}"/>
              </a:ext>
            </a:extLst>
          </p:cNvPr>
          <p:cNvSpPr>
            <a:spLocks xmlns:a="http://schemas.openxmlformats.org/drawingml/2006/main" noGrp="1"/>
          </p:cNvSpPr>
          <p:nvPr/>
        </p:nvSpPr>
        <p:spPr>
          <a:xfrm xmlns:a="http://schemas.openxmlformats.org/drawingml/2006/main">
            <a:off x="609600" y="1695450"/>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7F7B"/>
                </a:solidFill>
                <a:latin typeface="Arial"/>
                <a:ea typeface="Arial"/>
                <a:cs typeface="Arial"/>
              </a:defRPr>
            </a:defPPr>
            <a:lvl1pPr>
              <a:defRPr sz="2250" b="1">
                <a:solidFill>
                  <a:srgbClr val="007F7B"/>
                </a:solidFill>
                <a:latin typeface="Arial"/>
                <a:ea typeface="Arial"/>
                <a:cs typeface="Arial"/>
              </a:defRPr>
            </a:lvl1pPr>
            <a:lvl2pPr>
              <a:defRPr sz="2250" b="1">
                <a:solidFill>
                  <a:srgbClr val="007F7B"/>
                </a:solidFill>
                <a:latin typeface="Arial"/>
                <a:ea typeface="Arial"/>
                <a:cs typeface="Arial"/>
              </a:defRPr>
            </a:lvl2pPr>
            <a:lvl3pPr>
              <a:defRPr sz="2250" b="1">
                <a:solidFill>
                  <a:srgbClr val="007F7B"/>
                </a:solidFill>
                <a:latin typeface="Arial"/>
                <a:ea typeface="Arial"/>
                <a:cs typeface="Arial"/>
              </a:defRPr>
            </a:lvl3pPr>
            <a:lvl4pPr>
              <a:defRPr sz="2250" b="1">
                <a:solidFill>
                  <a:srgbClr val="007F7B"/>
                </a:solidFill>
                <a:latin typeface="Arial"/>
                <a:ea typeface="Arial"/>
                <a:cs typeface="Arial"/>
              </a:defRPr>
            </a:lvl4pPr>
            <a:lvl5pPr>
              <a:defRPr sz="2250" b="1">
                <a:solidFill>
                  <a:srgbClr val="007F7B"/>
                </a:solidFill>
                <a:latin typeface="Arial"/>
                <a:ea typeface="Arial"/>
                <a:cs typeface="Arial"/>
              </a:defRPr>
            </a:lvl5pPr>
            <a:lvl6pPr>
              <a:defRPr sz="2250" b="1">
                <a:solidFill>
                  <a:srgbClr val="007F7B"/>
                </a:solidFill>
                <a:latin typeface="Arial"/>
                <a:ea typeface="Arial"/>
                <a:cs typeface="Arial"/>
              </a:defRPr>
            </a:lvl6pPr>
            <a:lvl7pPr>
              <a:defRPr sz="2250" b="1">
                <a:solidFill>
                  <a:srgbClr val="007F7B"/>
                </a:solidFill>
                <a:latin typeface="Arial"/>
                <a:ea typeface="Arial"/>
                <a:cs typeface="Arial"/>
              </a:defRPr>
            </a:lvl7pPr>
            <a:lvl8pPr>
              <a:defRPr sz="2250" b="1">
                <a:solidFill>
                  <a:srgbClr val="007F7B"/>
                </a:solidFill>
                <a:latin typeface="Arial"/>
                <a:ea typeface="Arial"/>
                <a:cs typeface="Arial"/>
              </a:defRPr>
            </a:lvl8pPr>
            <a:lvl9pPr>
              <a:defRPr sz="2250" b="1">
                <a:solidFill>
                  <a:srgbClr val="007F7B"/>
                </a:solidFill>
                <a:latin typeface="Arial"/>
                <a:ea typeface="Arial"/>
                <a:cs typeface="Arial"/>
              </a:defRPr>
            </a:lvl9pPr>
          </a:lstStyle>
          <a:p xmlns:a="http://schemas.openxmlformats.org/drawingml/2006/main">
            <a:pPr>
              <a:defRPr sz="2250" b="1">
                <a:solidFill>
                  <a:srgbClr val="007F7B"/>
                </a:solidFill>
                <a:latin typeface="Arial"/>
                <a:ea typeface="Arial"/>
                <a:cs typeface="Arial"/>
              </a:defRPr>
            </a:pPr>
            <a:r>
              <a:rPr sz="2250" b="1">
                <a:solidFill>
                  <a:srgbClr val="007F7B"/>
                </a:solidFill>
                <a:latin typeface="Arial"/>
                <a:ea typeface="Arial"/>
                <a:cs typeface="Arial"/>
              </a:rPr>
              <a:t>Findings</a:t>
            </a:r>
          </a:p>
        </p:txBody>
      </p:sp>
      <p:sp>
        <p:nvSpPr>
          <p:cNvPr id="4" name="">
            <a:extLst xmlns:a="http://schemas.openxmlformats.org/drawingml/2006/main">
              <a:ext uri="{FF2B5EF4-FFF2-40B4-BE49-F238E27FC236}">
                <a16:creationId xmlns:a16="http://schemas.microsoft.com/office/drawing/2014/main" id="{4C3298E3-DA56-4B97-8A1C-B9F6E49568D1}"/>
              </a:ext>
            </a:extLst>
          </p:cNvPr>
          <p:cNvSpPr>
            <a:spLocks xmlns:a="http://schemas.openxmlformats.org/drawingml/2006/main" noGrp="1"/>
          </p:cNvSpPr>
          <p:nvPr/>
        </p:nvSpPr>
        <p:spPr>
          <a:xfrm xmlns:a="http://schemas.openxmlformats.org/drawingml/2006/main">
            <a:off x="609600" y="2343150"/>
            <a:ext cx="5429250" cy="2990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313D"/>
                </a:solidFill>
                <a:latin typeface="Arial"/>
                <a:ea typeface="Arial"/>
                <a:cs typeface="Arial"/>
              </a:defRPr>
            </a:defPPr>
            <a:lvl1pPr>
              <a:defRPr sz="2100" b="0">
                <a:solidFill>
                  <a:srgbClr val="17313D"/>
                </a:solidFill>
                <a:latin typeface="Arial"/>
                <a:ea typeface="Arial"/>
                <a:cs typeface="Arial"/>
              </a:defRPr>
            </a:lvl1pPr>
            <a:lvl2pPr>
              <a:defRPr sz="2100" b="0">
                <a:solidFill>
                  <a:srgbClr val="17313D"/>
                </a:solidFill>
                <a:latin typeface="Arial"/>
                <a:ea typeface="Arial"/>
                <a:cs typeface="Arial"/>
              </a:defRPr>
            </a:lvl2pPr>
            <a:lvl3pPr>
              <a:defRPr sz="2100" b="0">
                <a:solidFill>
                  <a:srgbClr val="17313D"/>
                </a:solidFill>
                <a:latin typeface="Arial"/>
                <a:ea typeface="Arial"/>
                <a:cs typeface="Arial"/>
              </a:defRPr>
            </a:lvl3pPr>
            <a:lvl4pPr>
              <a:defRPr sz="2100" b="0">
                <a:solidFill>
                  <a:srgbClr val="17313D"/>
                </a:solidFill>
                <a:latin typeface="Arial"/>
                <a:ea typeface="Arial"/>
                <a:cs typeface="Arial"/>
              </a:defRPr>
            </a:lvl4pPr>
            <a:lvl5pPr>
              <a:defRPr sz="2100" b="0">
                <a:solidFill>
                  <a:srgbClr val="17313D"/>
                </a:solidFill>
                <a:latin typeface="Arial"/>
                <a:ea typeface="Arial"/>
                <a:cs typeface="Arial"/>
              </a:defRPr>
            </a:lvl5pPr>
            <a:lvl6pPr>
              <a:defRPr sz="2100" b="0">
                <a:solidFill>
                  <a:srgbClr val="17313D"/>
                </a:solidFill>
                <a:latin typeface="Arial"/>
                <a:ea typeface="Arial"/>
                <a:cs typeface="Arial"/>
              </a:defRPr>
            </a:lvl6pPr>
            <a:lvl7pPr>
              <a:defRPr sz="2100" b="0">
                <a:solidFill>
                  <a:srgbClr val="17313D"/>
                </a:solidFill>
                <a:latin typeface="Arial"/>
                <a:ea typeface="Arial"/>
                <a:cs typeface="Arial"/>
              </a:defRPr>
            </a:lvl7pPr>
            <a:lvl8pPr>
              <a:defRPr sz="2100" b="0">
                <a:solidFill>
                  <a:srgbClr val="17313D"/>
                </a:solidFill>
                <a:latin typeface="Arial"/>
                <a:ea typeface="Arial"/>
                <a:cs typeface="Arial"/>
              </a:defRPr>
            </a:lvl8pPr>
            <a:lvl9pPr>
              <a:defRPr sz="2100" b="0">
                <a:solidFill>
                  <a:srgbClr val="17313D"/>
                </a:solidFill>
                <a:latin typeface="Arial"/>
                <a:ea typeface="Arial"/>
                <a:cs typeface="Arial"/>
              </a:defRPr>
            </a:lvl9pPr>
          </a:lstStyle>
          <a:p xmlns:a="http://schemas.openxmlformats.org/drawingml/2006/main">
            <a:pPr>
              <a:defRPr sz="2100" b="0">
                <a:solidFill>
                  <a:srgbClr val="17313D"/>
                </a:solidFill>
                <a:latin typeface="Arial"/>
                <a:ea typeface="Arial"/>
                <a:cs typeface="Arial"/>
              </a:defRPr>
            </a:pPr>
            <a:r>
              <a:rPr sz="2100" b="0">
                <a:solidFill>
                  <a:srgbClr val="17313D"/>
                </a:solidFill>
                <a:latin typeface="Arial"/>
                <a:ea typeface="Arial"/>
                <a:cs typeface="Arial"/>
              </a:rPr>
              <a:t>The better model changes with the mask.</a:t>
            </a:r>
          </a:p>
          <a:p xmlns:a="http://schemas.openxmlformats.org/drawingml/2006/main">
            <a:pPr>
              <a:defRPr sz="2100" b="0">
                <a:solidFill>
                  <a:srgbClr val="17313D"/>
                </a:solidFill>
                <a:latin typeface="Arial"/>
                <a:ea typeface="Arial"/>
                <a:cs typeface="Arial"/>
              </a:defRPr>
            </a:pPr>
            <a:r>
              <a:rPr sz="2100" b="0">
                <a:solidFill>
                  <a:srgbClr val="17313D"/>
                </a:solidFill>
                <a:latin typeface="Arial"/>
                <a:ea typeface="Arial"/>
                <a:cs typeface="Arial"/>
              </a:rPr>
              <a:t>This repeats with gray and black fill.</a:t>
            </a:r>
          </a:p>
          <a:p xmlns:a="http://schemas.openxmlformats.org/drawingml/2006/main">
            <a:r>
              <a:t/>
            </a:r>
          </a:p>
          <a:p xmlns:a="http://schemas.openxmlformats.org/drawingml/2006/main">
            <a:pPr>
              <a:defRPr sz="2100" b="0">
                <a:solidFill>
                  <a:srgbClr val="17313D"/>
                </a:solidFill>
                <a:latin typeface="Arial"/>
                <a:ea typeface="Arial"/>
                <a:cs typeface="Arial"/>
              </a:defRPr>
            </a:pPr>
            <a:r>
              <a:rPr sz="2100" b="0">
                <a:solidFill>
                  <a:srgbClr val="17313D"/>
                </a:solidFill>
                <a:latin typeface="Arial"/>
                <a:ea typeface="Arial"/>
                <a:cs typeface="Arial"/>
              </a:rPr>
              <a:t>Equal picture area can leave different</a:t>
            </a:r>
          </a:p>
          <a:p xmlns:a="http://schemas.openxmlformats.org/drawingml/2006/main">
            <a:pPr>
              <a:defRPr sz="2100" b="0">
                <a:solidFill>
                  <a:srgbClr val="17313D"/>
                </a:solidFill>
                <a:latin typeface="Arial"/>
                <a:ea typeface="Arial"/>
                <a:cs typeface="Arial"/>
              </a:defRPr>
            </a:pPr>
            <a:r>
              <a:rPr sz="2100" b="0">
                <a:solidFill>
                  <a:srgbClr val="17313D"/>
                </a:solidFill>
                <a:latin typeface="Arial"/>
                <a:ea typeface="Arial"/>
                <a:cs typeface="Arial"/>
              </a:rPr>
              <a:t>amounts of animal visible.</a:t>
            </a:r>
          </a:p>
          <a:p xmlns:a="http://schemas.openxmlformats.org/drawingml/2006/main">
            <a:r>
              <a:t/>
            </a:r>
          </a:p>
          <a:p xmlns:a="http://schemas.openxmlformats.org/drawingml/2006/main">
            <a:pPr>
              <a:defRPr sz="2100" b="0">
                <a:solidFill>
                  <a:srgbClr val="17313D"/>
                </a:solidFill>
                <a:latin typeface="Arial"/>
                <a:ea typeface="Arial"/>
                <a:cs typeface="Arial"/>
              </a:defRPr>
            </a:pPr>
            <a:r>
              <a:rPr sz="2100" b="0">
                <a:solidFill>
                  <a:srgbClr val="17313D"/>
                </a:solidFill>
                <a:latin typeface="Arial"/>
                <a:ea typeface="Arial"/>
                <a:cs typeface="Arial"/>
              </a:rPr>
              <a:t>Similar animal area can still show</a:t>
            </a:r>
          </a:p>
          <a:p xmlns:a="http://schemas.openxmlformats.org/drawingml/2006/main">
            <a:pPr>
              <a:defRPr sz="2100" b="0">
                <a:solidFill>
                  <a:srgbClr val="17313D"/>
                </a:solidFill>
                <a:latin typeface="Arial"/>
                <a:ea typeface="Arial"/>
                <a:cs typeface="Arial"/>
              </a:defRPr>
            </a:pPr>
            <a:r>
              <a:rPr sz="2100" b="0">
                <a:solidFill>
                  <a:srgbClr val="17313D"/>
                </a:solidFill>
                <a:latin typeface="Arial"/>
                <a:ea typeface="Arial"/>
                <a:cs typeface="Arial"/>
              </a:rPr>
              <a:t>different parts.</a:t>
            </a:r>
          </a:p>
        </p:txBody>
      </p:sp>
      <p:sp>
        <p:nvSpPr>
          <p:cNvPr id="5" name="">
            <a:extLst xmlns:a="http://schemas.openxmlformats.org/drawingml/2006/main">
              <a:ext uri="{FF2B5EF4-FFF2-40B4-BE49-F238E27FC236}">
                <a16:creationId xmlns:a16="http://schemas.microsoft.com/office/drawing/2014/main" id="{3F4861E1-2689-49D3-B0D3-07C51443D727}"/>
              </a:ext>
            </a:extLst>
          </p:cNvPr>
          <p:cNvSpPr>
            <a:spLocks xmlns:a="http://schemas.openxmlformats.org/drawingml/2006/main" noGrp="1"/>
          </p:cNvSpPr>
          <p:nvPr/>
        </p:nvSpPr>
        <p:spPr>
          <a:xfrm xmlns:a="http://schemas.openxmlformats.org/drawingml/2006/main">
            <a:off x="6553200" y="1695450"/>
            <a:ext cx="5029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7F7B"/>
                </a:solidFill>
                <a:latin typeface="Arial"/>
                <a:ea typeface="Arial"/>
                <a:cs typeface="Arial"/>
              </a:defRPr>
            </a:defPPr>
            <a:lvl1pPr>
              <a:defRPr sz="2250" b="1">
                <a:solidFill>
                  <a:srgbClr val="007F7B"/>
                </a:solidFill>
                <a:latin typeface="Arial"/>
                <a:ea typeface="Arial"/>
                <a:cs typeface="Arial"/>
              </a:defRPr>
            </a:lvl1pPr>
            <a:lvl2pPr>
              <a:defRPr sz="2250" b="1">
                <a:solidFill>
                  <a:srgbClr val="007F7B"/>
                </a:solidFill>
                <a:latin typeface="Arial"/>
                <a:ea typeface="Arial"/>
                <a:cs typeface="Arial"/>
              </a:defRPr>
            </a:lvl2pPr>
            <a:lvl3pPr>
              <a:defRPr sz="2250" b="1">
                <a:solidFill>
                  <a:srgbClr val="007F7B"/>
                </a:solidFill>
                <a:latin typeface="Arial"/>
                <a:ea typeface="Arial"/>
                <a:cs typeface="Arial"/>
              </a:defRPr>
            </a:lvl3pPr>
            <a:lvl4pPr>
              <a:defRPr sz="2250" b="1">
                <a:solidFill>
                  <a:srgbClr val="007F7B"/>
                </a:solidFill>
                <a:latin typeface="Arial"/>
                <a:ea typeface="Arial"/>
                <a:cs typeface="Arial"/>
              </a:defRPr>
            </a:lvl4pPr>
            <a:lvl5pPr>
              <a:defRPr sz="2250" b="1">
                <a:solidFill>
                  <a:srgbClr val="007F7B"/>
                </a:solidFill>
                <a:latin typeface="Arial"/>
                <a:ea typeface="Arial"/>
                <a:cs typeface="Arial"/>
              </a:defRPr>
            </a:lvl5pPr>
            <a:lvl6pPr>
              <a:defRPr sz="2250" b="1">
                <a:solidFill>
                  <a:srgbClr val="007F7B"/>
                </a:solidFill>
                <a:latin typeface="Arial"/>
                <a:ea typeface="Arial"/>
                <a:cs typeface="Arial"/>
              </a:defRPr>
            </a:lvl6pPr>
            <a:lvl7pPr>
              <a:defRPr sz="2250" b="1">
                <a:solidFill>
                  <a:srgbClr val="007F7B"/>
                </a:solidFill>
                <a:latin typeface="Arial"/>
                <a:ea typeface="Arial"/>
                <a:cs typeface="Arial"/>
              </a:defRPr>
            </a:lvl7pPr>
            <a:lvl8pPr>
              <a:defRPr sz="2250" b="1">
                <a:solidFill>
                  <a:srgbClr val="007F7B"/>
                </a:solidFill>
                <a:latin typeface="Arial"/>
                <a:ea typeface="Arial"/>
                <a:cs typeface="Arial"/>
              </a:defRPr>
            </a:lvl8pPr>
            <a:lvl9pPr>
              <a:defRPr sz="2250" b="1">
                <a:solidFill>
                  <a:srgbClr val="007F7B"/>
                </a:solidFill>
                <a:latin typeface="Arial"/>
                <a:ea typeface="Arial"/>
                <a:cs typeface="Arial"/>
              </a:defRPr>
            </a:lvl9pPr>
          </a:lstStyle>
          <a:p xmlns:a="http://schemas.openxmlformats.org/drawingml/2006/main">
            <a:pPr>
              <a:defRPr sz="2250" b="1">
                <a:solidFill>
                  <a:srgbClr val="007F7B"/>
                </a:solidFill>
                <a:latin typeface="Arial"/>
                <a:ea typeface="Arial"/>
                <a:cs typeface="Arial"/>
              </a:defRPr>
            </a:pPr>
            <a:r>
              <a:rPr sz="2250" b="1">
                <a:solidFill>
                  <a:srgbClr val="007F7B"/>
                </a:solidFill>
                <a:latin typeface="Arial"/>
                <a:ea typeface="Arial"/>
                <a:cs typeface="Arial"/>
              </a:rPr>
              <a:t>Limits</a:t>
            </a:r>
          </a:p>
        </p:txBody>
      </p:sp>
      <p:sp>
        <p:nvSpPr>
          <p:cNvPr id="6" name="">
            <a:extLst xmlns:a="http://schemas.openxmlformats.org/drawingml/2006/main">
              <a:ext uri="{FF2B5EF4-FFF2-40B4-BE49-F238E27FC236}">
                <a16:creationId xmlns:a16="http://schemas.microsoft.com/office/drawing/2014/main" id="{36075858-81B2-4B0F-AC22-0CF109EDA763}"/>
              </a:ext>
            </a:extLst>
          </p:cNvPr>
          <p:cNvSpPr>
            <a:spLocks xmlns:a="http://schemas.openxmlformats.org/drawingml/2006/main" noGrp="1"/>
          </p:cNvSpPr>
          <p:nvPr/>
        </p:nvSpPr>
        <p:spPr>
          <a:xfrm xmlns:a="http://schemas.openxmlformats.org/drawingml/2006/main">
            <a:off x="6553200" y="2343150"/>
            <a:ext cx="5029200" cy="2990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313D"/>
                </a:solidFill>
                <a:latin typeface="Arial"/>
                <a:ea typeface="Arial"/>
                <a:cs typeface="Arial"/>
              </a:defRPr>
            </a:defPPr>
            <a:lvl1pPr>
              <a:defRPr sz="2100" b="0">
                <a:solidFill>
                  <a:srgbClr val="17313D"/>
                </a:solidFill>
                <a:latin typeface="Arial"/>
                <a:ea typeface="Arial"/>
                <a:cs typeface="Arial"/>
              </a:defRPr>
            </a:lvl1pPr>
            <a:lvl2pPr>
              <a:defRPr sz="2100" b="0">
                <a:solidFill>
                  <a:srgbClr val="17313D"/>
                </a:solidFill>
                <a:latin typeface="Arial"/>
                <a:ea typeface="Arial"/>
                <a:cs typeface="Arial"/>
              </a:defRPr>
            </a:lvl2pPr>
            <a:lvl3pPr>
              <a:defRPr sz="2100" b="0">
                <a:solidFill>
                  <a:srgbClr val="17313D"/>
                </a:solidFill>
                <a:latin typeface="Arial"/>
                <a:ea typeface="Arial"/>
                <a:cs typeface="Arial"/>
              </a:defRPr>
            </a:lvl3pPr>
            <a:lvl4pPr>
              <a:defRPr sz="2100" b="0">
                <a:solidFill>
                  <a:srgbClr val="17313D"/>
                </a:solidFill>
                <a:latin typeface="Arial"/>
                <a:ea typeface="Arial"/>
                <a:cs typeface="Arial"/>
              </a:defRPr>
            </a:lvl4pPr>
            <a:lvl5pPr>
              <a:defRPr sz="2100" b="0">
                <a:solidFill>
                  <a:srgbClr val="17313D"/>
                </a:solidFill>
                <a:latin typeface="Arial"/>
                <a:ea typeface="Arial"/>
                <a:cs typeface="Arial"/>
              </a:defRPr>
            </a:lvl5pPr>
            <a:lvl6pPr>
              <a:defRPr sz="2100" b="0">
                <a:solidFill>
                  <a:srgbClr val="17313D"/>
                </a:solidFill>
                <a:latin typeface="Arial"/>
                <a:ea typeface="Arial"/>
                <a:cs typeface="Arial"/>
              </a:defRPr>
            </a:lvl6pPr>
            <a:lvl7pPr>
              <a:defRPr sz="2100" b="0">
                <a:solidFill>
                  <a:srgbClr val="17313D"/>
                </a:solidFill>
                <a:latin typeface="Arial"/>
                <a:ea typeface="Arial"/>
                <a:cs typeface="Arial"/>
              </a:defRPr>
            </a:lvl7pPr>
            <a:lvl8pPr>
              <a:defRPr sz="2100" b="0">
                <a:solidFill>
                  <a:srgbClr val="17313D"/>
                </a:solidFill>
                <a:latin typeface="Arial"/>
                <a:ea typeface="Arial"/>
                <a:cs typeface="Arial"/>
              </a:defRPr>
            </a:lvl8pPr>
            <a:lvl9pPr>
              <a:defRPr sz="2100" b="0">
                <a:solidFill>
                  <a:srgbClr val="17313D"/>
                </a:solidFill>
                <a:latin typeface="Arial"/>
                <a:ea typeface="Arial"/>
                <a:cs typeface="Arial"/>
              </a:defRPr>
            </a:lvl9pPr>
          </a:lstStyle>
          <a:p xmlns:a="http://schemas.openxmlformats.org/drawingml/2006/main">
            <a:pPr>
              <a:defRPr sz="2100" b="0">
                <a:solidFill>
                  <a:srgbClr val="17313D"/>
                </a:solidFill>
                <a:latin typeface="Arial"/>
                <a:ea typeface="Arial"/>
                <a:cs typeface="Arial"/>
              </a:defRPr>
            </a:pPr>
            <a:r>
              <a:rPr sz="2100" b="0">
                <a:solidFill>
                  <a:srgbClr val="17313D"/>
                </a:solidFill>
                <a:latin typeface="Arial"/>
                <a:ea typeface="Arial"/>
                <a:cs typeface="Arial"/>
              </a:rPr>
              <a:t>Training differs between models.</a:t>
            </a:r>
          </a:p>
          <a:p xmlns:a="http://schemas.openxmlformats.org/drawingml/2006/main">
            <a:r>
              <a:t/>
            </a:r>
          </a:p>
          <a:p xmlns:a="http://schemas.openxmlformats.org/drawingml/2006/main">
            <a:pPr>
              <a:defRPr sz="2100" b="0">
                <a:solidFill>
                  <a:srgbClr val="17313D"/>
                </a:solidFill>
                <a:latin typeface="Arial"/>
                <a:ea typeface="Arial"/>
                <a:cs typeface="Arial"/>
              </a:defRPr>
            </a:pPr>
            <a:r>
              <a:rPr sz="2100" b="0">
                <a:solidFill>
                  <a:srgbClr val="17313D"/>
                </a:solidFill>
                <a:latin typeface="Arial"/>
                <a:ea typeface="Arial"/>
                <a:cs typeface="Arial"/>
              </a:rPr>
              <a:t>Mask position and content</a:t>
            </a:r>
          </a:p>
          <a:p xmlns:a="http://schemas.openxmlformats.org/drawingml/2006/main">
            <a:pPr>
              <a:defRPr sz="2100" b="0">
                <a:solidFill>
                  <a:srgbClr val="17313D"/>
                </a:solidFill>
                <a:latin typeface="Arial"/>
                <a:ea typeface="Arial"/>
                <a:cs typeface="Arial"/>
              </a:defRPr>
            </a:pPr>
            <a:r>
              <a:rPr sz="2100" b="0">
                <a:solidFill>
                  <a:srgbClr val="17313D"/>
                </a:solidFill>
                <a:latin typeface="Arial"/>
                <a:ea typeface="Arial"/>
                <a:cs typeface="Arial"/>
              </a:rPr>
              <a:t>change together.</a:t>
            </a:r>
          </a:p>
          <a:p xmlns:a="http://schemas.openxmlformats.org/drawingml/2006/main">
            <a:r>
              <a:t/>
            </a:r>
          </a:p>
          <a:p xmlns:a="http://schemas.openxmlformats.org/drawingml/2006/main">
            <a:pPr>
              <a:defRPr sz="2100" b="0">
                <a:solidFill>
                  <a:srgbClr val="17313D"/>
                </a:solidFill>
                <a:latin typeface="Arial"/>
                <a:ea typeface="Arial"/>
                <a:cs typeface="Arial"/>
              </a:defRPr>
            </a:pPr>
            <a:r>
              <a:rPr sz="2100" b="0">
                <a:solidFill>
                  <a:srgbClr val="17313D"/>
                </a:solidFill>
                <a:latin typeface="Arial"/>
                <a:ea typeface="Arial"/>
                <a:cs typeface="Arial"/>
              </a:rPr>
              <a:t>One dataset and artificial masks.</a:t>
            </a:r>
          </a:p>
        </p:txBody>
      </p:sp>
      <p:sp>
        <p:nvSpPr>
          <p:cNvPr id="7" name="">
            <a:extLst xmlns:a="http://schemas.openxmlformats.org/drawingml/2006/main">
              <a:ext uri="{FF2B5EF4-FFF2-40B4-BE49-F238E27FC236}">
                <a16:creationId xmlns:a16="http://schemas.microsoft.com/office/drawing/2014/main" id="{CE352016-A6E1-4AF9-8B87-C5EEAB1D3A5C}"/>
              </a:ext>
            </a:extLst>
          </p:cNvPr>
          <p:cNvSpPr>
            <a:spLocks xmlns:a="http://schemas.openxmlformats.org/drawingml/2006/main" noGrp="1"/>
          </p:cNvSpPr>
          <p:nvPr/>
        </p:nvSpPr>
        <p:spPr>
          <a:xfrm xmlns:a="http://schemas.openxmlformats.org/drawingml/2006/main">
            <a:off x="609600" y="59055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313D"/>
                </a:solidFill>
                <a:latin typeface="Arial"/>
                <a:ea typeface="Arial"/>
                <a:cs typeface="Arial"/>
              </a:defRPr>
            </a:defPPr>
            <a:lvl1pPr>
              <a:defRPr sz="2175" b="1">
                <a:solidFill>
                  <a:srgbClr val="17313D"/>
                </a:solidFill>
                <a:latin typeface="Arial"/>
                <a:ea typeface="Arial"/>
                <a:cs typeface="Arial"/>
              </a:defRPr>
            </a:lvl1pPr>
            <a:lvl2pPr>
              <a:defRPr sz="2175" b="1">
                <a:solidFill>
                  <a:srgbClr val="17313D"/>
                </a:solidFill>
                <a:latin typeface="Arial"/>
                <a:ea typeface="Arial"/>
                <a:cs typeface="Arial"/>
              </a:defRPr>
            </a:lvl2pPr>
            <a:lvl3pPr>
              <a:defRPr sz="2175" b="1">
                <a:solidFill>
                  <a:srgbClr val="17313D"/>
                </a:solidFill>
                <a:latin typeface="Arial"/>
                <a:ea typeface="Arial"/>
                <a:cs typeface="Arial"/>
              </a:defRPr>
            </a:lvl3pPr>
            <a:lvl4pPr>
              <a:defRPr sz="2175" b="1">
                <a:solidFill>
                  <a:srgbClr val="17313D"/>
                </a:solidFill>
                <a:latin typeface="Arial"/>
                <a:ea typeface="Arial"/>
                <a:cs typeface="Arial"/>
              </a:defRPr>
            </a:lvl4pPr>
            <a:lvl5pPr>
              <a:defRPr sz="2175" b="1">
                <a:solidFill>
                  <a:srgbClr val="17313D"/>
                </a:solidFill>
                <a:latin typeface="Arial"/>
                <a:ea typeface="Arial"/>
                <a:cs typeface="Arial"/>
              </a:defRPr>
            </a:lvl5pPr>
            <a:lvl6pPr>
              <a:defRPr sz="2175" b="1">
                <a:solidFill>
                  <a:srgbClr val="17313D"/>
                </a:solidFill>
                <a:latin typeface="Arial"/>
                <a:ea typeface="Arial"/>
                <a:cs typeface="Arial"/>
              </a:defRPr>
            </a:lvl6pPr>
            <a:lvl7pPr>
              <a:defRPr sz="2175" b="1">
                <a:solidFill>
                  <a:srgbClr val="17313D"/>
                </a:solidFill>
                <a:latin typeface="Arial"/>
                <a:ea typeface="Arial"/>
                <a:cs typeface="Arial"/>
              </a:defRPr>
            </a:lvl7pPr>
            <a:lvl8pPr>
              <a:defRPr sz="2175" b="1">
                <a:solidFill>
                  <a:srgbClr val="17313D"/>
                </a:solidFill>
                <a:latin typeface="Arial"/>
                <a:ea typeface="Arial"/>
                <a:cs typeface="Arial"/>
              </a:defRPr>
            </a:lvl8pPr>
            <a:lvl9pPr>
              <a:defRPr sz="2175" b="1">
                <a:solidFill>
                  <a:srgbClr val="17313D"/>
                </a:solidFill>
                <a:latin typeface="Arial"/>
                <a:ea typeface="Arial"/>
                <a:cs typeface="Arial"/>
              </a:defRPr>
            </a:lvl9pPr>
          </a:lstStyle>
          <a:p xmlns:a="http://schemas.openxmlformats.org/drawingml/2006/main">
            <a:pPr>
              <a:defRPr sz="2175" b="1">
                <a:solidFill>
                  <a:srgbClr val="17313D"/>
                </a:solidFill>
                <a:latin typeface="Arial"/>
                <a:ea typeface="Arial"/>
                <a:cs typeface="Arial"/>
              </a:defRPr>
            </a:pPr>
            <a:r>
              <a:rPr sz="2175" b="1">
                <a:solidFill>
                  <a:srgbClr val="17313D"/>
                </a:solidFill>
                <a:latin typeface="Arial"/>
                <a:ea typeface="Arial"/>
                <a:cs typeface="Arial"/>
              </a:rPr>
              <a:t>The result describes these models under these test conditions.</a:t>
            </a:r>
          </a:p>
        </p:txBody>
      </p:sp>
    </p:spTree>
    <p:extLst>
      <p:ext uri="{BB962C8B-B14F-4D97-AF65-F5344CB8AC3E}">
        <p14:creationId xmlns:p14="http://schemas.microsoft.com/office/powerpoint/2010/main" val="2107847453"/>
      </p:ext>
    </p:extLst>
  </p:cSld>
</p:sld>
</file>

<file path=ppt/slides/slide1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8" name="">
            <a:extLst>
              <a:ext uri="{FF2B5EF4-FFF2-40B4-BE49-F238E27FC236}">
                <ns2:creationId id="{938D061C-E04A-440E-B632-100ADB9E6094}"/>
              </a:ext>
            </a:extLst>
          </p:cNvPr>
          <p:cNvSpPr>
            <a:spLocks noGrp="1"/>
          </p:cNvSpPr>
          <p:nvPr/>
        </p:nvSpPr>
        <p:spPr>
          <a:xfrm>
            <a:off x="609600" y="409575"/>
            <a:ext cx="10972800" cy="1009650"/>
          </a:xfrm>
          <a:prstGeom prst="rect">
            <a:avLst/>
          </a:prstGeom>
          <a:noFill/>
          <a:ln w="0">
            <a:noFill/>
          </a:ln>
        </p:spPr>
        <p:txBody>
          <a:bodyPr wrap="square" lIns="0" tIns="0" rIns="0" bIns="0" anchor="t">
            <a:noAutofit/>
          </a:bodyPr>
          <a:lstStyle>
            <a:defPPr>
              <a:defRPr sz="3300" b="1">
                <a:solidFill>
                  <a:srgbClr val="17313D"/>
                </a:solidFill>
                <a:latin typeface="Arial"/>
                <a:ea typeface="Arial"/>
                <a:cs typeface="Arial"/>
              </a:defRPr>
            </a:defPPr>
            <a:lvl1pPr>
              <a:buNone/>
              <a:defRPr sz="3300" b="1">
                <a:solidFill>
                  <a:srgbClr val="17313D"/>
                </a:solidFill>
                <a:latin typeface="Arial"/>
                <a:ea typeface="Arial"/>
                <a:cs typeface="Arial"/>
              </a:defRPr>
            </a:lvl1pPr>
            <a:lvl2pPr>
              <a:buNone/>
              <a:defRPr sz="3300" b="1">
                <a:solidFill>
                  <a:srgbClr val="17313D"/>
                </a:solidFill>
                <a:latin typeface="Arial"/>
                <a:ea typeface="Arial"/>
                <a:cs typeface="Arial"/>
              </a:defRPr>
            </a:lvl2pPr>
            <a:lvl3pPr>
              <a:buNone/>
              <a:defRPr sz="3300" b="1">
                <a:solidFill>
                  <a:srgbClr val="17313D"/>
                </a:solidFill>
                <a:latin typeface="Arial"/>
                <a:ea typeface="Arial"/>
                <a:cs typeface="Arial"/>
              </a:defRPr>
            </a:lvl3pPr>
            <a:lvl4pPr>
              <a:buNone/>
              <a:defRPr sz="3300" b="1">
                <a:solidFill>
                  <a:srgbClr val="17313D"/>
                </a:solidFill>
                <a:latin typeface="Arial"/>
                <a:ea typeface="Arial"/>
                <a:cs typeface="Arial"/>
              </a:defRPr>
            </a:lvl4pPr>
            <a:lvl5pPr>
              <a:buNone/>
              <a:defRPr sz="3300" b="1">
                <a:solidFill>
                  <a:srgbClr val="17313D"/>
                </a:solidFill>
                <a:latin typeface="Arial"/>
                <a:ea typeface="Arial"/>
                <a:cs typeface="Arial"/>
              </a:defRPr>
            </a:lvl5pPr>
            <a:lvl6pPr>
              <a:buNone/>
              <a:defRPr sz="3300" b="1">
                <a:solidFill>
                  <a:srgbClr val="17313D"/>
                </a:solidFill>
                <a:latin typeface="Arial"/>
                <a:ea typeface="Arial"/>
                <a:cs typeface="Arial"/>
              </a:defRPr>
            </a:lvl6pPr>
            <a:lvl7pPr>
              <a:buNone/>
              <a:defRPr sz="3300" b="1">
                <a:solidFill>
                  <a:srgbClr val="17313D"/>
                </a:solidFill>
                <a:latin typeface="Arial"/>
                <a:ea typeface="Arial"/>
                <a:cs typeface="Arial"/>
              </a:defRPr>
            </a:lvl7pPr>
            <a:lvl8pPr>
              <a:buNone/>
              <a:defRPr sz="3300" b="1">
                <a:solidFill>
                  <a:srgbClr val="17313D"/>
                </a:solidFill>
                <a:latin typeface="Arial"/>
                <a:ea typeface="Arial"/>
                <a:cs typeface="Arial"/>
              </a:defRPr>
            </a:lvl8pPr>
            <a:lvl9pPr>
              <a:buNone/>
              <a:defRPr sz="3300" b="1">
                <a:solidFill>
                  <a:srgbClr val="17313D"/>
                </a:solidFill>
                <a:latin typeface="Arial"/>
                <a:ea typeface="Arial"/>
                <a:cs typeface="Arial"/>
              </a:defRPr>
            </a:lvl9pPr>
          </a:lstStyle>
          <a:p>
            <a:pPr>
              <a:buNone/>
              <a:defRPr sz="3300" b="1">
                <a:solidFill>
                  <a:srgbClr val="17313D"/>
                </a:solidFill>
                <a:latin typeface="Arial"/>
                <a:ea typeface="Arial"/>
                <a:cs typeface="Arial"/>
              </a:defRPr>
            </a:pPr>
            <a:r>
              <a:rPr sz="3300" b="1">
                <a:solidFill>
                  <a:srgbClr val="17313D"/>
                </a:solidFill>
                <a:latin typeface="Arial"/>
                <a:ea typeface="Arial"/>
                <a:cs typeface="Arial"/>
              </a:rPr>
              <a:t>Next steps</a:t>
            </a:r>
          </a:p>
        </p:txBody>
      </p:sp>
      <p:sp>
        <p:nvSpPr>
          <p:cNvPr id="2" name="">
            <a:extLst>
              <a:ext uri="{FF2B5EF4-FFF2-40B4-BE49-F238E27FC236}">
                <ns2:creationId id="{25F1F178-FF0A-43A7-B817-D668037D7E97}"/>
              </a:ext>
            </a:extLst>
          </p:cNvPr>
          <p:cNvSpPr>
            <a:spLocks noGrp="1"/>
          </p:cNvSpPr>
          <p:nvPr/>
        </p:nvSpPr>
        <p:spPr>
          <a:xfrm>
            <a:off x="11334750" y="6477000"/>
            <a:ext cx="428625" cy="190500"/>
          </a:xfrm>
          <a:prstGeom prst="rect">
            <a:avLst/>
          </a:prstGeom>
          <a:noFill/>
          <a:ln w="0">
            <a:noFill/>
          </a:ln>
        </p:spPr>
        <p:txBody>
          <a:bodyPr wrap="square" lIns="0" tIns="0" rIns="0" bIns="0" anchor="t">
            <a:noAutofit/>
          </a:bodyPr>
          <a:lstStyle>
            <a:defPPr>
              <a:defRPr sz="1050" b="0">
                <a:solidFill>
                  <a:srgbClr val="52616A"/>
                </a:solidFill>
                <a:latin typeface="Arial"/>
                <a:ea typeface="Arial"/>
                <a:cs typeface="Arial"/>
              </a:defRPr>
            </a:defPPr>
            <a:lvl1pPr>
              <a:buNone/>
              <a:defRPr sz="1050" b="0">
                <a:solidFill>
                  <a:srgbClr val="52616A"/>
                </a:solidFill>
                <a:latin typeface="Arial"/>
                <a:ea typeface="Arial"/>
                <a:cs typeface="Arial"/>
              </a:defRPr>
            </a:lvl1pPr>
            <a:lvl2pPr>
              <a:buNone/>
              <a:defRPr sz="1050" b="0">
                <a:solidFill>
                  <a:srgbClr val="52616A"/>
                </a:solidFill>
                <a:latin typeface="Arial"/>
                <a:ea typeface="Arial"/>
                <a:cs typeface="Arial"/>
              </a:defRPr>
            </a:lvl2pPr>
            <a:lvl3pPr>
              <a:buNone/>
              <a:defRPr sz="1050" b="0">
                <a:solidFill>
                  <a:srgbClr val="52616A"/>
                </a:solidFill>
                <a:latin typeface="Arial"/>
                <a:ea typeface="Arial"/>
                <a:cs typeface="Arial"/>
              </a:defRPr>
            </a:lvl3pPr>
            <a:lvl4pPr>
              <a:buNone/>
              <a:defRPr sz="1050" b="0">
                <a:solidFill>
                  <a:srgbClr val="52616A"/>
                </a:solidFill>
                <a:latin typeface="Arial"/>
                <a:ea typeface="Arial"/>
                <a:cs typeface="Arial"/>
              </a:defRPr>
            </a:lvl4pPr>
            <a:lvl5pPr>
              <a:buNone/>
              <a:defRPr sz="1050" b="0">
                <a:solidFill>
                  <a:srgbClr val="52616A"/>
                </a:solidFill>
                <a:latin typeface="Arial"/>
                <a:ea typeface="Arial"/>
                <a:cs typeface="Arial"/>
              </a:defRPr>
            </a:lvl5pPr>
            <a:lvl6pPr>
              <a:buNone/>
              <a:defRPr sz="1050" b="0">
                <a:solidFill>
                  <a:srgbClr val="52616A"/>
                </a:solidFill>
                <a:latin typeface="Arial"/>
                <a:ea typeface="Arial"/>
                <a:cs typeface="Arial"/>
              </a:defRPr>
            </a:lvl6pPr>
            <a:lvl7pPr>
              <a:buNone/>
              <a:defRPr sz="1050" b="0">
                <a:solidFill>
                  <a:srgbClr val="52616A"/>
                </a:solidFill>
                <a:latin typeface="Arial"/>
                <a:ea typeface="Arial"/>
                <a:cs typeface="Arial"/>
              </a:defRPr>
            </a:lvl7pPr>
            <a:lvl8pPr>
              <a:buNone/>
              <a:defRPr sz="1050" b="0">
                <a:solidFill>
                  <a:srgbClr val="52616A"/>
                </a:solidFill>
                <a:latin typeface="Arial"/>
                <a:ea typeface="Arial"/>
                <a:cs typeface="Arial"/>
              </a:defRPr>
            </a:lvl8pPr>
            <a:lvl9pPr>
              <a:buNone/>
              <a:defRPr sz="1050" b="0">
                <a:solidFill>
                  <a:srgbClr val="52616A"/>
                </a:solidFill>
                <a:latin typeface="Arial"/>
                <a:ea typeface="Arial"/>
                <a:cs typeface="Arial"/>
              </a:defRPr>
            </a:lvl9pPr>
          </a:lstStyle>
          <a:p>
            <a:pPr>
              <a:buNone/>
              <a:defRPr sz="1050" b="0">
                <a:solidFill>
                  <a:srgbClr val="52616A"/>
                </a:solidFill>
                <a:latin typeface="Arial"/>
                <a:ea typeface="Arial"/>
                <a:cs typeface="Arial"/>
              </a:defRPr>
            </a:pPr>
            <a:r>
              <a:rPr sz="1050" b="0">
                <a:solidFill>
                  <a:srgbClr val="52616A"/>
                </a:solidFill>
                <a:latin typeface="Arial"/>
                <a:ea typeface="Arial"/>
                <a:cs typeface="Arial"/>
              </a:rPr>
              <a:t>12</a:t>
            </a:r>
          </a:p>
        </p:txBody>
      </p:sp>
      <p:sp>
        <p:nvSpPr>
          <p:cNvPr id="3" name="">
            <a:extLst>
              <a:ext uri="{FF2B5EF4-FFF2-40B4-BE49-F238E27FC236}">
                <ns2:creationId id="{97C71909-919D-4208-8EBE-67240E96A212}"/>
              </a:ext>
            </a:extLst>
          </p:cNvPr>
          <p:cNvSpPr>
            <a:spLocks noGrp="1"/>
          </p:cNvSpPr>
          <p:nvPr/>
        </p:nvSpPr>
        <p:spPr>
          <a:xfrm>
            <a:off x="609600" y="1581150"/>
            <a:ext cx="10972800" cy="438150"/>
          </a:xfrm>
          <a:prstGeom prst="rect">
            <a:avLst/>
          </a:prstGeom>
          <a:noFill/>
          <a:ln w="0">
            <a:noFill/>
          </a:ln>
        </p:spPr>
        <p:txBody>
          <a:bodyPr wrap="square" lIns="0" tIns="0" rIns="0" bIns="0" anchor="t">
            <a:noAutofit/>
          </a:bodyPr>
          <a:lstStyle>
            <a:defPPr>
              <a:defRPr sz="2325" b="1">
                <a:solidFill>
                  <a:srgbClr val="007F7B"/>
                </a:solidFill>
                <a:latin typeface="Arial"/>
                <a:ea typeface="Arial"/>
                <a:cs typeface="Arial"/>
              </a:defRPr>
            </a:defPPr>
            <a:lvl1pPr>
              <a:buNone/>
              <a:defRPr sz="2550" b="1">
                <a:solidFill>
                  <a:srgbClr val="007F7B"/>
                </a:solidFill>
                <a:latin typeface="Arial"/>
                <a:ea typeface="Arial"/>
                <a:cs typeface="Arial"/>
              </a:defRPr>
            </a:lvl1pPr>
            <a:lvl2pPr>
              <a:buNone/>
              <a:defRPr sz="2550" b="1">
                <a:solidFill>
                  <a:srgbClr val="007F7B"/>
                </a:solidFill>
                <a:latin typeface="Arial"/>
                <a:ea typeface="Arial"/>
                <a:cs typeface="Arial"/>
              </a:defRPr>
            </a:lvl2pPr>
            <a:lvl3pPr>
              <a:buNone/>
              <a:defRPr sz="2550" b="1">
                <a:solidFill>
                  <a:srgbClr val="007F7B"/>
                </a:solidFill>
                <a:latin typeface="Arial"/>
                <a:ea typeface="Arial"/>
                <a:cs typeface="Arial"/>
              </a:defRPr>
            </a:lvl3pPr>
            <a:lvl4pPr>
              <a:buNone/>
              <a:defRPr sz="2550" b="1">
                <a:solidFill>
                  <a:srgbClr val="007F7B"/>
                </a:solidFill>
                <a:latin typeface="Arial"/>
                <a:ea typeface="Arial"/>
                <a:cs typeface="Arial"/>
              </a:defRPr>
            </a:lvl4pPr>
            <a:lvl5pPr>
              <a:buNone/>
              <a:defRPr sz="2550" b="1">
                <a:solidFill>
                  <a:srgbClr val="007F7B"/>
                </a:solidFill>
                <a:latin typeface="Arial"/>
                <a:ea typeface="Arial"/>
                <a:cs typeface="Arial"/>
              </a:defRPr>
            </a:lvl5pPr>
            <a:lvl6pPr>
              <a:buNone/>
              <a:defRPr sz="2550" b="1">
                <a:solidFill>
                  <a:srgbClr val="007F7B"/>
                </a:solidFill>
                <a:latin typeface="Arial"/>
                <a:ea typeface="Arial"/>
                <a:cs typeface="Arial"/>
              </a:defRPr>
            </a:lvl6pPr>
            <a:lvl7pPr>
              <a:buNone/>
              <a:defRPr sz="2550" b="1">
                <a:solidFill>
                  <a:srgbClr val="007F7B"/>
                </a:solidFill>
                <a:latin typeface="Arial"/>
                <a:ea typeface="Arial"/>
                <a:cs typeface="Arial"/>
              </a:defRPr>
            </a:lvl7pPr>
            <a:lvl8pPr>
              <a:buNone/>
              <a:defRPr sz="2550" b="1">
                <a:solidFill>
                  <a:srgbClr val="007F7B"/>
                </a:solidFill>
                <a:latin typeface="Arial"/>
                <a:ea typeface="Arial"/>
                <a:cs typeface="Arial"/>
              </a:defRPr>
            </a:lvl8pPr>
            <a:lvl9pPr>
              <a:buNone/>
              <a:defRPr sz="2550" b="1">
                <a:solidFill>
                  <a:srgbClr val="007F7B"/>
                </a:solidFill>
                <a:latin typeface="Arial"/>
                <a:ea typeface="Arial"/>
                <a:cs typeface="Arial"/>
              </a:defRPr>
            </a:lvl9pPr>
          </a:lstStyle>
          <a:p>
            <a:pPr>
              <a:buNone/>
              <a:defRPr sz="2325" b="1">
                <a:solidFill>
                  <a:srgbClr val="007F7B"/>
                </a:solidFill>
                <a:latin typeface="Arial"/>
                <a:ea typeface="Arial"/>
                <a:cs typeface="Arial"/>
              </a:defRPr>
            </a:pPr>
            <a:r>
              <a:rPr sz="2325" b="1">
                <a:solidFill>
                  <a:srgbClr val="007F7B"/>
                </a:solidFill>
                <a:latin typeface="Arial"/>
                <a:ea typeface="Arial"/>
                <a:cs typeface="Arial"/>
              </a:rPr>
              <a:t>1. Does the reversal persist with less occlusion?</a:t>
            </a:r>
          </a:p>
        </p:txBody>
      </p:sp>
      <p:sp>
        <p:nvSpPr>
          <p:cNvPr id="4" name="">
            <a:extLst>
              <a:ext uri="{FF2B5EF4-FFF2-40B4-BE49-F238E27FC236}">
                <ns2:creationId id="{8C0A3960-EA72-433C-BA9F-BD425C8E421A}"/>
              </a:ext>
            </a:extLst>
          </p:cNvPr>
          <p:cNvSpPr>
            <a:spLocks noGrp="1"/>
          </p:cNvSpPr>
          <p:nvPr/>
        </p:nvSpPr>
        <p:spPr>
          <a:xfrm>
            <a:off x="609600" y="2133600"/>
            <a:ext cx="10972800" cy="762000"/>
          </a:xfrm>
          <a:prstGeom prst="rect">
            <a:avLst/>
          </a:prstGeom>
          <a:noFill/>
          <a:ln w="0">
            <a:noFill/>
          </a:ln>
        </p:spPr>
        <p:txBody>
          <a:bodyPr wrap="square" lIns="0" tIns="0" rIns="0" bIns="0" anchor="t">
            <a:noAutofit/>
          </a:bodyPr>
          <a:lstStyle>
            <a:defPPr>
              <a:defRPr sz="1950" b="0">
                <a:solidFill>
                  <a:srgbClr val="17313D"/>
                </a:solidFill>
                <a:latin typeface="Arial"/>
                <a:ea typeface="Arial"/>
                <a:cs typeface="Arial"/>
              </a:defRPr>
            </a:defPPr>
            <a:lvl1pPr>
              <a:buNone/>
              <a:defRPr sz="2175" b="0">
                <a:solidFill>
                  <a:srgbClr val="17313D"/>
                </a:solidFill>
                <a:latin typeface="Arial"/>
                <a:ea typeface="Arial"/>
                <a:cs typeface="Arial"/>
              </a:defRPr>
            </a:lvl1pPr>
            <a:lvl2pPr>
              <a:buNone/>
              <a:defRPr sz="2175" b="0">
                <a:solidFill>
                  <a:srgbClr val="17313D"/>
                </a:solidFill>
                <a:latin typeface="Arial"/>
                <a:ea typeface="Arial"/>
                <a:cs typeface="Arial"/>
              </a:defRPr>
            </a:lvl2pPr>
            <a:lvl3pPr>
              <a:buNone/>
              <a:defRPr sz="2175" b="0">
                <a:solidFill>
                  <a:srgbClr val="17313D"/>
                </a:solidFill>
                <a:latin typeface="Arial"/>
                <a:ea typeface="Arial"/>
                <a:cs typeface="Arial"/>
              </a:defRPr>
            </a:lvl3pPr>
            <a:lvl4pPr>
              <a:buNone/>
              <a:defRPr sz="2175" b="0">
                <a:solidFill>
                  <a:srgbClr val="17313D"/>
                </a:solidFill>
                <a:latin typeface="Arial"/>
                <a:ea typeface="Arial"/>
                <a:cs typeface="Arial"/>
              </a:defRPr>
            </a:lvl4pPr>
            <a:lvl5pPr>
              <a:buNone/>
              <a:defRPr sz="2175" b="0">
                <a:solidFill>
                  <a:srgbClr val="17313D"/>
                </a:solidFill>
                <a:latin typeface="Arial"/>
                <a:ea typeface="Arial"/>
                <a:cs typeface="Arial"/>
              </a:defRPr>
            </a:lvl5pPr>
            <a:lvl6pPr>
              <a:buNone/>
              <a:defRPr sz="2175" b="0">
                <a:solidFill>
                  <a:srgbClr val="17313D"/>
                </a:solidFill>
                <a:latin typeface="Arial"/>
                <a:ea typeface="Arial"/>
                <a:cs typeface="Arial"/>
              </a:defRPr>
            </a:lvl6pPr>
            <a:lvl7pPr>
              <a:buNone/>
              <a:defRPr sz="2175" b="0">
                <a:solidFill>
                  <a:srgbClr val="17313D"/>
                </a:solidFill>
                <a:latin typeface="Arial"/>
                <a:ea typeface="Arial"/>
                <a:cs typeface="Arial"/>
              </a:defRPr>
            </a:lvl7pPr>
            <a:lvl8pPr>
              <a:buNone/>
              <a:defRPr sz="2175" b="0">
                <a:solidFill>
                  <a:srgbClr val="17313D"/>
                </a:solidFill>
                <a:latin typeface="Arial"/>
                <a:ea typeface="Arial"/>
                <a:cs typeface="Arial"/>
              </a:defRPr>
            </a:lvl8pPr>
            <a:lvl9pPr>
              <a:buNone/>
              <a:defRPr sz="2175" b="0">
                <a:solidFill>
                  <a:srgbClr val="17313D"/>
                </a:solidFill>
                <a:latin typeface="Arial"/>
                <a:ea typeface="Arial"/>
                <a:cs typeface="Arial"/>
              </a:defRPr>
            </a:lvl9pPr>
          </a:lstStyle>
          <a:p>
            <a:pPr>
              <a:buNone/>
              <a:defRPr sz="1950" b="0">
                <a:solidFill>
                  <a:srgbClr val="17313D"/>
                </a:solidFill>
                <a:latin typeface="Arial"/>
                <a:ea typeface="Arial"/>
                <a:cs typeface="Arial"/>
              </a:defRPr>
            </a:pPr>
            <a:r>
              <a:rPr sz="1950" b="0">
                <a:solidFill>
                  <a:srgbClr val="17313D"/>
                </a:solidFill>
                <a:latin typeface="Arial"/>
                <a:ea typeface="Arial"/>
                <a:cs typeface="Arial"/>
              </a:rPr>
              <a:t>Test 50% and 75% image visibility across all four patterns.</a:t>
            </a:r>
          </a:p>
          <a:p>
            <a:pPr>
              <a:buNone/>
              <a:defRPr sz="1950" b="0">
                <a:solidFill>
                  <a:srgbClr val="17313D"/>
                </a:solidFill>
                <a:latin typeface="Arial"/>
                <a:ea typeface="Arial"/>
                <a:cs typeface="Arial"/>
              </a:defRPr>
            </a:pPr>
            <a:r>
              <a:rPr sz="1950" b="0">
                <a:solidFill>
                  <a:srgbClr val="17313D"/>
                </a:solidFill>
                <a:latin typeface="Arial"/>
                <a:ea typeface="Arial"/>
                <a:cs typeface="Arial"/>
              </a:rPr>
              <a:t>Reuse the same 740 images, frozen models and classifiers.</a:t>
            </a:r>
          </a:p>
        </p:txBody>
      </p:sp>
      <p:sp>
        <p:nvSpPr>
          <p:cNvPr id="5" name="">
            <a:extLst>
              <a:ext uri="{FF2B5EF4-FFF2-40B4-BE49-F238E27FC236}">
                <ns2:creationId id="{EEA13B60-1806-4CB7-A697-17565A4843B5}"/>
              </a:ext>
            </a:extLst>
          </p:cNvPr>
          <p:cNvSpPr>
            <a:spLocks noGrp="1"/>
          </p:cNvSpPr>
          <p:nvPr/>
        </p:nvSpPr>
        <p:spPr>
          <a:xfrm>
            <a:off x="609600" y="5057775"/>
            <a:ext cx="10972800" cy="371475"/>
          </a:xfrm>
          <a:prstGeom prst="rect">
            <a:avLst/>
          </a:prstGeom>
          <a:noFill/>
          <a:ln w="0">
            <a:noFill/>
          </a:ln>
        </p:spPr>
        <p:txBody>
          <a:bodyPr wrap="square" lIns="0" tIns="0" rIns="0" bIns="0" anchor="t">
            <a:noAutofit/>
          </a:bodyPr>
          <a:lstStyle>
            <a:defPPr>
              <a:defRPr sz="1950" b="1">
                <a:solidFill>
                  <a:srgbClr val="007F7B"/>
                </a:solidFill>
                <a:latin typeface="Arial"/>
                <a:ea typeface="Arial"/>
                <a:cs typeface="Arial"/>
              </a:defRPr>
            </a:defPPr>
            <a:lvl1pPr>
              <a:buNone/>
              <a:defRPr sz="2175" b="1">
                <a:solidFill>
                  <a:srgbClr val="007F7B"/>
                </a:solidFill>
                <a:latin typeface="Arial"/>
                <a:ea typeface="Arial"/>
                <a:cs typeface="Arial"/>
              </a:defRPr>
            </a:lvl1pPr>
            <a:lvl2pPr>
              <a:buNone/>
              <a:defRPr sz="2175" b="1">
                <a:solidFill>
                  <a:srgbClr val="007F7B"/>
                </a:solidFill>
                <a:latin typeface="Arial"/>
                <a:ea typeface="Arial"/>
                <a:cs typeface="Arial"/>
              </a:defRPr>
            </a:lvl2pPr>
            <a:lvl3pPr>
              <a:buNone/>
              <a:defRPr sz="2175" b="1">
                <a:solidFill>
                  <a:srgbClr val="007F7B"/>
                </a:solidFill>
                <a:latin typeface="Arial"/>
                <a:ea typeface="Arial"/>
                <a:cs typeface="Arial"/>
              </a:defRPr>
            </a:lvl3pPr>
            <a:lvl4pPr>
              <a:buNone/>
              <a:defRPr sz="2175" b="1">
                <a:solidFill>
                  <a:srgbClr val="007F7B"/>
                </a:solidFill>
                <a:latin typeface="Arial"/>
                <a:ea typeface="Arial"/>
                <a:cs typeface="Arial"/>
              </a:defRPr>
            </a:lvl4pPr>
            <a:lvl5pPr>
              <a:buNone/>
              <a:defRPr sz="2175" b="1">
                <a:solidFill>
                  <a:srgbClr val="007F7B"/>
                </a:solidFill>
                <a:latin typeface="Arial"/>
                <a:ea typeface="Arial"/>
                <a:cs typeface="Arial"/>
              </a:defRPr>
            </a:lvl5pPr>
            <a:lvl6pPr>
              <a:buNone/>
              <a:defRPr sz="2175" b="1">
                <a:solidFill>
                  <a:srgbClr val="007F7B"/>
                </a:solidFill>
                <a:latin typeface="Arial"/>
                <a:ea typeface="Arial"/>
                <a:cs typeface="Arial"/>
              </a:defRPr>
            </a:lvl6pPr>
            <a:lvl7pPr>
              <a:buNone/>
              <a:defRPr sz="2175" b="1">
                <a:solidFill>
                  <a:srgbClr val="007F7B"/>
                </a:solidFill>
                <a:latin typeface="Arial"/>
                <a:ea typeface="Arial"/>
                <a:cs typeface="Arial"/>
              </a:defRPr>
            </a:lvl7pPr>
            <a:lvl8pPr>
              <a:buNone/>
              <a:defRPr sz="2175" b="1">
                <a:solidFill>
                  <a:srgbClr val="007F7B"/>
                </a:solidFill>
                <a:latin typeface="Arial"/>
                <a:ea typeface="Arial"/>
                <a:cs typeface="Arial"/>
              </a:defRPr>
            </a:lvl8pPr>
            <a:lvl9pPr>
              <a:buNone/>
              <a:defRPr sz="2175" b="1">
                <a:solidFill>
                  <a:srgbClr val="007F7B"/>
                </a:solidFill>
                <a:latin typeface="Arial"/>
                <a:ea typeface="Arial"/>
                <a:cs typeface="Arial"/>
              </a:defRPr>
            </a:lvl9pPr>
          </a:lstStyle>
          <a:p>
            <a:pPr>
              <a:buNone/>
              <a:defRPr sz="1950" b="1">
                <a:solidFill>
                  <a:srgbClr val="007F7B"/>
                </a:solidFill>
                <a:latin typeface="Arial"/>
                <a:ea typeface="Arial"/>
                <a:cs typeface="Arial"/>
              </a:defRPr>
            </a:pPr>
            <a:r>
              <a:rPr sz="1950" b="1">
                <a:solidFill>
                  <a:srgbClr val="007F7B"/>
                </a:solidFill>
                <a:latin typeface="Arial"/>
                <a:ea typeface="Arial"/>
                <a:cs typeface="Arial"/>
                <a:hlinkClick ns3:id="Rbf1cce3a7a524949"/>
              </a:rPr>
              <a:t>github.com/Bensssonxx/comp669-object-visibility</a:t>
            </a:r>
          </a:p>
        </p:txBody>
      </p:sp>
      <p:sp>
        <p:nvSpPr>
          <p:cNvPr id="6" name="">
            <a:extLst>
              <a:ext uri="{FF2B5EF4-FFF2-40B4-BE49-F238E27FC236}">
                <ns2:creationId id="{BA60E194-CBD7-476F-B5B8-D28964EFD91B}"/>
              </a:ext>
            </a:extLst>
          </p:cNvPr>
          <p:cNvSpPr>
            <a:spLocks noGrp="1"/>
          </p:cNvSpPr>
          <p:nvPr/>
        </p:nvSpPr>
        <p:spPr>
          <a:xfrm>
            <a:off x="609600" y="5448300"/>
            <a:ext cx="10972800" cy="304800"/>
          </a:xfrm>
          <a:prstGeom prst="rect">
            <a:avLst/>
          </a:prstGeom>
          <a:noFill/>
          <a:ln w="0">
            <a:noFill/>
          </a:ln>
        </p:spPr>
        <p:txBody>
          <a:bodyPr wrap="square" lIns="0" tIns="0" rIns="0" bIns="0" anchor="t">
            <a:noAutofit/>
          </a:bodyPr>
          <a:lstStyle>
            <a:defPPr>
              <a:defRPr sz="1650" b="0">
                <a:solidFill>
                  <a:srgbClr val="52616A"/>
                </a:solidFill>
                <a:latin typeface="Arial"/>
                <a:ea typeface="Arial"/>
                <a:cs typeface="Arial"/>
              </a:defRPr>
            </a:defPPr>
            <a:lvl1pPr>
              <a:buNone/>
              <a:defRPr sz="1800" b="0">
                <a:solidFill>
                  <a:srgbClr val="52616A"/>
                </a:solidFill>
                <a:latin typeface="Arial"/>
                <a:ea typeface="Arial"/>
                <a:cs typeface="Arial"/>
              </a:defRPr>
            </a:lvl1pPr>
            <a:lvl2pPr>
              <a:buNone/>
              <a:defRPr sz="1800" b="0">
                <a:solidFill>
                  <a:srgbClr val="52616A"/>
                </a:solidFill>
                <a:latin typeface="Arial"/>
                <a:ea typeface="Arial"/>
                <a:cs typeface="Arial"/>
              </a:defRPr>
            </a:lvl2pPr>
            <a:lvl3pPr>
              <a:buNone/>
              <a:defRPr sz="1800" b="0">
                <a:solidFill>
                  <a:srgbClr val="52616A"/>
                </a:solidFill>
                <a:latin typeface="Arial"/>
                <a:ea typeface="Arial"/>
                <a:cs typeface="Arial"/>
              </a:defRPr>
            </a:lvl3pPr>
            <a:lvl4pPr>
              <a:buNone/>
              <a:defRPr sz="1800" b="0">
                <a:solidFill>
                  <a:srgbClr val="52616A"/>
                </a:solidFill>
                <a:latin typeface="Arial"/>
                <a:ea typeface="Arial"/>
                <a:cs typeface="Arial"/>
              </a:defRPr>
            </a:lvl4pPr>
            <a:lvl5pPr>
              <a:buNone/>
              <a:defRPr sz="1800" b="0">
                <a:solidFill>
                  <a:srgbClr val="52616A"/>
                </a:solidFill>
                <a:latin typeface="Arial"/>
                <a:ea typeface="Arial"/>
                <a:cs typeface="Arial"/>
              </a:defRPr>
            </a:lvl5pPr>
            <a:lvl6pPr>
              <a:buNone/>
              <a:defRPr sz="1800" b="0">
                <a:solidFill>
                  <a:srgbClr val="52616A"/>
                </a:solidFill>
                <a:latin typeface="Arial"/>
                <a:ea typeface="Arial"/>
                <a:cs typeface="Arial"/>
              </a:defRPr>
            </a:lvl6pPr>
            <a:lvl7pPr>
              <a:buNone/>
              <a:defRPr sz="1800" b="0">
                <a:solidFill>
                  <a:srgbClr val="52616A"/>
                </a:solidFill>
                <a:latin typeface="Arial"/>
                <a:ea typeface="Arial"/>
                <a:cs typeface="Arial"/>
              </a:defRPr>
            </a:lvl7pPr>
            <a:lvl8pPr>
              <a:buNone/>
              <a:defRPr sz="1800" b="0">
                <a:solidFill>
                  <a:srgbClr val="52616A"/>
                </a:solidFill>
                <a:latin typeface="Arial"/>
                <a:ea typeface="Arial"/>
                <a:cs typeface="Arial"/>
              </a:defRPr>
            </a:lvl8pPr>
            <a:lvl9pPr>
              <a:buNone/>
              <a:defRPr sz="1800" b="0">
                <a:solidFill>
                  <a:srgbClr val="52616A"/>
                </a:solidFill>
                <a:latin typeface="Arial"/>
                <a:ea typeface="Arial"/>
                <a:cs typeface="Arial"/>
              </a:defRPr>
            </a:lvl9pPr>
          </a:lstStyle>
          <a:p>
            <a:pPr>
              <a:buNone/>
              <a:defRPr sz="1650" b="0">
                <a:solidFill>
                  <a:srgbClr val="52616A"/>
                </a:solidFill>
                <a:latin typeface="Arial"/>
                <a:ea typeface="Arial"/>
                <a:cs typeface="Arial"/>
              </a:defRPr>
            </a:pPr>
            <a:r>
              <a:rPr sz="1650" b="0">
                <a:solidFill>
                  <a:srgbClr val="52616A"/>
                </a:solidFill>
                <a:latin typeface="Arial"/>
                <a:ea typeface="Arial"/>
                <a:cs typeface="Arial"/>
              </a:rPr>
              <a:t>Public repository with protocols, code, predictions and analysis.</a:t>
            </a:r>
          </a:p>
        </p:txBody>
      </p:sp>
      <p:sp>
        <p:nvSpPr>
          <p:cNvPr id="7" name="">
            <a:extLst>
              <a:ext uri="{FF2B5EF4-FFF2-40B4-BE49-F238E27FC236}">
                <ns2:creationId id="{4B023271-98A1-4615-818A-AB2CCEE1D50B}"/>
              </a:ext>
            </a:extLst>
          </p:cNvPr>
          <p:cNvSpPr>
            <a:spLocks noGrp="1"/>
          </p:cNvSpPr>
          <p:nvPr/>
        </p:nvSpPr>
        <p:spPr>
          <a:xfrm>
            <a:off x="609600" y="5895975"/>
            <a:ext cx="10972800" cy="533400"/>
          </a:xfrm>
          <a:prstGeom prst="rect">
            <a:avLst/>
          </a:prstGeom>
          <a:noFill/>
          <a:ln w="0">
            <a:noFill/>
          </a:ln>
        </p:spPr>
        <p:txBody>
          <a:bodyPr wrap="square" lIns="0" tIns="0" rIns="0" bIns="0" anchor="t">
            <a:noAutofit/>
          </a:bodyPr>
          <a:lstStyle>
            <a:defPPr>
              <a:defRPr sz="1650" b="0">
                <a:solidFill>
                  <a:srgbClr val="17313D"/>
                </a:solidFill>
                <a:latin typeface="Arial"/>
                <a:ea typeface="Arial"/>
                <a:cs typeface="Arial"/>
              </a:defRPr>
            </a:defPPr>
            <a:lvl1pPr>
              <a:buNone/>
              <a:defRPr sz="2025" b="0">
                <a:solidFill>
                  <a:srgbClr val="17313D"/>
                </a:solidFill>
                <a:latin typeface="Arial"/>
                <a:ea typeface="Arial"/>
                <a:cs typeface="Arial"/>
              </a:defRPr>
            </a:lvl1pPr>
            <a:lvl2pPr>
              <a:buNone/>
              <a:defRPr sz="2025" b="0">
                <a:solidFill>
                  <a:srgbClr val="17313D"/>
                </a:solidFill>
                <a:latin typeface="Arial"/>
                <a:ea typeface="Arial"/>
                <a:cs typeface="Arial"/>
              </a:defRPr>
            </a:lvl2pPr>
            <a:lvl3pPr>
              <a:buNone/>
              <a:defRPr sz="2025" b="0">
                <a:solidFill>
                  <a:srgbClr val="17313D"/>
                </a:solidFill>
                <a:latin typeface="Arial"/>
                <a:ea typeface="Arial"/>
                <a:cs typeface="Arial"/>
              </a:defRPr>
            </a:lvl3pPr>
            <a:lvl4pPr>
              <a:buNone/>
              <a:defRPr sz="2025" b="0">
                <a:solidFill>
                  <a:srgbClr val="17313D"/>
                </a:solidFill>
                <a:latin typeface="Arial"/>
                <a:ea typeface="Arial"/>
                <a:cs typeface="Arial"/>
              </a:defRPr>
            </a:lvl4pPr>
            <a:lvl5pPr>
              <a:buNone/>
              <a:defRPr sz="2025" b="0">
                <a:solidFill>
                  <a:srgbClr val="17313D"/>
                </a:solidFill>
                <a:latin typeface="Arial"/>
                <a:ea typeface="Arial"/>
                <a:cs typeface="Arial"/>
              </a:defRPr>
            </a:lvl5pPr>
            <a:lvl6pPr>
              <a:buNone/>
              <a:defRPr sz="2025" b="0">
                <a:solidFill>
                  <a:srgbClr val="17313D"/>
                </a:solidFill>
                <a:latin typeface="Arial"/>
                <a:ea typeface="Arial"/>
                <a:cs typeface="Arial"/>
              </a:defRPr>
            </a:lvl6pPr>
            <a:lvl7pPr>
              <a:buNone/>
              <a:defRPr sz="2025" b="0">
                <a:solidFill>
                  <a:srgbClr val="17313D"/>
                </a:solidFill>
                <a:latin typeface="Arial"/>
                <a:ea typeface="Arial"/>
                <a:cs typeface="Arial"/>
              </a:defRPr>
            </a:lvl7pPr>
            <a:lvl8pPr>
              <a:buNone/>
              <a:defRPr sz="2025" b="0">
                <a:solidFill>
                  <a:srgbClr val="17313D"/>
                </a:solidFill>
                <a:latin typeface="Arial"/>
                <a:ea typeface="Arial"/>
                <a:cs typeface="Arial"/>
              </a:defRPr>
            </a:lvl8pPr>
            <a:lvl9pPr>
              <a:buNone/>
              <a:defRPr sz="2025" b="0">
                <a:solidFill>
                  <a:srgbClr val="17313D"/>
                </a:solidFill>
                <a:latin typeface="Arial"/>
                <a:ea typeface="Arial"/>
                <a:cs typeface="Arial"/>
              </a:defRPr>
            </a:lvl9pPr>
          </a:lstStyle>
          <a:p>
            <a:pPr>
              <a:buNone/>
              <a:defRPr sz="1650" b="0">
                <a:solidFill>
                  <a:srgbClr val="17313D"/>
                </a:solidFill>
                <a:latin typeface="Arial"/>
                <a:ea typeface="Arial"/>
                <a:cs typeface="Arial"/>
              </a:defRPr>
            </a:pPr>
            <a:r>
              <a:rPr sz="1650" b="0">
                <a:solidFill>
                  <a:srgbClr val="17313D"/>
                </a:solidFill>
                <a:latin typeface="Arial"/>
                <a:ea typeface="Arial"/>
                <a:cs typeface="Arial"/>
              </a:rPr>
              <a:t>AI use: Codex helped with source review, code, experiments,</a:t>
            </a:r>
          </a:p>
          <a:p>
            <a:pPr>
              <a:buNone/>
              <a:defRPr sz="1650" b="0">
                <a:solidFill>
                  <a:srgbClr val="17313D"/>
                </a:solidFill>
                <a:latin typeface="Arial"/>
                <a:ea typeface="Arial"/>
                <a:cs typeface="Arial"/>
              </a:defRPr>
            </a:pPr>
            <a:r>
              <a:rPr sz="1650" b="0">
                <a:solidFill>
                  <a:srgbClr val="17313D"/>
                </a:solidFill>
                <a:latin typeface="Arial"/>
                <a:ea typeface="Arial"/>
                <a:cs typeface="Arial"/>
              </a:rPr>
              <a:t>analysis and presentation drafting.</a:t>
            </a:r>
          </a:p>
        </p:txBody>
      </p:sp>
      <p:sp>
        <p:nvSpPr>
          <p:cNvPr id="9" name="next-pooling-heading">
            <a:extLst>
              <a:ext uri="{FF2B5EF4-FFF2-40B4-BE49-F238E27FC236}">
                <ns2:creationId id="{3C422A0A-2639-402C-BE28-E54E149EFA14}"/>
              </a:ext>
            </a:extLst>
          </p:cNvPr>
          <p:cNvSpPr>
            <a:spLocks noGrp="1"/>
          </p:cNvSpPr>
          <p:nvPr/>
        </p:nvSpPr>
        <p:spPr>
          <a:xfrm>
            <a:off x="609600" y="3105150"/>
            <a:ext cx="10972800" cy="438150"/>
          </a:xfrm>
          <a:prstGeom prst="rect">
            <a:avLst/>
          </a:prstGeom>
          <a:noFill/>
          <a:ln w="0">
            <a:noFill/>
          </a:ln>
        </p:spPr>
        <p:txBody>
          <a:bodyPr wrap="square" lIns="0" tIns="0" rIns="0" bIns="0" anchor="t">
            <a:noAutofit/>
          </a:bodyPr>
          <a:lstStyle>
            <a:defPPr>
              <a:defRPr sz="2325" b="1">
                <a:solidFill>
                  <a:srgbClr val="007F7B"/>
                </a:solidFill>
                <a:latin typeface="Arial"/>
                <a:ea typeface="Arial"/>
                <a:cs typeface="Arial"/>
              </a:defRPr>
            </a:defPPr>
            <a:lvl1pPr>
              <a:defRPr sz="2325" b="1">
                <a:solidFill>
                  <a:srgbClr val="007F7B"/>
                </a:solidFill>
                <a:latin typeface="Arial"/>
                <a:ea typeface="Arial"/>
                <a:cs typeface="Arial"/>
              </a:defRPr>
            </a:lvl1pPr>
            <a:lvl2pPr>
              <a:defRPr sz="2325" b="1">
                <a:solidFill>
                  <a:srgbClr val="007F7B"/>
                </a:solidFill>
                <a:latin typeface="Arial"/>
                <a:ea typeface="Arial"/>
                <a:cs typeface="Arial"/>
              </a:defRPr>
            </a:lvl2pPr>
            <a:lvl3pPr>
              <a:defRPr sz="2325" b="1">
                <a:solidFill>
                  <a:srgbClr val="007F7B"/>
                </a:solidFill>
                <a:latin typeface="Arial"/>
                <a:ea typeface="Arial"/>
                <a:cs typeface="Arial"/>
              </a:defRPr>
            </a:lvl3pPr>
            <a:lvl4pPr>
              <a:defRPr sz="2325" b="1">
                <a:solidFill>
                  <a:srgbClr val="007F7B"/>
                </a:solidFill>
                <a:latin typeface="Arial"/>
                <a:ea typeface="Arial"/>
                <a:cs typeface="Arial"/>
              </a:defRPr>
            </a:lvl4pPr>
            <a:lvl5pPr>
              <a:defRPr sz="2325" b="1">
                <a:solidFill>
                  <a:srgbClr val="007F7B"/>
                </a:solidFill>
                <a:latin typeface="Arial"/>
                <a:ea typeface="Arial"/>
                <a:cs typeface="Arial"/>
              </a:defRPr>
            </a:lvl5pPr>
            <a:lvl6pPr>
              <a:defRPr sz="2325" b="1">
                <a:solidFill>
                  <a:srgbClr val="007F7B"/>
                </a:solidFill>
                <a:latin typeface="Arial"/>
                <a:ea typeface="Arial"/>
                <a:cs typeface="Arial"/>
              </a:defRPr>
            </a:lvl6pPr>
            <a:lvl7pPr>
              <a:defRPr sz="2325" b="1">
                <a:solidFill>
                  <a:srgbClr val="007F7B"/>
                </a:solidFill>
                <a:latin typeface="Arial"/>
                <a:ea typeface="Arial"/>
                <a:cs typeface="Arial"/>
              </a:defRPr>
            </a:lvl7pPr>
            <a:lvl8pPr>
              <a:defRPr sz="2325" b="1">
                <a:solidFill>
                  <a:srgbClr val="007F7B"/>
                </a:solidFill>
                <a:latin typeface="Arial"/>
                <a:ea typeface="Arial"/>
                <a:cs typeface="Arial"/>
              </a:defRPr>
            </a:lvl8pPr>
            <a:lvl9pPr>
              <a:defRPr sz="2325" b="1">
                <a:solidFill>
                  <a:srgbClr val="007F7B"/>
                </a:solidFill>
                <a:latin typeface="Arial"/>
                <a:ea typeface="Arial"/>
                <a:cs typeface="Arial"/>
              </a:defRPr>
            </a:lvl9pPr>
          </a:lstStyle>
          <a:p>
            <a:pPr>
              <a:defRPr sz="2325" b="1">
                <a:solidFill>
                  <a:srgbClr val="007F7B"/>
                </a:solidFill>
                <a:latin typeface="Arial"/>
                <a:ea typeface="Arial"/>
                <a:cs typeface="Arial"/>
              </a:defRPr>
            </a:pPr>
            <a:r>
              <a:rPr sz="2325" b="1">
                <a:solidFill>
                  <a:srgbClr val="007F7B"/>
                </a:solidFill>
                <a:latin typeface="Arial"/>
                <a:ea typeface="Arial"/>
                <a:cs typeface="Arial"/>
              </a:rPr>
              <a:t>2. Does feature averaging affect the reversal?</a:t>
            </a:r>
          </a:p>
        </p:txBody>
      </p:sp>
      <p:sp>
        <p:nvSpPr>
          <p:cNvPr id="10" name="next-pooling-body">
            <a:extLst>
              <a:ext uri="{FF2B5EF4-FFF2-40B4-BE49-F238E27FC236}">
                <ns2:creationId id="{E917EA8C-797B-4DE2-8668-25D4DE8F196A}"/>
              </a:ext>
            </a:extLst>
          </p:cNvPr>
          <p:cNvSpPr>
            <a:spLocks noGrp="1"/>
          </p:cNvSpPr>
          <p:nvPr/>
        </p:nvSpPr>
        <p:spPr>
          <a:xfrm>
            <a:off x="609600" y="3657600"/>
            <a:ext cx="10972800" cy="762000"/>
          </a:xfrm>
          <a:prstGeom prst="rect">
            <a:avLst/>
          </a:prstGeom>
          <a:noFill/>
          <a:ln w="0">
            <a:noFill/>
          </a:ln>
        </p:spPr>
        <p:txBody>
          <a:bodyPr wrap="square" lIns="0" tIns="0" rIns="0" bIns="0" anchor="t">
            <a:noAutofit/>
          </a:bodyPr>
          <a:lstStyle>
            <a:defPPr>
              <a:defRPr sz="1950" b="0">
                <a:solidFill>
                  <a:srgbClr val="17313D"/>
                </a:solidFill>
                <a:latin typeface="Arial"/>
                <a:ea typeface="Arial"/>
                <a:cs typeface="Arial"/>
              </a:defRPr>
            </a:defPPr>
            <a:lvl1pPr>
              <a:defRPr sz="1950" b="0">
                <a:solidFill>
                  <a:srgbClr val="17313D"/>
                </a:solidFill>
                <a:latin typeface="Arial"/>
                <a:ea typeface="Arial"/>
                <a:cs typeface="Arial"/>
              </a:defRPr>
            </a:lvl1pPr>
            <a:lvl2pPr>
              <a:defRPr sz="1950" b="0">
                <a:solidFill>
                  <a:srgbClr val="17313D"/>
                </a:solidFill>
                <a:latin typeface="Arial"/>
                <a:ea typeface="Arial"/>
                <a:cs typeface="Arial"/>
              </a:defRPr>
            </a:lvl2pPr>
            <a:lvl3pPr>
              <a:defRPr sz="1950" b="0">
                <a:solidFill>
                  <a:srgbClr val="17313D"/>
                </a:solidFill>
                <a:latin typeface="Arial"/>
                <a:ea typeface="Arial"/>
                <a:cs typeface="Arial"/>
              </a:defRPr>
            </a:lvl3pPr>
            <a:lvl4pPr>
              <a:defRPr sz="1950" b="0">
                <a:solidFill>
                  <a:srgbClr val="17313D"/>
                </a:solidFill>
                <a:latin typeface="Arial"/>
                <a:ea typeface="Arial"/>
                <a:cs typeface="Arial"/>
              </a:defRPr>
            </a:lvl4pPr>
            <a:lvl5pPr>
              <a:defRPr sz="1950" b="0">
                <a:solidFill>
                  <a:srgbClr val="17313D"/>
                </a:solidFill>
                <a:latin typeface="Arial"/>
                <a:ea typeface="Arial"/>
                <a:cs typeface="Arial"/>
              </a:defRPr>
            </a:lvl5pPr>
            <a:lvl6pPr>
              <a:defRPr sz="1950" b="0">
                <a:solidFill>
                  <a:srgbClr val="17313D"/>
                </a:solidFill>
                <a:latin typeface="Arial"/>
                <a:ea typeface="Arial"/>
                <a:cs typeface="Arial"/>
              </a:defRPr>
            </a:lvl6pPr>
            <a:lvl7pPr>
              <a:defRPr sz="1950" b="0">
                <a:solidFill>
                  <a:srgbClr val="17313D"/>
                </a:solidFill>
                <a:latin typeface="Arial"/>
                <a:ea typeface="Arial"/>
                <a:cs typeface="Arial"/>
              </a:defRPr>
            </a:lvl7pPr>
            <a:lvl8pPr>
              <a:defRPr sz="1950" b="0">
                <a:solidFill>
                  <a:srgbClr val="17313D"/>
                </a:solidFill>
                <a:latin typeface="Arial"/>
                <a:ea typeface="Arial"/>
                <a:cs typeface="Arial"/>
              </a:defRPr>
            </a:lvl8pPr>
            <a:lvl9pPr>
              <a:defRPr sz="1950" b="0">
                <a:solidFill>
                  <a:srgbClr val="17313D"/>
                </a:solidFill>
                <a:latin typeface="Arial"/>
                <a:ea typeface="Arial"/>
                <a:cs typeface="Arial"/>
              </a:defRPr>
            </a:lvl9pPr>
          </a:lstStyle>
          <a:p>
            <a:pPr>
              <a:defRPr sz="1950" b="0">
                <a:solidFill>
                  <a:srgbClr val="17313D"/>
                </a:solidFill>
                <a:latin typeface="Arial"/>
                <a:ea typeface="Arial"/>
                <a:cs typeface="Arial"/>
              </a:defRPr>
            </a:pPr>
            <a:r>
              <a:rPr sz="1950" b="0">
                <a:solidFill>
                  <a:srgbClr val="17313D"/>
                </a:solidFill>
                <a:latin typeface="Arial"/>
                <a:ea typeface="Arial"/>
                <a:cs typeface="Arial"/>
              </a:rPr>
              <a:t>Compare mean pooling with max pooling for both models.</a:t>
            </a:r>
          </a:p>
          <a:p>
            <a:pPr>
              <a:defRPr sz="1950" b="0">
                <a:solidFill>
                  <a:srgbClr val="17313D"/>
                </a:solidFill>
                <a:latin typeface="Arial"/>
                <a:ea typeface="Arial"/>
                <a:cs typeface="Arial"/>
              </a:defRPr>
            </a:pPr>
            <a:r>
              <a:rPr sz="1950" b="0">
                <a:solidFill>
                  <a:srgbClr val="17313D"/>
                </a:solidFill>
                <a:latin typeface="Arial"/>
                <a:ea typeface="Arial"/>
                <a:cs typeface="Arial"/>
              </a:rPr>
              <a:t>Fit classifiers on clean training data. Select settings on validation.</a:t>
            </a:r>
          </a:p>
        </p:txBody>
      </p:sp>
      <p:sp>
        <p:nvSpPr>
          <p:cNvPr id="11" name="next-reuse-scope">
            <a:extLst>
              <a:ext uri="{FF2B5EF4-FFF2-40B4-BE49-F238E27FC236}">
                <ns2:creationId id="{491BEB4B-5BFD-49F4-ABBE-DE1245DF0C38}"/>
              </a:ext>
            </a:extLst>
          </p:cNvPr>
          <p:cNvSpPr>
            <a:spLocks noGrp="1"/>
          </p:cNvSpPr>
          <p:nvPr/>
        </p:nvSpPr>
        <p:spPr>
          <a:xfrm>
            <a:off x="609600" y="4562475"/>
            <a:ext cx="10972800" cy="342900"/>
          </a:xfrm>
          <a:prstGeom prst="rect">
            <a:avLst/>
          </a:prstGeom>
          <a:noFill/>
          <a:ln w="0">
            <a:noFill/>
          </a:ln>
        </p:spPr>
        <p:txBody>
          <a:bodyPr wrap="square" lIns="0" tIns="0" rIns="0" bIns="0" anchor="t">
            <a:noAutofit/>
          </a:bodyPr>
          <a:lstStyle>
            <a:defPPr>
              <a:defRPr sz="1725" b="0">
                <a:solidFill>
                  <a:srgbClr val="52616A"/>
                </a:solidFill>
                <a:latin typeface="Arial"/>
                <a:ea typeface="Arial"/>
                <a:cs typeface="Arial"/>
              </a:defRPr>
            </a:defPPr>
            <a:lvl1pPr>
              <a:defRPr sz="1725" b="0">
                <a:solidFill>
                  <a:srgbClr val="52616A"/>
                </a:solidFill>
                <a:latin typeface="Arial"/>
                <a:ea typeface="Arial"/>
                <a:cs typeface="Arial"/>
              </a:defRPr>
            </a:lvl1pPr>
            <a:lvl2pPr>
              <a:defRPr sz="1725" b="0">
                <a:solidFill>
                  <a:srgbClr val="52616A"/>
                </a:solidFill>
                <a:latin typeface="Arial"/>
                <a:ea typeface="Arial"/>
                <a:cs typeface="Arial"/>
              </a:defRPr>
            </a:lvl2pPr>
            <a:lvl3pPr>
              <a:defRPr sz="1725" b="0">
                <a:solidFill>
                  <a:srgbClr val="52616A"/>
                </a:solidFill>
                <a:latin typeface="Arial"/>
                <a:ea typeface="Arial"/>
                <a:cs typeface="Arial"/>
              </a:defRPr>
            </a:lvl3pPr>
            <a:lvl4pPr>
              <a:defRPr sz="1725" b="0">
                <a:solidFill>
                  <a:srgbClr val="52616A"/>
                </a:solidFill>
                <a:latin typeface="Arial"/>
                <a:ea typeface="Arial"/>
                <a:cs typeface="Arial"/>
              </a:defRPr>
            </a:lvl4pPr>
            <a:lvl5pPr>
              <a:defRPr sz="1725" b="0">
                <a:solidFill>
                  <a:srgbClr val="52616A"/>
                </a:solidFill>
                <a:latin typeface="Arial"/>
                <a:ea typeface="Arial"/>
                <a:cs typeface="Arial"/>
              </a:defRPr>
            </a:lvl5pPr>
            <a:lvl6pPr>
              <a:defRPr sz="1725" b="0">
                <a:solidFill>
                  <a:srgbClr val="52616A"/>
                </a:solidFill>
                <a:latin typeface="Arial"/>
                <a:ea typeface="Arial"/>
                <a:cs typeface="Arial"/>
              </a:defRPr>
            </a:lvl6pPr>
            <a:lvl7pPr>
              <a:defRPr sz="1725" b="0">
                <a:solidFill>
                  <a:srgbClr val="52616A"/>
                </a:solidFill>
                <a:latin typeface="Arial"/>
                <a:ea typeface="Arial"/>
                <a:cs typeface="Arial"/>
              </a:defRPr>
            </a:lvl7pPr>
            <a:lvl8pPr>
              <a:defRPr sz="1725" b="0">
                <a:solidFill>
                  <a:srgbClr val="52616A"/>
                </a:solidFill>
                <a:latin typeface="Arial"/>
                <a:ea typeface="Arial"/>
                <a:cs typeface="Arial"/>
              </a:defRPr>
            </a:lvl8pPr>
            <a:lvl9pPr>
              <a:defRPr sz="1725" b="0">
                <a:solidFill>
                  <a:srgbClr val="52616A"/>
                </a:solidFill>
                <a:latin typeface="Arial"/>
                <a:ea typeface="Arial"/>
                <a:cs typeface="Arial"/>
              </a:defRPr>
            </a:lvl9pPr>
          </a:lstStyle>
          <a:p>
            <a:pPr>
              <a:defRPr sz="1725" b="0">
                <a:solidFill>
                  <a:srgbClr val="52616A"/>
                </a:solidFill>
                <a:latin typeface="Arial"/>
                <a:ea typeface="Arial"/>
                <a:cs typeface="Arial"/>
              </a:defRPr>
            </a:pPr>
            <a:r>
              <a:rPr sz="1725" b="0">
                <a:solidFill>
                  <a:srgbClr val="52616A"/>
                </a:solidFill>
                <a:latin typeface="Arial"/>
                <a:ea typeface="Arial"/>
                <a:cs typeface="Arial"/>
              </a:rPr>
              <a:t>Planned checks. Both reuse previously evaluated images.</a:t>
            </a:r>
          </a:p>
        </p:txBody>
      </p:sp>
    </p:spTree>
    <p:extLst>
      <p:ext uri="{BB962C8B-B14F-4D97-AF65-F5344CB8AC3E}">
        <ns4:creationId val="1332106962"/>
      </p:ext>
    </p:extLst>
  </p:cSld>
</p:sld>
</file>

<file path=ppt/slides/slide13.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87D1F65-95B5-4509-B83E-091A01FEFF56}"/>
              </a:ext>
            </a:extLst>
          </p:cNvPr>
          <p:cNvSpPr>
            <a:spLocks xmlns:a="http://schemas.openxmlformats.org/drawingml/2006/main" noGrp="1"/>
          </p:cNvSpPr>
          <p:nvPr/>
        </p:nvSpPr>
        <p:spPr>
          <a:xfrm xmlns:a="http://schemas.openxmlformats.org/drawingml/2006/main">
            <a:off x="609600" y="409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13D"/>
                </a:solidFill>
                <a:latin typeface="Arial"/>
                <a:ea typeface="Arial"/>
                <a:cs typeface="Arial"/>
              </a:defRPr>
            </a:defPPr>
            <a:lvl1pPr>
              <a:defRPr sz="3150" b="1">
                <a:solidFill>
                  <a:srgbClr val="17313D"/>
                </a:solidFill>
                <a:latin typeface="Arial"/>
                <a:ea typeface="Arial"/>
                <a:cs typeface="Arial"/>
              </a:defRPr>
            </a:lvl1pPr>
            <a:lvl2pPr>
              <a:defRPr sz="3150" b="1">
                <a:solidFill>
                  <a:srgbClr val="17313D"/>
                </a:solidFill>
                <a:latin typeface="Arial"/>
                <a:ea typeface="Arial"/>
                <a:cs typeface="Arial"/>
              </a:defRPr>
            </a:lvl2pPr>
            <a:lvl3pPr>
              <a:defRPr sz="3150" b="1">
                <a:solidFill>
                  <a:srgbClr val="17313D"/>
                </a:solidFill>
                <a:latin typeface="Arial"/>
                <a:ea typeface="Arial"/>
                <a:cs typeface="Arial"/>
              </a:defRPr>
            </a:lvl3pPr>
            <a:lvl4pPr>
              <a:defRPr sz="3150" b="1">
                <a:solidFill>
                  <a:srgbClr val="17313D"/>
                </a:solidFill>
                <a:latin typeface="Arial"/>
                <a:ea typeface="Arial"/>
                <a:cs typeface="Arial"/>
              </a:defRPr>
            </a:lvl4pPr>
            <a:lvl5pPr>
              <a:defRPr sz="3150" b="1">
                <a:solidFill>
                  <a:srgbClr val="17313D"/>
                </a:solidFill>
                <a:latin typeface="Arial"/>
                <a:ea typeface="Arial"/>
                <a:cs typeface="Arial"/>
              </a:defRPr>
            </a:lvl5pPr>
            <a:lvl6pPr>
              <a:defRPr sz="3150" b="1">
                <a:solidFill>
                  <a:srgbClr val="17313D"/>
                </a:solidFill>
                <a:latin typeface="Arial"/>
                <a:ea typeface="Arial"/>
                <a:cs typeface="Arial"/>
              </a:defRPr>
            </a:lvl6pPr>
            <a:lvl7pPr>
              <a:defRPr sz="3150" b="1">
                <a:solidFill>
                  <a:srgbClr val="17313D"/>
                </a:solidFill>
                <a:latin typeface="Arial"/>
                <a:ea typeface="Arial"/>
                <a:cs typeface="Arial"/>
              </a:defRPr>
            </a:lvl7pPr>
            <a:lvl8pPr>
              <a:defRPr sz="3150" b="1">
                <a:solidFill>
                  <a:srgbClr val="17313D"/>
                </a:solidFill>
                <a:latin typeface="Arial"/>
                <a:ea typeface="Arial"/>
                <a:cs typeface="Arial"/>
              </a:defRPr>
            </a:lvl8pPr>
            <a:lvl9pPr>
              <a:defRPr sz="3150" b="1">
                <a:solidFill>
                  <a:srgbClr val="17313D"/>
                </a:solidFill>
                <a:latin typeface="Arial"/>
                <a:ea typeface="Arial"/>
                <a:cs typeface="Arial"/>
              </a:defRPr>
            </a:lvl9pPr>
          </a:lstStyle>
          <a:p xmlns:a="http://schemas.openxmlformats.org/drawingml/2006/main">
            <a:pPr>
              <a:defRPr sz="3150" b="1">
                <a:solidFill>
                  <a:srgbClr val="17313D"/>
                </a:solidFill>
                <a:latin typeface="Arial"/>
                <a:ea typeface="Arial"/>
                <a:cs typeface="Arial"/>
              </a:defRPr>
            </a:pPr>
            <a:r>
              <a:rPr sz="3150" b="1">
                <a:solidFill>
                  <a:srgbClr val="17313D"/>
                </a:solidFill>
                <a:latin typeface="Arial"/>
                <a:ea typeface="Arial"/>
                <a:cs typeface="Arial"/>
              </a:rPr>
              <a:t>Backup: full accuracy table and uncertainty</a:t>
            </a:r>
          </a:p>
        </p:txBody>
      </p:sp>
      <p:graphicFrame>
        <p:nvGraphicFramePr>
          <p:cNvPr id="2" name="">
            <a:extLst xmlns:a="http://schemas.openxmlformats.org/drawingml/2006/main">
              <a:ext uri="{FF2B5EF4-FFF2-40B4-BE49-F238E27FC236}">
                <a16:creationId xmlns:a16="http://schemas.microsoft.com/office/drawing/2014/main" id="{632B6E32-0B61-4040-A0E4-23E7DFAD9AB5}"/>
              </a:ext>
            </a:extLst>
          </p:cNvPr>
          <p:cNvGraphicFramePr/>
          <p:nvPr/>
        </p:nvGraphicFramePr>
        <p:xfrm>
          <a:off xmlns:a="http://schemas.openxmlformats.org/drawingml/2006/main" x="609600" y="1685925"/>
          <a:ext xmlns:a="http://schemas.openxmlformats.org/drawingml/2006/main" cx="10972800" cy="2524125"/>
        </p:xfrm>
        <a:graphic xmlns:a="http://schemas.openxmlformats.org/drawingml/2006/main">
          <a:graphicData uri="http://schemas.openxmlformats.org/drawingml/2006/table">
            <a:tbl>
              <a:tblPr/>
              <a:tblGrid>
                <a:gridCol w="2809875"/>
                <a:gridCol w="1628775"/>
                <a:gridCol w="1628775"/>
                <a:gridCol w="1628775"/>
                <a:gridCol w="1638300"/>
                <a:gridCol w="1638300"/>
              </a:tblGrid>
              <a:tr h="504825">
                <a:tc>
                  <a:txBody>
                    <a:bodyPr/>
                    <a:lstStyle/>
                    <a:p>
                      <a:r>
                        <a:rPr sz="1725" b="1">
                          <a:solidFill>
                            <a:srgbClr val="007F7B"/>
                          </a:solidFill>
                          <a:latin typeface="Arial"/>
                          <a:ea typeface="Arial"/>
                          <a:cs typeface="Arial"/>
                        </a:rPr>
                        <a:t>Model / fill</a:t>
                      </a:r>
                    </a:p>
                  </a:txBody>
                  <a:tcPr marL="91440" marR="91440" marT="45720" marB="45720" anchor="ctr">
                    <a:lnL w="4763">
                      <a:solidFill>
                        <a:srgbClr val="D8E1E4"/>
                      </a:solidFill>
                      <a:prstDash val="solid"/>
                    </a:lnL>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725" b="1">
                          <a:solidFill>
                            <a:srgbClr val="007F7B"/>
                          </a:solidFill>
                          <a:latin typeface="Arial"/>
                          <a:ea typeface="Arial"/>
                          <a:cs typeface="Arial"/>
                        </a:rPr>
                        <a:t>Clean</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725" b="1">
                          <a:solidFill>
                            <a:srgbClr val="007F7B"/>
                          </a:solidFill>
                          <a:latin typeface="Arial"/>
                          <a:ea typeface="Arial"/>
                          <a:cs typeface="Arial"/>
                        </a:rPr>
                        <a:t>Prefix</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725" b="1">
                          <a:solidFill>
                            <a:srgbClr val="007F7B"/>
                          </a:solidFill>
                          <a:latin typeface="Arial"/>
                          <a:ea typeface="Arial"/>
                          <a:cs typeface="Arial"/>
                        </a:rPr>
                        <a:t>Suffix</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725" b="1">
                          <a:solidFill>
                            <a:srgbClr val="007F7B"/>
                          </a:solidFill>
                          <a:latin typeface="Arial"/>
                          <a:ea typeface="Arial"/>
                          <a:cs typeface="Arial"/>
                        </a:rPr>
                        <a:t>Center</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725" b="1">
                          <a:solidFill>
                            <a:srgbClr val="007F7B"/>
                          </a:solidFill>
                          <a:latin typeface="Arial"/>
                          <a:ea typeface="Arial"/>
                          <a:cs typeface="Arial"/>
                        </a:rPr>
                        <a:t>Random</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r>
              <a:tr h="504825">
                <a:tc>
                  <a:txBody>
                    <a:bodyPr/>
                    <a:lstStyle/>
                    <a:p>
                      <a:r>
                        <a:rPr sz="1725" b="0">
                          <a:solidFill>
                            <a:srgbClr val="17313D"/>
                          </a:solidFill>
                          <a:latin typeface="Arial"/>
                          <a:ea typeface="Arial"/>
                          <a:cs typeface="Arial"/>
                        </a:rPr>
                        <a:t>AIMv2 / gray</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93.5%</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46.6%</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28.6%</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87.0%</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33.6%</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04825">
                <a:tc>
                  <a:txBody>
                    <a:bodyPr/>
                    <a:lstStyle/>
                    <a:p>
                      <a:r>
                        <a:rPr sz="1725" b="0">
                          <a:solidFill>
                            <a:srgbClr val="17313D"/>
                          </a:solidFill>
                          <a:latin typeface="Arial"/>
                          <a:ea typeface="Arial"/>
                          <a:cs typeface="Arial"/>
                        </a:rPr>
                        <a:t>DINOv2 / gray</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84.6%</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26.6%</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26.5%</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63.1%</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69.6%</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04825">
                <a:tc>
                  <a:txBody>
                    <a:bodyPr/>
                    <a:lstStyle/>
                    <a:p>
                      <a:r>
                        <a:rPr sz="1725" b="0">
                          <a:solidFill>
                            <a:srgbClr val="17313D"/>
                          </a:solidFill>
                          <a:latin typeface="Arial"/>
                          <a:ea typeface="Arial"/>
                          <a:cs typeface="Arial"/>
                        </a:rPr>
                        <a:t>AIMv2 / black</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93.5%</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44.5%</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28.5%</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87.3%</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30.4%</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04825">
                <a:tc>
                  <a:txBody>
                    <a:bodyPr/>
                    <a:lstStyle/>
                    <a:p>
                      <a:r>
                        <a:rPr sz="1725" b="0">
                          <a:solidFill>
                            <a:srgbClr val="17313D"/>
                          </a:solidFill>
                          <a:latin typeface="Arial"/>
                          <a:ea typeface="Arial"/>
                          <a:cs typeface="Arial"/>
                        </a:rPr>
                        <a:t>DINOv2 / black</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84.6%</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28.8%</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29.3%</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61.9%</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62.2%</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A667EFB9-7C92-4193-9865-DF284CF0D09C}"/>
              </a:ext>
            </a:extLst>
          </p:cNvPr>
          <p:cNvSpPr>
            <a:spLocks xmlns:a="http://schemas.openxmlformats.org/drawingml/2006/main" noGrp="1"/>
          </p:cNvSpPr>
          <p:nvPr/>
        </p:nvSpPr>
        <p:spPr>
          <a:xfrm xmlns:a="http://schemas.openxmlformats.org/drawingml/2006/main">
            <a:off x="609600" y="4667250"/>
            <a:ext cx="108585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313D"/>
                </a:solidFill>
                <a:latin typeface="Arial"/>
                <a:ea typeface="Arial"/>
                <a:cs typeface="Arial"/>
              </a:defRPr>
            </a:defPPr>
            <a:lvl1pPr>
              <a:defRPr sz="1875" b="0">
                <a:solidFill>
                  <a:srgbClr val="17313D"/>
                </a:solidFill>
                <a:latin typeface="Arial"/>
                <a:ea typeface="Arial"/>
                <a:cs typeface="Arial"/>
              </a:defRPr>
            </a:lvl1pPr>
            <a:lvl2pPr>
              <a:defRPr sz="1875" b="0">
                <a:solidFill>
                  <a:srgbClr val="17313D"/>
                </a:solidFill>
                <a:latin typeface="Arial"/>
                <a:ea typeface="Arial"/>
                <a:cs typeface="Arial"/>
              </a:defRPr>
            </a:lvl2pPr>
            <a:lvl3pPr>
              <a:defRPr sz="1875" b="0">
                <a:solidFill>
                  <a:srgbClr val="17313D"/>
                </a:solidFill>
                <a:latin typeface="Arial"/>
                <a:ea typeface="Arial"/>
                <a:cs typeface="Arial"/>
              </a:defRPr>
            </a:lvl3pPr>
            <a:lvl4pPr>
              <a:defRPr sz="1875" b="0">
                <a:solidFill>
                  <a:srgbClr val="17313D"/>
                </a:solidFill>
                <a:latin typeface="Arial"/>
                <a:ea typeface="Arial"/>
                <a:cs typeface="Arial"/>
              </a:defRPr>
            </a:lvl4pPr>
            <a:lvl5pPr>
              <a:defRPr sz="1875" b="0">
                <a:solidFill>
                  <a:srgbClr val="17313D"/>
                </a:solidFill>
                <a:latin typeface="Arial"/>
                <a:ea typeface="Arial"/>
                <a:cs typeface="Arial"/>
              </a:defRPr>
            </a:lvl5pPr>
            <a:lvl6pPr>
              <a:defRPr sz="1875" b="0">
                <a:solidFill>
                  <a:srgbClr val="17313D"/>
                </a:solidFill>
                <a:latin typeface="Arial"/>
                <a:ea typeface="Arial"/>
                <a:cs typeface="Arial"/>
              </a:defRPr>
            </a:lvl6pPr>
            <a:lvl7pPr>
              <a:defRPr sz="1875" b="0">
                <a:solidFill>
                  <a:srgbClr val="17313D"/>
                </a:solidFill>
                <a:latin typeface="Arial"/>
                <a:ea typeface="Arial"/>
                <a:cs typeface="Arial"/>
              </a:defRPr>
            </a:lvl7pPr>
            <a:lvl8pPr>
              <a:defRPr sz="1875" b="0">
                <a:solidFill>
                  <a:srgbClr val="17313D"/>
                </a:solidFill>
                <a:latin typeface="Arial"/>
                <a:ea typeface="Arial"/>
                <a:cs typeface="Arial"/>
              </a:defRPr>
            </a:lvl8pPr>
            <a:lvl9pPr>
              <a:defRPr sz="1875" b="0">
                <a:solidFill>
                  <a:srgbClr val="17313D"/>
                </a:solidFill>
                <a:latin typeface="Arial"/>
                <a:ea typeface="Arial"/>
                <a:cs typeface="Arial"/>
              </a:defRPr>
            </a:lvl9pPr>
          </a:lstStyle>
          <a:p xmlns:a="http://schemas.openxmlformats.org/drawingml/2006/main">
            <a:pPr>
              <a:defRPr sz="1875" b="0">
                <a:solidFill>
                  <a:srgbClr val="17313D"/>
                </a:solidFill>
                <a:latin typeface="Arial"/>
                <a:ea typeface="Arial"/>
                <a:cs typeface="Arial"/>
              </a:defRPr>
            </a:pPr>
            <a:r>
              <a:rPr sz="1875" b="0">
                <a:solidFill>
                  <a:srgbClr val="17313D"/>
                </a:solidFill>
                <a:latin typeface="Arial"/>
                <a:ea typeface="Arial"/>
                <a:cs typeface="Arial"/>
              </a:rPr>
              <a:t>Clean = 100% image visible. All other columns = 25% image visible.</a:t>
            </a:r>
          </a:p>
          <a:p xmlns:a="http://schemas.openxmlformats.org/drawingml/2006/main">
            <a:pPr>
              <a:defRPr sz="1875" b="0">
                <a:solidFill>
                  <a:srgbClr val="17313D"/>
                </a:solidFill>
                <a:latin typeface="Arial"/>
                <a:ea typeface="Arial"/>
                <a:cs typeface="Arial"/>
              </a:defRPr>
            </a:pPr>
            <a:r>
              <a:rPr sz="1875" b="0">
                <a:solidFill>
                  <a:srgbClr val="17313D"/>
                </a:solidFill>
                <a:latin typeface="Arial"/>
                <a:ea typeface="Arial"/>
                <a:cs typeface="Arial"/>
              </a:rPr>
              <a:t>10,000 breed-stratified image bootstrap resamples, repeated masks kept together.</a:t>
            </a:r>
          </a:p>
          <a:p xmlns:a="http://schemas.openxmlformats.org/drawingml/2006/main">
            <a:pPr>
              <a:defRPr sz="1875" b="0">
                <a:solidFill>
                  <a:srgbClr val="17313D"/>
                </a:solidFill>
                <a:latin typeface="Arial"/>
                <a:ea typeface="Arial"/>
                <a:cs typeface="Arial"/>
              </a:defRPr>
            </a:pPr>
            <a:r>
              <a:rPr sz="1875" b="0">
                <a:solidFill>
                  <a:srgbClr val="17313D"/>
                </a:solidFill>
                <a:latin typeface="Arial"/>
                <a:ea typeface="Arial"/>
                <a:cs typeface="Arial"/>
              </a:rPr>
              <a:t>Seven planned contrasts receive Bonferroni simultaneous 95% intervals.</a:t>
            </a:r>
          </a:p>
          <a:p xmlns:a="http://schemas.openxmlformats.org/drawingml/2006/main">
            <a:pPr>
              <a:defRPr sz="1875" b="0">
                <a:solidFill>
                  <a:srgbClr val="17313D"/>
                </a:solidFill>
                <a:latin typeface="Arial"/>
                <a:ea typeface="Arial"/>
                <a:cs typeface="Arial"/>
              </a:defRPr>
            </a:pPr>
            <a:r>
              <a:rPr sz="1875" b="0">
                <a:solidFill>
                  <a:srgbClr val="17313D"/>
                </a:solidFill>
                <a:latin typeface="Arial"/>
                <a:ea typeface="Arial"/>
                <a:cs typeface="Arial"/>
              </a:rPr>
              <a:t>Intervals condition on the fixed encoders and classifiers.</a:t>
            </a:r>
          </a:p>
        </p:txBody>
      </p:sp>
    </p:spTree>
    <p:extLst>
      <p:ext uri="{BB962C8B-B14F-4D97-AF65-F5344CB8AC3E}">
        <p14:creationId xmlns:p14="http://schemas.microsoft.com/office/powerpoint/2010/main" val="37309292"/>
      </p:ext>
    </p:extLst>
  </p:cSld>
</p:sld>
</file>

<file path=ppt/slides/slide14.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C70E1D1-15F1-427E-8704-BD12CB101467}"/>
              </a:ext>
            </a:extLst>
          </p:cNvPr>
          <p:cNvSpPr>
            <a:spLocks xmlns:a="http://schemas.openxmlformats.org/drawingml/2006/main" noGrp="1"/>
          </p:cNvSpPr>
          <p:nvPr/>
        </p:nvSpPr>
        <p:spPr>
          <a:xfrm xmlns:a="http://schemas.openxmlformats.org/drawingml/2006/main">
            <a:off x="609600" y="409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13D"/>
                </a:solidFill>
                <a:latin typeface="Arial"/>
                <a:ea typeface="Arial"/>
                <a:cs typeface="Arial"/>
              </a:defRPr>
            </a:defPPr>
            <a:lvl1pPr>
              <a:defRPr sz="3150" b="1">
                <a:solidFill>
                  <a:srgbClr val="17313D"/>
                </a:solidFill>
                <a:latin typeface="Arial"/>
                <a:ea typeface="Arial"/>
                <a:cs typeface="Arial"/>
              </a:defRPr>
            </a:lvl1pPr>
            <a:lvl2pPr>
              <a:defRPr sz="3150" b="1">
                <a:solidFill>
                  <a:srgbClr val="17313D"/>
                </a:solidFill>
                <a:latin typeface="Arial"/>
                <a:ea typeface="Arial"/>
                <a:cs typeface="Arial"/>
              </a:defRPr>
            </a:lvl2pPr>
            <a:lvl3pPr>
              <a:defRPr sz="3150" b="1">
                <a:solidFill>
                  <a:srgbClr val="17313D"/>
                </a:solidFill>
                <a:latin typeface="Arial"/>
                <a:ea typeface="Arial"/>
                <a:cs typeface="Arial"/>
              </a:defRPr>
            </a:lvl3pPr>
            <a:lvl4pPr>
              <a:defRPr sz="3150" b="1">
                <a:solidFill>
                  <a:srgbClr val="17313D"/>
                </a:solidFill>
                <a:latin typeface="Arial"/>
                <a:ea typeface="Arial"/>
                <a:cs typeface="Arial"/>
              </a:defRPr>
            </a:lvl4pPr>
            <a:lvl5pPr>
              <a:defRPr sz="3150" b="1">
                <a:solidFill>
                  <a:srgbClr val="17313D"/>
                </a:solidFill>
                <a:latin typeface="Arial"/>
                <a:ea typeface="Arial"/>
                <a:cs typeface="Arial"/>
              </a:defRPr>
            </a:lvl5pPr>
            <a:lvl6pPr>
              <a:defRPr sz="3150" b="1">
                <a:solidFill>
                  <a:srgbClr val="17313D"/>
                </a:solidFill>
                <a:latin typeface="Arial"/>
                <a:ea typeface="Arial"/>
                <a:cs typeface="Arial"/>
              </a:defRPr>
            </a:lvl6pPr>
            <a:lvl7pPr>
              <a:defRPr sz="3150" b="1">
                <a:solidFill>
                  <a:srgbClr val="17313D"/>
                </a:solidFill>
                <a:latin typeface="Arial"/>
                <a:ea typeface="Arial"/>
                <a:cs typeface="Arial"/>
              </a:defRPr>
            </a:lvl7pPr>
            <a:lvl8pPr>
              <a:defRPr sz="3150" b="1">
                <a:solidFill>
                  <a:srgbClr val="17313D"/>
                </a:solidFill>
                <a:latin typeface="Arial"/>
                <a:ea typeface="Arial"/>
                <a:cs typeface="Arial"/>
              </a:defRPr>
            </a:lvl8pPr>
            <a:lvl9pPr>
              <a:defRPr sz="3150" b="1">
                <a:solidFill>
                  <a:srgbClr val="17313D"/>
                </a:solidFill>
                <a:latin typeface="Arial"/>
                <a:ea typeface="Arial"/>
                <a:cs typeface="Arial"/>
              </a:defRPr>
            </a:lvl9pPr>
          </a:lstStyle>
          <a:p xmlns:a="http://schemas.openxmlformats.org/drawingml/2006/main">
            <a:pPr>
              <a:defRPr sz="3150" b="1">
                <a:solidFill>
                  <a:srgbClr val="17313D"/>
                </a:solidFill>
                <a:latin typeface="Arial"/>
                <a:ea typeface="Arial"/>
                <a:cs typeface="Arial"/>
              </a:defRPr>
            </a:pPr>
            <a:r>
              <a:rPr sz="3150" b="1">
                <a:solidFill>
                  <a:srgbClr val="17313D"/>
                </a:solidFill>
                <a:latin typeface="Arial"/>
                <a:ea typeface="Arial"/>
                <a:cs typeface="Arial"/>
              </a:rPr>
              <a:t>Backup: sources and reproducible evidence</a:t>
            </a:r>
          </a:p>
        </p:txBody>
      </p:sp>
      <p:sp>
        <p:nvSpPr>
          <p:cNvPr id="2" name="">
            <a:extLst xmlns:a="http://schemas.openxmlformats.org/drawingml/2006/main">
              <a:ext uri="{FF2B5EF4-FFF2-40B4-BE49-F238E27FC236}">
                <a16:creationId xmlns:a16="http://schemas.microsoft.com/office/drawing/2014/main" id="{E337DF23-5BD9-49C9-A485-4EBF78A36581}"/>
              </a:ext>
            </a:extLst>
          </p:cNvPr>
          <p:cNvSpPr>
            <a:spLocks xmlns:a="http://schemas.openxmlformats.org/drawingml/2006/main" noGrp="1"/>
          </p:cNvSpPr>
          <p:nvPr/>
        </p:nvSpPr>
        <p:spPr>
          <a:xfrm xmlns:a="http://schemas.openxmlformats.org/drawingml/2006/main">
            <a:off x="609600" y="16954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07F7B"/>
                </a:solidFill>
                <a:latin typeface="Arial"/>
                <a:ea typeface="Arial"/>
                <a:cs typeface="Arial"/>
              </a:defRPr>
            </a:defPPr>
            <a:lvl1pPr>
              <a:defRPr sz="1950" b="1">
                <a:solidFill>
                  <a:srgbClr val="007F7B"/>
                </a:solidFill>
                <a:latin typeface="Arial"/>
                <a:ea typeface="Arial"/>
                <a:cs typeface="Arial"/>
              </a:defRPr>
            </a:lvl1pPr>
            <a:lvl2pPr>
              <a:defRPr sz="1950" b="1">
                <a:solidFill>
                  <a:srgbClr val="007F7B"/>
                </a:solidFill>
                <a:latin typeface="Arial"/>
                <a:ea typeface="Arial"/>
                <a:cs typeface="Arial"/>
              </a:defRPr>
            </a:lvl2pPr>
            <a:lvl3pPr>
              <a:defRPr sz="1950" b="1">
                <a:solidFill>
                  <a:srgbClr val="007F7B"/>
                </a:solidFill>
                <a:latin typeface="Arial"/>
                <a:ea typeface="Arial"/>
                <a:cs typeface="Arial"/>
              </a:defRPr>
            </a:lvl3pPr>
            <a:lvl4pPr>
              <a:defRPr sz="1950" b="1">
                <a:solidFill>
                  <a:srgbClr val="007F7B"/>
                </a:solidFill>
                <a:latin typeface="Arial"/>
                <a:ea typeface="Arial"/>
                <a:cs typeface="Arial"/>
              </a:defRPr>
            </a:lvl4pPr>
            <a:lvl5pPr>
              <a:defRPr sz="1950" b="1">
                <a:solidFill>
                  <a:srgbClr val="007F7B"/>
                </a:solidFill>
                <a:latin typeface="Arial"/>
                <a:ea typeface="Arial"/>
                <a:cs typeface="Arial"/>
              </a:defRPr>
            </a:lvl5pPr>
            <a:lvl6pPr>
              <a:defRPr sz="1950" b="1">
                <a:solidFill>
                  <a:srgbClr val="007F7B"/>
                </a:solidFill>
                <a:latin typeface="Arial"/>
                <a:ea typeface="Arial"/>
                <a:cs typeface="Arial"/>
              </a:defRPr>
            </a:lvl6pPr>
            <a:lvl7pPr>
              <a:defRPr sz="1950" b="1">
                <a:solidFill>
                  <a:srgbClr val="007F7B"/>
                </a:solidFill>
                <a:latin typeface="Arial"/>
                <a:ea typeface="Arial"/>
                <a:cs typeface="Arial"/>
              </a:defRPr>
            </a:lvl7pPr>
            <a:lvl8pPr>
              <a:defRPr sz="1950" b="1">
                <a:solidFill>
                  <a:srgbClr val="007F7B"/>
                </a:solidFill>
                <a:latin typeface="Arial"/>
                <a:ea typeface="Arial"/>
                <a:cs typeface="Arial"/>
              </a:defRPr>
            </a:lvl8pPr>
            <a:lvl9pPr>
              <a:defRPr sz="1950" b="1">
                <a:solidFill>
                  <a:srgbClr val="007F7B"/>
                </a:solidFill>
                <a:latin typeface="Arial"/>
                <a:ea typeface="Arial"/>
                <a:cs typeface="Arial"/>
              </a:defRPr>
            </a:lvl9pPr>
          </a:lstStyle>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hlinkClick xmlns:r="http://schemas.openxmlformats.org/officeDocument/2006/relationships" r:id="R34f29befb3ad43a4"/>
              </a:rPr>
              <a:t>Oxford-IIIT Pet, Parkhi et al. (2012)</a:t>
            </a:r>
          </a:p>
        </p:txBody>
      </p:sp>
      <p:sp>
        <p:nvSpPr>
          <p:cNvPr id="3" name="">
            <a:extLst xmlns:a="http://schemas.openxmlformats.org/drawingml/2006/main">
              <a:ext uri="{FF2B5EF4-FFF2-40B4-BE49-F238E27FC236}">
                <a16:creationId xmlns:a16="http://schemas.microsoft.com/office/drawing/2014/main" id="{16D4D6BF-CA28-48B0-A0C4-FC6F88A89246}"/>
              </a:ext>
            </a:extLst>
          </p:cNvPr>
          <p:cNvSpPr>
            <a:spLocks xmlns:a="http://schemas.openxmlformats.org/drawingml/2006/main" noGrp="1"/>
          </p:cNvSpPr>
          <p:nvPr/>
        </p:nvSpPr>
        <p:spPr>
          <a:xfrm xmlns:a="http://schemas.openxmlformats.org/drawingml/2006/main">
            <a:off x="609600" y="23145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07F7B"/>
                </a:solidFill>
                <a:latin typeface="Arial"/>
                <a:ea typeface="Arial"/>
                <a:cs typeface="Arial"/>
              </a:defRPr>
            </a:defPPr>
            <a:lvl1pPr>
              <a:defRPr sz="1950" b="1">
                <a:solidFill>
                  <a:srgbClr val="007F7B"/>
                </a:solidFill>
                <a:latin typeface="Arial"/>
                <a:ea typeface="Arial"/>
                <a:cs typeface="Arial"/>
              </a:defRPr>
            </a:lvl1pPr>
            <a:lvl2pPr>
              <a:defRPr sz="1950" b="1">
                <a:solidFill>
                  <a:srgbClr val="007F7B"/>
                </a:solidFill>
                <a:latin typeface="Arial"/>
                <a:ea typeface="Arial"/>
                <a:cs typeface="Arial"/>
              </a:defRPr>
            </a:lvl2pPr>
            <a:lvl3pPr>
              <a:defRPr sz="1950" b="1">
                <a:solidFill>
                  <a:srgbClr val="007F7B"/>
                </a:solidFill>
                <a:latin typeface="Arial"/>
                <a:ea typeface="Arial"/>
                <a:cs typeface="Arial"/>
              </a:defRPr>
            </a:lvl3pPr>
            <a:lvl4pPr>
              <a:defRPr sz="1950" b="1">
                <a:solidFill>
                  <a:srgbClr val="007F7B"/>
                </a:solidFill>
                <a:latin typeface="Arial"/>
                <a:ea typeface="Arial"/>
                <a:cs typeface="Arial"/>
              </a:defRPr>
            </a:lvl4pPr>
            <a:lvl5pPr>
              <a:defRPr sz="1950" b="1">
                <a:solidFill>
                  <a:srgbClr val="007F7B"/>
                </a:solidFill>
                <a:latin typeface="Arial"/>
                <a:ea typeface="Arial"/>
                <a:cs typeface="Arial"/>
              </a:defRPr>
            </a:lvl5pPr>
            <a:lvl6pPr>
              <a:defRPr sz="1950" b="1">
                <a:solidFill>
                  <a:srgbClr val="007F7B"/>
                </a:solidFill>
                <a:latin typeface="Arial"/>
                <a:ea typeface="Arial"/>
                <a:cs typeface="Arial"/>
              </a:defRPr>
            </a:lvl6pPr>
            <a:lvl7pPr>
              <a:defRPr sz="1950" b="1">
                <a:solidFill>
                  <a:srgbClr val="007F7B"/>
                </a:solidFill>
                <a:latin typeface="Arial"/>
                <a:ea typeface="Arial"/>
                <a:cs typeface="Arial"/>
              </a:defRPr>
            </a:lvl7pPr>
            <a:lvl8pPr>
              <a:defRPr sz="1950" b="1">
                <a:solidFill>
                  <a:srgbClr val="007F7B"/>
                </a:solidFill>
                <a:latin typeface="Arial"/>
                <a:ea typeface="Arial"/>
                <a:cs typeface="Arial"/>
              </a:defRPr>
            </a:lvl8pPr>
            <a:lvl9pPr>
              <a:defRPr sz="1950" b="1">
                <a:solidFill>
                  <a:srgbClr val="007F7B"/>
                </a:solidFill>
                <a:latin typeface="Arial"/>
                <a:ea typeface="Arial"/>
                <a:cs typeface="Arial"/>
              </a:defRPr>
            </a:lvl9pPr>
          </a:lstStyle>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hlinkClick xmlns:r="http://schemas.openxmlformats.org/officeDocument/2006/relationships" r:id="R943ccaea21d04fe0"/>
              </a:rPr>
              <a:t>Intriguing Properties of Vision Transformers / PatchDrop (2021)</a:t>
            </a:r>
          </a:p>
        </p:txBody>
      </p:sp>
      <p:sp>
        <p:nvSpPr>
          <p:cNvPr id="4" name="">
            <a:extLst xmlns:a="http://schemas.openxmlformats.org/drawingml/2006/main">
              <a:ext uri="{FF2B5EF4-FFF2-40B4-BE49-F238E27FC236}">
                <a16:creationId xmlns:a16="http://schemas.microsoft.com/office/drawing/2014/main" id="{9B0911D9-19DF-440A-ADED-E8371F227820}"/>
              </a:ext>
            </a:extLst>
          </p:cNvPr>
          <p:cNvSpPr>
            <a:spLocks xmlns:a="http://schemas.openxmlformats.org/drawingml/2006/main" noGrp="1"/>
          </p:cNvSpPr>
          <p:nvPr/>
        </p:nvSpPr>
        <p:spPr>
          <a:xfrm xmlns:a="http://schemas.openxmlformats.org/drawingml/2006/main">
            <a:off x="609600" y="29337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07F7B"/>
                </a:solidFill>
                <a:latin typeface="Arial"/>
                <a:ea typeface="Arial"/>
                <a:cs typeface="Arial"/>
              </a:defRPr>
            </a:defPPr>
            <a:lvl1pPr>
              <a:defRPr sz="1950" b="1">
                <a:solidFill>
                  <a:srgbClr val="007F7B"/>
                </a:solidFill>
                <a:latin typeface="Arial"/>
                <a:ea typeface="Arial"/>
                <a:cs typeface="Arial"/>
              </a:defRPr>
            </a:lvl1pPr>
            <a:lvl2pPr>
              <a:defRPr sz="1950" b="1">
                <a:solidFill>
                  <a:srgbClr val="007F7B"/>
                </a:solidFill>
                <a:latin typeface="Arial"/>
                <a:ea typeface="Arial"/>
                <a:cs typeface="Arial"/>
              </a:defRPr>
            </a:lvl2pPr>
            <a:lvl3pPr>
              <a:defRPr sz="1950" b="1">
                <a:solidFill>
                  <a:srgbClr val="007F7B"/>
                </a:solidFill>
                <a:latin typeface="Arial"/>
                <a:ea typeface="Arial"/>
                <a:cs typeface="Arial"/>
              </a:defRPr>
            </a:lvl3pPr>
            <a:lvl4pPr>
              <a:defRPr sz="1950" b="1">
                <a:solidFill>
                  <a:srgbClr val="007F7B"/>
                </a:solidFill>
                <a:latin typeface="Arial"/>
                <a:ea typeface="Arial"/>
                <a:cs typeface="Arial"/>
              </a:defRPr>
            </a:lvl4pPr>
            <a:lvl5pPr>
              <a:defRPr sz="1950" b="1">
                <a:solidFill>
                  <a:srgbClr val="007F7B"/>
                </a:solidFill>
                <a:latin typeface="Arial"/>
                <a:ea typeface="Arial"/>
                <a:cs typeface="Arial"/>
              </a:defRPr>
            </a:lvl5pPr>
            <a:lvl6pPr>
              <a:defRPr sz="1950" b="1">
                <a:solidFill>
                  <a:srgbClr val="007F7B"/>
                </a:solidFill>
                <a:latin typeface="Arial"/>
                <a:ea typeface="Arial"/>
                <a:cs typeface="Arial"/>
              </a:defRPr>
            </a:lvl6pPr>
            <a:lvl7pPr>
              <a:defRPr sz="1950" b="1">
                <a:solidFill>
                  <a:srgbClr val="007F7B"/>
                </a:solidFill>
                <a:latin typeface="Arial"/>
                <a:ea typeface="Arial"/>
                <a:cs typeface="Arial"/>
              </a:defRPr>
            </a:lvl7pPr>
            <a:lvl8pPr>
              <a:defRPr sz="1950" b="1">
                <a:solidFill>
                  <a:srgbClr val="007F7B"/>
                </a:solidFill>
                <a:latin typeface="Arial"/>
                <a:ea typeface="Arial"/>
                <a:cs typeface="Arial"/>
              </a:defRPr>
            </a:lvl8pPr>
            <a:lvl9pPr>
              <a:defRPr sz="1950" b="1">
                <a:solidFill>
                  <a:srgbClr val="007F7B"/>
                </a:solidFill>
                <a:latin typeface="Arial"/>
                <a:ea typeface="Arial"/>
                <a:cs typeface="Arial"/>
              </a:defRPr>
            </a:lvl9pPr>
          </a:lstStyle>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hlinkClick xmlns:r="http://schemas.openxmlformats.org/officeDocument/2006/relationships" r:id="R45ec92e7cdeb4710"/>
              </a:rPr>
              <a:t>Noise or Signal: The Role of Image Backgrounds (2020)</a:t>
            </a:r>
          </a:p>
        </p:txBody>
      </p:sp>
      <p:sp>
        <p:nvSpPr>
          <p:cNvPr id="5" name="">
            <a:extLst xmlns:a="http://schemas.openxmlformats.org/drawingml/2006/main">
              <a:ext uri="{FF2B5EF4-FFF2-40B4-BE49-F238E27FC236}">
                <a16:creationId xmlns:a16="http://schemas.microsoft.com/office/drawing/2014/main" id="{F5E1F38D-6ECC-4F74-A359-25C705FF2601}"/>
              </a:ext>
            </a:extLst>
          </p:cNvPr>
          <p:cNvSpPr>
            <a:spLocks xmlns:a="http://schemas.openxmlformats.org/drawingml/2006/main" noGrp="1"/>
          </p:cNvSpPr>
          <p:nvPr/>
        </p:nvSpPr>
        <p:spPr>
          <a:xfrm xmlns:a="http://schemas.openxmlformats.org/drawingml/2006/main">
            <a:off x="609600" y="3552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07F7B"/>
                </a:solidFill>
                <a:latin typeface="Arial"/>
                <a:ea typeface="Arial"/>
                <a:cs typeface="Arial"/>
              </a:defRPr>
            </a:defPPr>
            <a:lvl1pPr>
              <a:defRPr sz="1950" b="1">
                <a:solidFill>
                  <a:srgbClr val="007F7B"/>
                </a:solidFill>
                <a:latin typeface="Arial"/>
                <a:ea typeface="Arial"/>
                <a:cs typeface="Arial"/>
              </a:defRPr>
            </a:lvl1pPr>
            <a:lvl2pPr>
              <a:defRPr sz="1950" b="1">
                <a:solidFill>
                  <a:srgbClr val="007F7B"/>
                </a:solidFill>
                <a:latin typeface="Arial"/>
                <a:ea typeface="Arial"/>
                <a:cs typeface="Arial"/>
              </a:defRPr>
            </a:lvl2pPr>
            <a:lvl3pPr>
              <a:defRPr sz="1950" b="1">
                <a:solidFill>
                  <a:srgbClr val="007F7B"/>
                </a:solidFill>
                <a:latin typeface="Arial"/>
                <a:ea typeface="Arial"/>
                <a:cs typeface="Arial"/>
              </a:defRPr>
            </a:lvl3pPr>
            <a:lvl4pPr>
              <a:defRPr sz="1950" b="1">
                <a:solidFill>
                  <a:srgbClr val="007F7B"/>
                </a:solidFill>
                <a:latin typeface="Arial"/>
                <a:ea typeface="Arial"/>
                <a:cs typeface="Arial"/>
              </a:defRPr>
            </a:lvl4pPr>
            <a:lvl5pPr>
              <a:defRPr sz="1950" b="1">
                <a:solidFill>
                  <a:srgbClr val="007F7B"/>
                </a:solidFill>
                <a:latin typeface="Arial"/>
                <a:ea typeface="Arial"/>
                <a:cs typeface="Arial"/>
              </a:defRPr>
            </a:lvl5pPr>
            <a:lvl6pPr>
              <a:defRPr sz="1950" b="1">
                <a:solidFill>
                  <a:srgbClr val="007F7B"/>
                </a:solidFill>
                <a:latin typeface="Arial"/>
                <a:ea typeface="Arial"/>
                <a:cs typeface="Arial"/>
              </a:defRPr>
            </a:lvl6pPr>
            <a:lvl7pPr>
              <a:defRPr sz="1950" b="1">
                <a:solidFill>
                  <a:srgbClr val="007F7B"/>
                </a:solidFill>
                <a:latin typeface="Arial"/>
                <a:ea typeface="Arial"/>
                <a:cs typeface="Arial"/>
              </a:defRPr>
            </a:lvl7pPr>
            <a:lvl8pPr>
              <a:defRPr sz="1950" b="1">
                <a:solidFill>
                  <a:srgbClr val="007F7B"/>
                </a:solidFill>
                <a:latin typeface="Arial"/>
                <a:ea typeface="Arial"/>
                <a:cs typeface="Arial"/>
              </a:defRPr>
            </a:lvl8pPr>
            <a:lvl9pPr>
              <a:defRPr sz="1950" b="1">
                <a:solidFill>
                  <a:srgbClr val="007F7B"/>
                </a:solidFill>
                <a:latin typeface="Arial"/>
                <a:ea typeface="Arial"/>
                <a:cs typeface="Arial"/>
              </a:defRPr>
            </a:lvl9pPr>
          </a:lstStyle>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hlinkClick xmlns:r="http://schemas.openxmlformats.org/officeDocument/2006/relationships" r:id="R56eb9a5cec374c35"/>
              </a:rPr>
              <a:t>AIMv2, official implementation</a:t>
            </a:r>
          </a:p>
        </p:txBody>
      </p:sp>
      <p:sp>
        <p:nvSpPr>
          <p:cNvPr id="6" name="">
            <a:extLst xmlns:a="http://schemas.openxmlformats.org/drawingml/2006/main">
              <a:ext uri="{FF2B5EF4-FFF2-40B4-BE49-F238E27FC236}">
                <a16:creationId xmlns:a16="http://schemas.microsoft.com/office/drawing/2014/main" id="{19A6D753-78E1-4675-9D64-24E0B3B6EAE4}"/>
              </a:ext>
            </a:extLst>
          </p:cNvPr>
          <p:cNvSpPr>
            <a:spLocks xmlns:a="http://schemas.openxmlformats.org/drawingml/2006/main" noGrp="1"/>
          </p:cNvSpPr>
          <p:nvPr/>
        </p:nvSpPr>
        <p:spPr>
          <a:xfrm xmlns:a="http://schemas.openxmlformats.org/drawingml/2006/main">
            <a:off x="609600" y="41719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07F7B"/>
                </a:solidFill>
                <a:latin typeface="Arial"/>
                <a:ea typeface="Arial"/>
                <a:cs typeface="Arial"/>
              </a:defRPr>
            </a:defPPr>
            <a:lvl1pPr>
              <a:defRPr sz="1950" b="1">
                <a:solidFill>
                  <a:srgbClr val="007F7B"/>
                </a:solidFill>
                <a:latin typeface="Arial"/>
                <a:ea typeface="Arial"/>
                <a:cs typeface="Arial"/>
              </a:defRPr>
            </a:lvl1pPr>
            <a:lvl2pPr>
              <a:defRPr sz="1950" b="1">
                <a:solidFill>
                  <a:srgbClr val="007F7B"/>
                </a:solidFill>
                <a:latin typeface="Arial"/>
                <a:ea typeface="Arial"/>
                <a:cs typeface="Arial"/>
              </a:defRPr>
            </a:lvl2pPr>
            <a:lvl3pPr>
              <a:defRPr sz="1950" b="1">
                <a:solidFill>
                  <a:srgbClr val="007F7B"/>
                </a:solidFill>
                <a:latin typeface="Arial"/>
                <a:ea typeface="Arial"/>
                <a:cs typeface="Arial"/>
              </a:defRPr>
            </a:lvl3pPr>
            <a:lvl4pPr>
              <a:defRPr sz="1950" b="1">
                <a:solidFill>
                  <a:srgbClr val="007F7B"/>
                </a:solidFill>
                <a:latin typeface="Arial"/>
                <a:ea typeface="Arial"/>
                <a:cs typeface="Arial"/>
              </a:defRPr>
            </a:lvl4pPr>
            <a:lvl5pPr>
              <a:defRPr sz="1950" b="1">
                <a:solidFill>
                  <a:srgbClr val="007F7B"/>
                </a:solidFill>
                <a:latin typeface="Arial"/>
                <a:ea typeface="Arial"/>
                <a:cs typeface="Arial"/>
              </a:defRPr>
            </a:lvl5pPr>
            <a:lvl6pPr>
              <a:defRPr sz="1950" b="1">
                <a:solidFill>
                  <a:srgbClr val="007F7B"/>
                </a:solidFill>
                <a:latin typeface="Arial"/>
                <a:ea typeface="Arial"/>
                <a:cs typeface="Arial"/>
              </a:defRPr>
            </a:lvl6pPr>
            <a:lvl7pPr>
              <a:defRPr sz="1950" b="1">
                <a:solidFill>
                  <a:srgbClr val="007F7B"/>
                </a:solidFill>
                <a:latin typeface="Arial"/>
                <a:ea typeface="Arial"/>
                <a:cs typeface="Arial"/>
              </a:defRPr>
            </a:lvl7pPr>
            <a:lvl8pPr>
              <a:defRPr sz="1950" b="1">
                <a:solidFill>
                  <a:srgbClr val="007F7B"/>
                </a:solidFill>
                <a:latin typeface="Arial"/>
                <a:ea typeface="Arial"/>
                <a:cs typeface="Arial"/>
              </a:defRPr>
            </a:lvl8pPr>
            <a:lvl9pPr>
              <a:defRPr sz="1950" b="1">
                <a:solidFill>
                  <a:srgbClr val="007F7B"/>
                </a:solidFill>
                <a:latin typeface="Arial"/>
                <a:ea typeface="Arial"/>
                <a:cs typeface="Arial"/>
              </a:defRPr>
            </a:lvl9pPr>
          </a:lstStyle>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hlinkClick xmlns:r="http://schemas.openxmlformats.org/officeDocument/2006/relationships" r:id="Rf7369ad64fdf4ba3"/>
              </a:rPr>
              <a:t>DINOv2, official implementation</a:t>
            </a:r>
          </a:p>
        </p:txBody>
      </p:sp>
      <p:sp>
        <p:nvSpPr>
          <p:cNvPr id="7" name="">
            <a:extLst xmlns:a="http://schemas.openxmlformats.org/drawingml/2006/main">
              <a:ext uri="{FF2B5EF4-FFF2-40B4-BE49-F238E27FC236}">
                <a16:creationId xmlns:a16="http://schemas.microsoft.com/office/drawing/2014/main" id="{332CE152-E629-4F97-92BD-D377AC6B7FFC}"/>
              </a:ext>
            </a:extLst>
          </p:cNvPr>
          <p:cNvSpPr>
            <a:spLocks xmlns:a="http://schemas.openxmlformats.org/drawingml/2006/main" noGrp="1"/>
          </p:cNvSpPr>
          <p:nvPr/>
        </p:nvSpPr>
        <p:spPr>
          <a:xfrm xmlns:a="http://schemas.openxmlformats.org/drawingml/2006/main">
            <a:off x="609600" y="47910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07F7B"/>
                </a:solidFill>
                <a:latin typeface="Arial"/>
                <a:ea typeface="Arial"/>
                <a:cs typeface="Arial"/>
              </a:defRPr>
            </a:defPPr>
            <a:lvl1pPr>
              <a:defRPr sz="1950" b="1">
                <a:solidFill>
                  <a:srgbClr val="007F7B"/>
                </a:solidFill>
                <a:latin typeface="Arial"/>
                <a:ea typeface="Arial"/>
                <a:cs typeface="Arial"/>
              </a:defRPr>
            </a:lvl1pPr>
            <a:lvl2pPr>
              <a:defRPr sz="1950" b="1">
                <a:solidFill>
                  <a:srgbClr val="007F7B"/>
                </a:solidFill>
                <a:latin typeface="Arial"/>
                <a:ea typeface="Arial"/>
                <a:cs typeface="Arial"/>
              </a:defRPr>
            </a:lvl2pPr>
            <a:lvl3pPr>
              <a:defRPr sz="1950" b="1">
                <a:solidFill>
                  <a:srgbClr val="007F7B"/>
                </a:solidFill>
                <a:latin typeface="Arial"/>
                <a:ea typeface="Arial"/>
                <a:cs typeface="Arial"/>
              </a:defRPr>
            </a:lvl3pPr>
            <a:lvl4pPr>
              <a:defRPr sz="1950" b="1">
                <a:solidFill>
                  <a:srgbClr val="007F7B"/>
                </a:solidFill>
                <a:latin typeface="Arial"/>
                <a:ea typeface="Arial"/>
                <a:cs typeface="Arial"/>
              </a:defRPr>
            </a:lvl4pPr>
            <a:lvl5pPr>
              <a:defRPr sz="1950" b="1">
                <a:solidFill>
                  <a:srgbClr val="007F7B"/>
                </a:solidFill>
                <a:latin typeface="Arial"/>
                <a:ea typeface="Arial"/>
                <a:cs typeface="Arial"/>
              </a:defRPr>
            </a:lvl5pPr>
            <a:lvl6pPr>
              <a:defRPr sz="1950" b="1">
                <a:solidFill>
                  <a:srgbClr val="007F7B"/>
                </a:solidFill>
                <a:latin typeface="Arial"/>
                <a:ea typeface="Arial"/>
                <a:cs typeface="Arial"/>
              </a:defRPr>
            </a:lvl6pPr>
            <a:lvl7pPr>
              <a:defRPr sz="1950" b="1">
                <a:solidFill>
                  <a:srgbClr val="007F7B"/>
                </a:solidFill>
                <a:latin typeface="Arial"/>
                <a:ea typeface="Arial"/>
                <a:cs typeface="Arial"/>
              </a:defRPr>
            </a:lvl7pPr>
            <a:lvl8pPr>
              <a:defRPr sz="1950" b="1">
                <a:solidFill>
                  <a:srgbClr val="007F7B"/>
                </a:solidFill>
                <a:latin typeface="Arial"/>
                <a:ea typeface="Arial"/>
                <a:cs typeface="Arial"/>
              </a:defRPr>
            </a:lvl8pPr>
            <a:lvl9pPr>
              <a:defRPr sz="1950" b="1">
                <a:solidFill>
                  <a:srgbClr val="007F7B"/>
                </a:solidFill>
                <a:latin typeface="Arial"/>
                <a:ea typeface="Arial"/>
                <a:cs typeface="Arial"/>
              </a:defRPr>
            </a:lvl9pPr>
          </a:lstStyle>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hlinkClick xmlns:r="http://schemas.openxmlformats.org/officeDocument/2006/relationships" r:id="R309b31e76b5e45c4"/>
              </a:rPr>
              <a:t>Project protocols, predictions and analysis</a:t>
            </a:r>
          </a:p>
        </p:txBody>
      </p:sp>
      <p:sp>
        <p:nvSpPr>
          <p:cNvPr id="8" name="">
            <a:extLst xmlns:a="http://schemas.openxmlformats.org/drawingml/2006/main">
              <a:ext uri="{FF2B5EF4-FFF2-40B4-BE49-F238E27FC236}">
                <a16:creationId xmlns:a16="http://schemas.microsoft.com/office/drawing/2014/main" id="{0D5546DF-7869-4022-A53D-D01851DCABD1}"/>
              </a:ext>
            </a:extLst>
          </p:cNvPr>
          <p:cNvSpPr>
            <a:spLocks xmlns:a="http://schemas.openxmlformats.org/drawingml/2006/main" noGrp="1"/>
          </p:cNvSpPr>
          <p:nvPr/>
        </p:nvSpPr>
        <p:spPr>
          <a:xfrm xmlns:a="http://schemas.openxmlformats.org/drawingml/2006/main">
            <a:off x="609600" y="59531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16A"/>
                </a:solidFill>
                <a:latin typeface="Arial"/>
                <a:ea typeface="Arial"/>
                <a:cs typeface="Arial"/>
              </a:defRPr>
            </a:defPPr>
            <a:lvl1pPr>
              <a:defRPr sz="1650" b="0">
                <a:solidFill>
                  <a:srgbClr val="52616A"/>
                </a:solidFill>
                <a:latin typeface="Arial"/>
                <a:ea typeface="Arial"/>
                <a:cs typeface="Arial"/>
              </a:defRPr>
            </a:lvl1pPr>
            <a:lvl2pPr>
              <a:defRPr sz="1650" b="0">
                <a:solidFill>
                  <a:srgbClr val="52616A"/>
                </a:solidFill>
                <a:latin typeface="Arial"/>
                <a:ea typeface="Arial"/>
                <a:cs typeface="Arial"/>
              </a:defRPr>
            </a:lvl2pPr>
            <a:lvl3pPr>
              <a:defRPr sz="1650" b="0">
                <a:solidFill>
                  <a:srgbClr val="52616A"/>
                </a:solidFill>
                <a:latin typeface="Arial"/>
                <a:ea typeface="Arial"/>
                <a:cs typeface="Arial"/>
              </a:defRPr>
            </a:lvl3pPr>
            <a:lvl4pPr>
              <a:defRPr sz="1650" b="0">
                <a:solidFill>
                  <a:srgbClr val="52616A"/>
                </a:solidFill>
                <a:latin typeface="Arial"/>
                <a:ea typeface="Arial"/>
                <a:cs typeface="Arial"/>
              </a:defRPr>
            </a:lvl4pPr>
            <a:lvl5pPr>
              <a:defRPr sz="1650" b="0">
                <a:solidFill>
                  <a:srgbClr val="52616A"/>
                </a:solidFill>
                <a:latin typeface="Arial"/>
                <a:ea typeface="Arial"/>
                <a:cs typeface="Arial"/>
              </a:defRPr>
            </a:lvl5pPr>
            <a:lvl6pPr>
              <a:defRPr sz="1650" b="0">
                <a:solidFill>
                  <a:srgbClr val="52616A"/>
                </a:solidFill>
                <a:latin typeface="Arial"/>
                <a:ea typeface="Arial"/>
                <a:cs typeface="Arial"/>
              </a:defRPr>
            </a:lvl6pPr>
            <a:lvl7pPr>
              <a:defRPr sz="1650" b="0">
                <a:solidFill>
                  <a:srgbClr val="52616A"/>
                </a:solidFill>
                <a:latin typeface="Arial"/>
                <a:ea typeface="Arial"/>
                <a:cs typeface="Arial"/>
              </a:defRPr>
            </a:lvl7pPr>
            <a:lvl8pPr>
              <a:defRPr sz="1650" b="0">
                <a:solidFill>
                  <a:srgbClr val="52616A"/>
                </a:solidFill>
                <a:latin typeface="Arial"/>
                <a:ea typeface="Arial"/>
                <a:cs typeface="Arial"/>
              </a:defRPr>
            </a:lvl8pPr>
            <a:lvl9pPr>
              <a:defRPr sz="1650" b="0">
                <a:solidFill>
                  <a:srgbClr val="52616A"/>
                </a:solidFill>
                <a:latin typeface="Arial"/>
                <a:ea typeface="Arial"/>
                <a:cs typeface="Arial"/>
              </a:defRPr>
            </a:lvl9pPr>
          </a:lstStyle>
          <a:p xmlns:a="http://schemas.openxmlformats.org/drawingml/2006/main">
            <a:pPr>
              <a:defRPr sz="1650" b="0">
                <a:solidFill>
                  <a:srgbClr val="52616A"/>
                </a:solidFill>
                <a:latin typeface="Arial"/>
                <a:ea typeface="Arial"/>
                <a:cs typeface="Arial"/>
              </a:defRPr>
            </a:pPr>
            <a:r>
              <a:rPr sz="1650" b="0">
                <a:solidFill>
                  <a:srgbClr val="52616A"/>
                </a:solidFill>
                <a:latin typeface="Arial"/>
                <a:ea typeface="Arial"/>
                <a:cs typeface="Arial"/>
              </a:rPr>
              <a:t>Dataset photos belong to their original owners. Source links also appear in speaker notes.</a:t>
            </a:r>
          </a:p>
        </p:txBody>
      </p:sp>
    </p:spTree>
    <p:extLst>
      <p:ext uri="{BB962C8B-B14F-4D97-AF65-F5344CB8AC3E}">
        <p14:creationId xmlns:p14="http://schemas.microsoft.com/office/powerpoint/2010/main" val="20827655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2026-10-22T01:16:08.2250000Z</dcterms:created>
  <dcterms:modified xsi:type="dcterms:W3CDTF">2026-10-22T01:16:08.2250000Z</dcterms:modified>
</coreProperties>
</file>