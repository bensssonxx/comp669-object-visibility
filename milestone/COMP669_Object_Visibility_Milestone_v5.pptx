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227104fb8b3497b" /><Relationship Type="http://schemas.openxmlformats.org/officeDocument/2006/relationships/extended-properties" Target="/docProps/app.xml" Id="R2679d146f4354215" /><Relationship Type="http://schemas.openxmlformats.org/officeDocument/2006/relationships/officeDocument" Target="/ppt/presentation.xml" Id="Re228618247a24007" /></Relationships>
</file>

<file path=ppt/presentation.xml><?xml version="1.0" encoding="utf-8"?>
<p:presentation xmlns:p="http://schemas.openxmlformats.org/presentationml/2006/main">
  <p:sldMasterIdLst>
    <p:sldMasterId xmlns:r="http://schemas.openxmlformats.org/officeDocument/2006/relationships" id="2147483648" r:id="Rf05689c928bc4a94"/>
  </p:sldMasterIdLst>
  <p:notesMasterIdLst>
    <p:notesMasterId xmlns:r="http://schemas.openxmlformats.org/officeDocument/2006/relationships" r:id="R990737ad58184a55"/>
  </p:notesMasterIdLst>
  <p:sldIdLst>
    <p:sldId xmlns:r="http://schemas.openxmlformats.org/officeDocument/2006/relationships" id="256" r:id="Ra2ffa15f1a8b4a55"/>
    <p:sldId xmlns:r="http://schemas.openxmlformats.org/officeDocument/2006/relationships" id="257" r:id="R176c5acbb5ce4031"/>
    <p:sldId xmlns:r="http://schemas.openxmlformats.org/officeDocument/2006/relationships" id="258" r:id="Rafe487e4baea4e66"/>
    <p:sldId xmlns:r="http://schemas.openxmlformats.org/officeDocument/2006/relationships" id="259" r:id="Rc314949187ba4b21"/>
    <p:sldId xmlns:r="http://schemas.openxmlformats.org/officeDocument/2006/relationships" id="260" r:id="Rb300f8d8d1d042d2"/>
    <p:sldId xmlns:r="http://schemas.openxmlformats.org/officeDocument/2006/relationships" id="261" r:id="R800ac1f685e046fc"/>
    <p:sldId xmlns:r="http://schemas.openxmlformats.org/officeDocument/2006/relationships" id="262" r:id="Rc28137460aa44830"/>
    <p:sldId xmlns:r="http://schemas.openxmlformats.org/officeDocument/2006/relationships" id="263" r:id="R974cb392da97485c"/>
    <p:sldId xmlns:r="http://schemas.openxmlformats.org/officeDocument/2006/relationships" id="264" r:id="Ra97d6a263c3d4bd3"/>
    <p:sldId xmlns:r="http://schemas.openxmlformats.org/officeDocument/2006/relationships" id="265" r:id="R9e9d94b6d08b4595"/>
    <p:sldId xmlns:r="http://schemas.openxmlformats.org/officeDocument/2006/relationships" id="266" r:id="R9a106ed4ad7b4a67"/>
    <p:sldId xmlns:r="http://schemas.openxmlformats.org/officeDocument/2006/relationships" id="267" r:id="R6c7226b5ef1c434c"/>
    <p:sldId xmlns:r="http://schemas.openxmlformats.org/officeDocument/2006/relationships" id="268" r:id="R282309d9d1814f85"/>
    <p:sldId xmlns:r="http://schemas.openxmlformats.org/officeDocument/2006/relationships" id="269" r:id="R3344073266684a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daa1e64d2b4571" /><Relationship Type="http://schemas.openxmlformats.org/officeDocument/2006/relationships/slideMaster" Target="/ppt/slideMasters/slideMaster1.xml" Id="Rf05689c928bc4a94" /><Relationship Type="http://schemas.openxmlformats.org/officeDocument/2006/relationships/notesMaster" Target="/ppt/notesMasters/notesMaster1.xml" Id="R990737ad58184a55" /><Relationship Type="http://schemas.openxmlformats.org/officeDocument/2006/relationships/presProps" Target="/ppt/presProps.xml" Id="R101e2fbc67ba46a4" /><Relationship Type="http://schemas.openxmlformats.org/officeDocument/2006/relationships/tableStyles" Target="/ppt/tableStyles.xml" Id="Re695b7cb99e34297" /><Relationship Type="http://schemas.openxmlformats.org/officeDocument/2006/relationships/slide" Target="/ppt/slides/slide1.xml" Id="Ra2ffa15f1a8b4a55" /><Relationship Type="http://schemas.openxmlformats.org/officeDocument/2006/relationships/slide" Target="/ppt/slides/slide2.xml" Id="R176c5acbb5ce4031" /><Relationship Type="http://schemas.openxmlformats.org/officeDocument/2006/relationships/slide" Target="/ppt/slides/slide3.xml" Id="Rafe487e4baea4e66" /><Relationship Type="http://schemas.openxmlformats.org/officeDocument/2006/relationships/slide" Target="/ppt/slides/slide4.xml" Id="Rc314949187ba4b21" /><Relationship Type="http://schemas.openxmlformats.org/officeDocument/2006/relationships/slide" Target="/ppt/slides/slide5.xml" Id="Rb300f8d8d1d042d2" /><Relationship Type="http://schemas.openxmlformats.org/officeDocument/2006/relationships/slide" Target="/ppt/slides/slide6.xml" Id="R800ac1f685e046fc" /><Relationship Type="http://schemas.openxmlformats.org/officeDocument/2006/relationships/slide" Target="/ppt/slides/slide7.xml" Id="Rc28137460aa44830" /><Relationship Type="http://schemas.openxmlformats.org/officeDocument/2006/relationships/slide" Target="/ppt/slides/slide8.xml" Id="R974cb392da97485c" /><Relationship Type="http://schemas.openxmlformats.org/officeDocument/2006/relationships/slide" Target="/ppt/slides/slide9.xml" Id="Ra97d6a263c3d4bd3" /><Relationship Type="http://schemas.openxmlformats.org/officeDocument/2006/relationships/slide" Target="/ppt/slides/slide10.xml" Id="R9e9d94b6d08b4595" /><Relationship Type="http://schemas.openxmlformats.org/officeDocument/2006/relationships/slide" Target="/ppt/slides/slide11.xml" Id="R9a106ed4ad7b4a67" /><Relationship Type="http://schemas.openxmlformats.org/officeDocument/2006/relationships/slide" Target="/ppt/slides/slide12.xml" Id="R6c7226b5ef1c434c" /><Relationship Type="http://schemas.openxmlformats.org/officeDocument/2006/relationships/slide" Target="/ppt/slides/slide13.xml" Id="R282309d9d1814f85" /><Relationship Type="http://schemas.openxmlformats.org/officeDocument/2006/relationships/slide" Target="/ppt/slides/slide14.xml" Id="R3344073266684a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42fd66d21642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a1370e2fe541aa" /><Relationship Type="http://schemas.openxmlformats.org/officeDocument/2006/relationships/notesMaster" Target="/ppt/notesMasters/notesMaster1.xml" Id="Rcec890ea4c7047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6cedce25b64f13" /><Relationship Type="http://schemas.openxmlformats.org/officeDocument/2006/relationships/notesMaster" Target="/ppt/notesMasters/notesMaster1.xml" Id="R065c95b0a23e40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dbd2cdb93b4b4e" /><Relationship Type="http://schemas.openxmlformats.org/officeDocument/2006/relationships/notesMaster" Target="/ppt/notesMasters/notesMaster1.xml" Id="R6e5e1004973841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5380f4a944411d" /><Relationship Type="http://schemas.openxmlformats.org/officeDocument/2006/relationships/notesMaster" Target="/ppt/notesMasters/notesMaster1.xml" Id="R9eeff0067a6f47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f6655dea3343bf" /><Relationship Type="http://schemas.openxmlformats.org/officeDocument/2006/relationships/notesMaster" Target="/ppt/notesMasters/notesMaster1.xml" Id="R51833a6b80a740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223f0282cd4a10" /><Relationship Type="http://schemas.openxmlformats.org/officeDocument/2006/relationships/notesMaster" Target="/ppt/notesMasters/notesMaster1.xml" Id="Rf39204156a954d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b2c8b1a1f649f7" /><Relationship Type="http://schemas.openxmlformats.org/officeDocument/2006/relationships/notesMaster" Target="/ppt/notesMasters/notesMaster1.xml" Id="R9bc7c94cfdd642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020097378c4e3a" /><Relationship Type="http://schemas.openxmlformats.org/officeDocument/2006/relationships/notesMaster" Target="/ppt/notesMasters/notesMaster1.xml" Id="R9ed1dbf5265543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7a85b7d25d485b" /><Relationship Type="http://schemas.openxmlformats.org/officeDocument/2006/relationships/notesMaster" Target="/ppt/notesMasters/notesMaster1.xml" Id="Rbd36e35b121b4d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3b2d5c265541c2" /><Relationship Type="http://schemas.openxmlformats.org/officeDocument/2006/relationships/notesMaster" Target="/ppt/notesMasters/notesMaster1.xml" Id="R468efe3bc82740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a876e131784480" /><Relationship Type="http://schemas.openxmlformats.org/officeDocument/2006/relationships/notesMaster" Target="/ppt/notesMasters/notesMaster1.xml" Id="R9ef2505df4c842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6b80abaed94dac" /><Relationship Type="http://schemas.openxmlformats.org/officeDocument/2006/relationships/notesMaster" Target="/ppt/notesMasters/notesMaster1.xml" Id="R8b66b9ff562b44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cc1089ac504d6c" /><Relationship Type="http://schemas.openxmlformats.org/officeDocument/2006/relationships/notesMaster" Target="/ppt/notesMasters/notesMaster1.xml" Id="R1e0390fff3f34e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222dda64c8d40e8" /><Relationship Type="http://schemas.openxmlformats.org/officeDocument/2006/relationships/notesMaster" Target="/ppt/notesMasters/notesMaster1.xml" Id="Rd4cc4423bade4c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25 seconds</a:t>
            </a:r>
          </a:p>
          <a:p xmlns:a="http://schemas.openxmlformats.org/drawingml/2006/main">
            <a:r>
              <a:t>ANCHOR: The evaluation condition can change which model looks more robust.</a:t>
            </a:r>
          </a:p>
          <a:p xmlns:a="http://schemas.openxmlformats.org/drawingml/2006/main">
            <a:r>
              <a:t/>
            </a:r>
          </a:p>
          <a:p xmlns:a="http://schemas.openxmlformats.org/drawingml/2006/main">
            <a:r>
              <a:t>My project studies how occlusion tests compare AIMv2 and DINOv2. After the proposal feedback, I changed the question. I now ask whether the evaluation condition changes which model looks more robust, and what visible-area measurements miss. Today I will show a follow-up on new images and explain what the controls let us conclude.</a:t>
            </a:r>
          </a:p>
          <a:p xmlns:a="http://schemas.openxmlformats.org/drawingml/2006/main">
            <a:r>
              <a:t/>
            </a:r>
          </a:p>
          <a:p xmlns:a="http://schemas.openxmlformats.org/drawingml/2006/main">
            <a:r>
              <a:t>SOURCES: docs/EXTENSION_V2_PROTOCOL.md; reports/EXTENSION_V2_EN.md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ANCHOR: A useful evaluation should make clear what the comparison measures.</a:t>
            </a:r>
          </a:p>
          <a:p xmlns:a="http://schemas.openxmlformats.org/drawingml/2006/main">
            <a:r>
              <a:t/>
            </a:r>
          </a:p>
          <a:p xmlns:a="http://schemas.openxmlformats.org/drawingml/2006/main">
            <a:r>
              <a:t>An accuracy drop after removing information is expected. The more useful question is whether a robustness comparison depends on how we remove that information. If two masks keep the same image area but lead to different model rankings, one score gives an incomplete picture. Also, keeping the same area may retain very different amounts of the animal. My contribution is a reproducible evaluation and diagnostic extension of earlier occlusion work. I measure the retained content and check which conclusions survive new images and a second fill color. I do not claim that foreground and background analysis is new.</a:t>
            </a:r>
          </a:p>
          <a:p xmlns:a="http://schemas.openxmlformats.org/drawingml/2006/main">
            <a:r>
              <a:t/>
            </a:r>
          </a:p>
          <a:p xmlns:a="http://schemas.openxmlformats.org/drawingml/2006/main">
            <a:r>
              <a:t>SOURCES: docs/RELATED_WORK.md; Naseer et al., https://arxiv.org/abs/2105.10497; Xiao et al., https://arxiv.org/abs/2006.09994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ANCHOR: Twenty-five percent of the image is not necessarily twenty-five percent of the animal.</a:t>
            </a:r>
          </a:p>
          <a:p xmlns:a="http://schemas.openxmlformats.org/drawingml/2006/main">
            <a:r>
              <a:t/>
            </a:r>
          </a:p>
          <a:p xmlns:a="http://schemas.openxmlformats.org/drawingml/2006/main">
            <a:r>
              <a:t>These are actual inputs from one follow-up image. Both masks keep exactly twenty-five percent of the image, but the center mask keeps much more of the animal. Image visibility divides retained pixels by the whole image. Foreground visibility divides retained animal pixels by the original annotated animal. Those denominators differ. The displayed foreground numbers describe this example, not the dataset average. Both encoders receive exactly the same masked pixels. Hidden pixels get a constant fill before normalization, and all patch tokens remain. This is a pixel occlusion test, with no inference-compute saving.</a:t>
            </a:r>
          </a:p>
          <a:p xmlns:a="http://schemas.openxmlformats.org/drawingml/2006/main">
            <a:r>
              <a:t/>
            </a:r>
          </a:p>
          <a:p xmlns:a="http://schemas.openxmlformats.org/drawingml/2006/main">
            <a:r>
              <a:t>SOURCES: results/extension_v2/design_example_selection.json; results/extension_v2/conditions.csv; Oxford-IIIT Pet images and annotations, https://www.robots.ox.ac.uk/~vgg/data/pets/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ANCHOR: The new images never select or refit the classifiers.</a:t>
            </a:r>
          </a:p>
          <a:p xmlns:a="http://schemas.openxmlformats.org/drawingml/2006/main">
            <a:r>
              <a:t/>
            </a:r>
          </a:p>
          <a:p xmlns:a="http://schemas.openxmlformats.org/drawingml/2006/main">
            <a:r>
              <a:t>The dataset is Oxford-IIIT Pet, with thirty-seven breed classes and foreground annotations. The original classifiers used fourteen hundred eighty clean training images and three hundred seventy clean validation images. Validation selected C equal to ten for both models. The follow-up adds seven hundred forty official-test images, twenty per breed, excluding every pilot sample by image ID and exact bytes. I reuse both frozen encoders and their original classifiers. There is no refitting or parameter selection on these new images. The follow-up design was fixed after seeing the pilot, but before making the new predictions.</a:t>
            </a:r>
          </a:p>
          <a:p xmlns:a="http://schemas.openxmlformats.org/drawingml/2006/main">
            <a:r>
              <a:t/>
            </a:r>
          </a:p>
          <a:p xmlns:a="http://schemas.openxmlformats.org/drawingml/2006/main">
            <a:r>
              <a:t>SOURCES: docs/PROTOCOL.md; docs/EXTENSION_V2_PROTOCOL.md; results/extension_v2/preparation_audit.json; pre-inference commit 815a33b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ANCHOR: Shared inputs control the evaluation, but they do not control model pretraining.</a:t>
            </a:r>
          </a:p>
          <a:p xmlns:a="http://schemas.openxmlformats.org/drawingml/2006/main">
            <a:r>
              <a:t/>
            </a:r>
          </a:p>
          <a:p xmlns:a="http://schemas.openxmlformats.org/drawingml/2006/main">
            <a:r>
              <a:t>There are three comparisons, with different controls. Across models, I share the images, masks, preprocessing and probe procedure. Their pretrained weights, training data and objectives still differ, so their score difference describes the two systems. It cannot isolate prefix attention. Across fill colors, I hold the mask and retained pixels fixed and change only the hidden-pixel value. In same-image pairs, I also fix the encoder, classifier, occluder area and shape. Moving that occluder still changes parts and background. These controls narrow the interpretation, but they do not turn the experiment into a causal test of pretraining.</a:t>
            </a:r>
          </a:p>
          <a:p xmlns:a="http://schemas.openxmlformats.org/drawingml/2006/main">
            <a:r>
              <a:t/>
            </a:r>
          </a:p>
          <a:p xmlns:a="http://schemas.openxmlformats.org/drawingml/2006/main">
            <a:r>
              <a:t>SOURCES: docs/EXTENSION_V2_PROTOCOL.md; reports/EXTENSION_V2_EN.md, Motivation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ANCHOR: The center and random conditions give opposite model rankings.</a:t>
            </a:r>
          </a:p>
          <a:p xmlns:a="http://schemas.openxmlformats.org/drawingml/2006/main">
            <a:r>
              <a:t/>
            </a:r>
          </a:p>
          <a:p xmlns:a="http://schemas.openxmlformats.org/drawingml/2006/main">
            <a:r>
              <a:t>Here are the main follow-up results with gray fill. Every masked condition keeps twenty-five percent of the image. With center visibility, AIMv2 reaches eighty-seven percent accuracy and DINOv2 about sixty-three percent. With random visibility, AIMv2 reaches about thirty-four percent and DINOv2 about seventy percent. So the model ordering reverses. The paired model differences are positive for center and negative for random. Both displayed intervals exclude zero after adjustment across the seven planned contrasts. Random repetitions are averaged within each image, and the bootstrap resamples images within breeds. The result concerns these fixed encoders and classifiers.</a:t>
            </a:r>
          </a:p>
          <a:p xmlns:a="http://schemas.openxmlformats.org/drawingml/2006/main">
            <a:r>
              <a:t/>
            </a:r>
          </a:p>
          <a:p xmlns:a="http://schemas.openxmlformats.org/drawingml/2006/main">
            <a:r>
              <a:t>SOURCES: results/extension_v2/summary.csv; results/extension_v2/primary_contrasts.csv; results/extension_v2/analysis_audit.json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ANCHOR: The ordering repeats, while absolute accuracy still depends on the fill.</a:t>
            </a:r>
          </a:p>
          <a:p xmlns:a="http://schemas.openxmlformats.org/drawingml/2006/main">
            <a:r>
              <a:t/>
            </a:r>
          </a:p>
          <a:p xmlns:a="http://schemas.openxmlformats.org/drawingml/2006/main">
            <a:r>
              <a:t>Next I change the hidden pixels from gray to black while retaining exactly the same visible pixels. The center condition still favors AIMv2, and the random condition still favors DINOv2. All four component model differences keep their directions under the simultaneous intervals. However, this does not make fill color irrelevant. On random masks, black fill lowers AIMv2 accuracy by about three percentage points and DINOv2 by about seven. The ordering is repeated under these two fills, while the absolute scores change. I do not claim equivalence across fill colors or robustness to natural occluders.</a:t>
            </a:r>
          </a:p>
          <a:p xmlns:a="http://schemas.openxmlformats.org/drawingml/2006/main">
            <a:r>
              <a:t/>
            </a:r>
          </a:p>
          <a:p xmlns:a="http://schemas.openxmlformats.org/drawingml/2006/main">
            <a:r>
              <a:t>SOURCES: results/extension_v2/summary.csv; results/extension_v2/primary_contrasts.csv; results/extension_v2/fill_sensitivity.csv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ANCHOR: Foreground coverage identifies a confound, without explaining away the score gap.</a:t>
            </a:r>
          </a:p>
          <a:p xmlns:a="http://schemas.openxmlformats.org/drawingml/2006/main">
            <a:r>
              <a:t/>
            </a:r>
          </a:p>
          <a:p xmlns:a="http://schemas.openxmlformats.org/drawingml/2006/main">
            <a:r>
              <a:t>The annotation measurements help interpret this comparison. Although every pattern keeps twenty-five percent of the image, center visibility retains sixty-two point five percent of the animal on average. Random visibility retains about twenty-five percent. Prefix and suffix retain even less foreground. So the standard-pattern comparison changes content distribution as well as position. This makes whole-image area an incomplete description of the evaluation. It does not show how much of the accuracy gap foreground explains. I have not estimated a pure position effect after controlling content. The same-image diagnostics address a narrower question.</a:t>
            </a:r>
          </a:p>
          <a:p xmlns:a="http://schemas.openxmlformats.org/drawingml/2006/main">
            <a:r>
              <a:t/>
            </a:r>
          </a:p>
          <a:p xmlns:a="http://schemas.openxmlformats.org/drawingml/2006/main">
            <a:r>
              <a:t>SOURCES: results/extension_v2/foreground_coverage.csv; results/extension_v2/conditions.csv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ANCHOR: Matching foreground area still allows predictions to change.</a:t>
            </a:r>
          </a:p>
          <a:p xmlns:a="http://schemas.openxmlformats.org/drawingml/2006/main">
            <a:r>
              <a:t/>
            </a:r>
          </a:p>
          <a:p xmlns:a="http://schemas.openxmlformats.org/drawingml/2006/main">
            <a:r>
              <a:t>These diagnostics use a different budget: a square hides twenty-five percent, leaving seventy-five percent visible. For each image, annotations select placements before looking at predictions. One design contrasts higher and lower foreground retention. The other matches foreground retention within three percentage points and separates the occluder locations. All seven hundred forty images have an eligible matched pair. Under gray fill, correctness still flips in about eleven percent of AIMv2 pairs and nine percent of DINOv2 pairs. Area matching does not match the surviving parts or background. A lower flip rate alone is not better robustness, because both versions can be wrong.</a:t>
            </a:r>
          </a:p>
          <a:p xmlns:a="http://schemas.openxmlformats.org/drawingml/2006/main">
            <a:r>
              <a:t/>
            </a:r>
          </a:p>
          <a:p xmlns:a="http://schemas.openxmlformats.org/drawingml/2006/main">
            <a:r>
              <a:t>SOURCES: docs/EXTENSION_V2_PROTOCOL.md; results/extension_v2/paired_summary.csv; results/extension_v2/eligibility.csv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a:t>
            </a:r>
          </a:p>
          <a:p xmlns:a="http://schemas.openxmlformats.org/drawingml/2006/main">
            <a:r>
              <a:t>ANCHOR: This measures a change in retained content, not an isolated head effect.</a:t>
            </a:r>
          </a:p>
          <a:p xmlns:a="http://schemas.openxmlformats.org/drawingml/2006/main">
            <a:r>
              <a:t/>
            </a:r>
          </a:p>
          <a:p xmlns:a="http://schemas.openxmlformats.org/drawingml/2006/main">
            <a:r>
              <a:t>I also added a separate auxiliary cohort with head boxes, because the downloaded official-test annotations lack them. Of one hundred eighty-five unused trainval images, one hundred fifty-nine meet the fixed pairing rules. Foreground retention is close, but head-region retention differs substantially. With gray fill, the paired accuracy gap is about nineteen percentage points for AIMv2 and eleven for DINOv2. This shows what area matching can miss. The head region is a bounding-box intersection with foreground, not precise segmentation. Other body parts and background change too. This cannot isolate a head effect or explain the main crossover in a different cohort.</a:t>
            </a:r>
          </a:p>
          <a:p xmlns:a="http://schemas.openxmlformats.org/drawingml/2006/main">
            <a:r>
              <a:t/>
            </a:r>
          </a:p>
          <a:p xmlns:a="http://schemas.openxmlformats.org/drawingml/2006/main">
            <a:r>
              <a:t>SOURCES: results/extension_v2/preparation_audit.json; results/extension_v2/paired_summary.csv; results/extension_v2/design_example_selection.json; Oxford-IIIT Pet, https://www.robots.ox.ac.uk/~vgg/data/pets/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ANCHOR: The contribution is a bounded evaluation result with explicit diagnostic limits.</a:t>
            </a:r>
          </a:p>
          <a:p xmlns:a="http://schemas.openxmlformats.org/drawingml/2006/main">
            <a:r>
              <a:t/>
            </a:r>
          </a:p>
          <a:p xmlns:a="http://schemas.openxmlformats.org/drawingml/2006/main">
            <a:r>
              <a:t>The milestone supports three conclusions. First, the model ordering depends on the evaluation condition, and the crossover repeats on new images under two fills. Second, equal image visibility can retain very different foreground amounts. Third, approximately matching foreground area still leaves meaningful content differences. These are measured behaviors under a specified evaluation. They do not establish a pretraining mechanism or a general model ranking. The main crossover still mixes content and location, and the auxiliary analysis does not resolve that. The study also uses one dataset, one pooling recipe and synthetic fills. Those limits define the next experiments.</a:t>
            </a:r>
          </a:p>
          <a:p xmlns:a="http://schemas.openxmlformats.org/drawingml/2006/main">
            <a:r>
              <a:t/>
            </a:r>
          </a:p>
          <a:p xmlns:a="http://schemas.openxmlformats.org/drawingml/2006/main">
            <a:r>
              <a:t>SOURCES: reports/EXTENSION_V2_EN.md; docs/EXTENSION_V2_PROTOCOL.md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a:t>
            </a:r>
          </a:p>
          <a:p xmlns:a="http://schemas.openxmlformats.org/drawingml/2006/main">
            <a:r>
              <a:t>ANCHOR: The next priority is to test whether the readout changes the finding.</a:t>
            </a:r>
          </a:p>
          <a:p xmlns:a="http://schemas.openxmlformats.org/drawingml/2006/main">
            <a:r>
              <a:t/>
            </a:r>
          </a:p>
          <a:p xmlns:a="http://schemas.openxmlformats.org/drawingml/2006/main">
            <a:r>
              <a:t>My next priority is feature-readout sensitivity, using a fixed protocol and classifiers fitted only on clean training data, with choices made on clean validation. Since I have already seen these test results, that would be a labeled sensitivity analysis. Later, I can test another dataset or natural occluders. The repository contains the protocols, predictions and analysis. It is private, so instructor access still needs arranging. Codex assisted source review, code, execution, analysis and presentation drafting. The main finding is that the evaluation condition changes which system appears more robust. Thank you.</a:t>
            </a:r>
          </a:p>
          <a:p xmlns:a="http://schemas.openxmlformats.org/drawingml/2006/main">
            <a:r>
              <a:t/>
            </a:r>
          </a:p>
          <a:p xmlns:a="http://schemas.openxmlformats.org/drawingml/2006/main">
            <a:r>
              <a:t>SOURCES: https://github.com/Bensssonxx/comp669-object-visibility; docs/AI_USE.md; docs/RELATED_WORK.md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Skip during the 12-minute talk. The main sample has 20 images per breed, so image and breed-macro weighting agree. Average random repeats within image before resampling. Auxiliary estimates weight represented breeds equally after eligibility. The v1 lack of common foreground-support bins at 50% image visibility remains unresolved.</a:t>
            </a:r>
          </a:p>
          <a:p xmlns:a="http://schemas.openxmlformats.org/drawingml/2006/main">
            <a:r>
              <a:t>SOURCES: results/extension_v2/summary.csv; primary_contrasts.csv; analysis_audit.json; docs/EXTENSION_V2_PROTOCOL.md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Main protocols: docs/PROTOCOL.md and docs/EXTENSION_V2_PROTOCOL.md. Follow-up raw predictions and audit evidence: results/extension_v2/. AI disclosure: docs/AI_USE.md. The project is a replication and extension, not first-ever foreground/background analysis.</a:t>
            </a:r>
          </a:p>
          <a:p xmlns:a="http://schemas.openxmlformats.org/drawingml/2006/main">
            <a:r>
              <a:t>Oxford-IIIT Pet, Parkhi et al. (2012): https://www.robots.ox.ac.uk/~vgg/data/pets/</a:t>
            </a:r>
          </a:p>
          <a:p xmlns:a="http://schemas.openxmlformats.org/drawingml/2006/main">
            <a:r>
              <a:t>Intriguing Properties of Vision Transformers / PatchDrop (2021): https://arxiv.org/abs/2105.10497</a:t>
            </a:r>
          </a:p>
          <a:p xmlns:a="http://schemas.openxmlformats.org/drawingml/2006/main">
            <a:r>
              <a:t>Noise or Signal: The Role of Image Backgrounds (2020): https://arxiv.org/abs/2006.09994</a:t>
            </a:r>
          </a:p>
          <a:p xmlns:a="http://schemas.openxmlformats.org/drawingml/2006/main">
            <a:r>
              <a:t>AIMv2, official implementation: https://github.com/apple-aiml-research/ml-aim</a:t>
            </a:r>
          </a:p>
          <a:p xmlns:a="http://schemas.openxmlformats.org/drawingml/2006/main">
            <a:r>
              <a:t>DINOv2, official implementation: https://github.com/facebookresearch/dinov2</a:t>
            </a:r>
          </a:p>
          <a:p xmlns:a="http://schemas.openxmlformats.org/drawingml/2006/main">
            <a:r>
              <a:t>Project protocols, predictions and analysis: https://github.com/Bensssonxx/comp669-object-visibility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b54a68b86c40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475a807e43480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ff83af6c3b43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12ebf3148d948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71325699c549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07f2dfa8de4f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1159CE-2F82-4A6A-B0A1-0C4C5AD9B4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B671BD-9B45-4DE1-B034-E19162F9318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BC215D-2FD8-4514-960B-81186F857E0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06B365-19A7-4A7F-877F-C90EF7770C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524FB2-6A72-4C99-BAC1-E7E104A63BC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2BD181-2D1B-4394-9956-A9F4100B34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D2754A-A878-4217-80DB-14165F037D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C5673B4-BE51-41AC-A4C3-1D7AECB4515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5324AB-9719-4A59-BE45-C5A8462BFF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0F4AC5-44B6-4A5F-A21F-BDE6AC487C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a34ec28f524fe6" /><Relationship Type="http://schemas.openxmlformats.org/officeDocument/2006/relationships/slideLayout" Target="/ppt/slideLayouts/slideLayout1.xml" Id="R3f9ff3d6be8e46be" /><Relationship Type="http://schemas.openxmlformats.org/officeDocument/2006/relationships/slideLayout" Target="/ppt/slideLayouts/slideLayout2.xml" Id="R50a6226e0b4f486e" /><Relationship Type="http://schemas.openxmlformats.org/officeDocument/2006/relationships/slideLayout" Target="/ppt/slideLayouts/slideLayout3.xml" Id="R8639361a1e3e4ff1" /><Relationship Type="http://schemas.openxmlformats.org/officeDocument/2006/relationships/slideLayout" Target="/ppt/slideLayouts/slideLayout4.xml" Id="Red998220af554823" /><Relationship Type="http://schemas.openxmlformats.org/officeDocument/2006/relationships/slideLayout" Target="/ppt/slideLayouts/slideLayout5.xml" Id="R07d679de1ebf4b46" /><Relationship Type="http://schemas.openxmlformats.org/officeDocument/2006/relationships/slideLayout" Target="/ppt/slideLayouts/slideLayout6.xml" Id="Rc5e248116c504a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9ff3d6be8e46be"/>
    <p:sldLayoutId xmlns:r="http://schemas.openxmlformats.org/officeDocument/2006/relationships" id="2147483650" r:id="R50a6226e0b4f486e"/>
    <p:sldLayoutId xmlns:r="http://schemas.openxmlformats.org/officeDocument/2006/relationships" id="2147483651" r:id="R8639361a1e3e4ff1"/>
    <p:sldLayoutId xmlns:r="http://schemas.openxmlformats.org/officeDocument/2006/relationships" id="2147483652" r:id="Red998220af554823"/>
    <p:sldLayoutId xmlns:r="http://schemas.openxmlformats.org/officeDocument/2006/relationships" id="2147483653" r:id="R07d679de1ebf4b46"/>
    <p:sldLayoutId xmlns:r="http://schemas.openxmlformats.org/officeDocument/2006/relationships" id="2147483654" r:id="Rc5e248116c504a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034825351654daa" /><Relationship Type="http://schemas.openxmlformats.org/officeDocument/2006/relationships/notesSlide" Target="/ppt/notesSlides/notesSlide1.xml" Id="R40843c452a1b40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3518f586054d96" /><Relationship Type="http://schemas.openxmlformats.org/officeDocument/2006/relationships/notesSlide" Target="/ppt/notesSlides/notesSlide2.xml" Id="Ra531f367014742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bb1058fc5141f2" /><Relationship Type="http://schemas.openxmlformats.org/officeDocument/2006/relationships/image" Target="/ppt/media/image.png" Id="R703ef0a238f64c2b" /><Relationship Type="http://schemas.openxmlformats.org/officeDocument/2006/relationships/image" Target="/ppt/media/image2.png" Id="R2b27552f3040441a" /><Relationship Type="http://schemas.openxmlformats.org/officeDocument/2006/relationships/image" Target="/ppt/media/image3.png" Id="Rcff087aa03314fe6" /><Relationship Type="http://schemas.openxmlformats.org/officeDocument/2006/relationships/notesSlide" Target="/ppt/notesSlides/notesSlide3.xml" Id="R83bf4eda28a248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a516ce8a0024d47" /><Relationship Type="http://schemas.openxmlformats.org/officeDocument/2006/relationships/notesSlide" Target="/ppt/notesSlides/notesSlide4.xml" Id="Ra05a3725cffa4d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e61e49902554f1d" /><Relationship Type="http://schemas.openxmlformats.org/officeDocument/2006/relationships/notesSlide" Target="/ppt/notesSlides/notesSlide5.xml" Id="Rc576380ab61248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4d4c092820a4b4f" /><Relationship Type="http://schemas.openxmlformats.org/officeDocument/2006/relationships/chart" Target="/ppt/slides/charts/chart1.xml" Id="R40c917be06574e8d" /><Relationship Type="http://schemas.openxmlformats.org/officeDocument/2006/relationships/notesSlide" Target="/ppt/notesSlides/notesSlide6.xml" Id="R6b5b9d9aec6643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8da44fddca74992" /><Relationship Type="http://schemas.openxmlformats.org/officeDocument/2006/relationships/notesSlide" Target="/ppt/notesSlides/notesSlide7.xml" Id="R1c992ddf736d42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2875d0d737496d" /><Relationship Type="http://schemas.openxmlformats.org/officeDocument/2006/relationships/chart" Target="/ppt/slides/charts/chart2.xml" Id="R2c2b284b9a894813" /><Relationship Type="http://schemas.openxmlformats.org/officeDocument/2006/relationships/notesSlide" Target="/ppt/notesSlides/notesSlide8.xml" Id="R9ea43ec14a3840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a208ce53b184f57" /><Relationship Type="http://schemas.openxmlformats.org/officeDocument/2006/relationships/notesSlide" Target="/ppt/notesSlides/notesSlide9.xml" Id="R9759078b6b634e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3babb14e4064adc" /><Relationship Type="http://schemas.openxmlformats.org/officeDocument/2006/relationships/image" Target="/ppt/media/image4.png" Id="R0c2c89ab488245e7" /><Relationship Type="http://schemas.openxmlformats.org/officeDocument/2006/relationships/image" Target="/ppt/media/image5.png" Id="Rd94205cabec94d79" /><Relationship Type="http://schemas.openxmlformats.org/officeDocument/2006/relationships/notesSlide" Target="/ppt/notesSlides/notesSlide10.xml" Id="R7eca739b19f744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fcdeeef8e08490f" /><Relationship Type="http://schemas.openxmlformats.org/officeDocument/2006/relationships/notesSlide" Target="/ppt/notesSlides/notesSlide11.xml" Id="Rfd137f46bacd48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36ffd9c786d4697" /><Relationship Type="http://schemas.openxmlformats.org/officeDocument/2006/relationships/hyperlink" Target="https://github.com/Bensssonxx/comp669-object-visibility" TargetMode="External" Id="R0c0c817427d14ac3" /><Relationship Type="http://schemas.openxmlformats.org/officeDocument/2006/relationships/notesSlide" Target="/ppt/notesSlides/notesSlide12.xml" Id="R8b9a69db45704b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dd6a55292b64bb3" /><Relationship Type="http://schemas.openxmlformats.org/officeDocument/2006/relationships/notesSlide" Target="/ppt/notesSlides/notesSlide13.xml" Id="R67f8529160d74f4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56e60766bb44dbe" /><Relationship Type="http://schemas.openxmlformats.org/officeDocument/2006/relationships/hyperlink" Target="https://www.robots.ox.ac.uk/~vgg/data/pets/" TargetMode="External" Id="R6f3dab641cd2489f" /><Relationship Type="http://schemas.openxmlformats.org/officeDocument/2006/relationships/hyperlink" Target="https://arxiv.org/abs/2105.10497" TargetMode="External" Id="R3335b2670e1e4738" /><Relationship Type="http://schemas.openxmlformats.org/officeDocument/2006/relationships/hyperlink" Target="https://arxiv.org/abs/2006.09994" TargetMode="External" Id="R745df511673141bb" /><Relationship Type="http://schemas.openxmlformats.org/officeDocument/2006/relationships/hyperlink" Target="https://github.com/apple-aiml-research/ml-aim" TargetMode="External" Id="Rdc9c34bfa52a4547" /><Relationship Type="http://schemas.openxmlformats.org/officeDocument/2006/relationships/hyperlink" Target="https://github.com/facebookresearch/dinov2" TargetMode="External" Id="R5c8bd9146f884330" /><Relationship Type="http://schemas.openxmlformats.org/officeDocument/2006/relationships/hyperlink" Target="https://github.com/Bensssonxx/comp669-object-visibility" TargetMode="External" Id="R74c7d4f80b8349c5" /><Relationship Type="http://schemas.openxmlformats.org/officeDocument/2006/relationships/notesSlide" Target="/ppt/notesSlides/notesSlide14.xml" Id="R46fec85aa78049b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AIMv2</c:v>
          </c:tx>
          <c:spPr>
            <a:solidFill xmlns:a="http://schemas.openxmlformats.org/drawingml/2006/main">
              <a:srgbClr val="0072B2"/>
            </a:solidFill>
          </c:spPr>
          <c:invertIfNegative val="0"/>
          <c:cat>
            <c:strRef>
              <c:f>'Chart Data'!$A$2:$A$3</c:f>
              <c:strCache>
                <c:ptCount val="2"/>
                <c:pt idx="0">
                  <c:v>Center</c:v>
                </c:pt>
                <c:pt idx="1">
                  <c:v>Random</c:v>
                </c:pt>
              </c:strCache>
            </c:strRef>
          </c:cat>
          <c:val>
            <c:numRef>
              <c:f>'Chart Data'!$B$2:$B$3</c:f>
              <c:numCache>
                <c:formatCode>0</c:formatCode>
                <c:ptCount val="2"/>
                <c:pt idx="0">
                  <c:v>87</c:v>
                </c:pt>
                <c:pt idx="1">
                  <c:v>33.6</c:v>
                </c:pt>
              </c:numCache>
            </c:numRef>
          </c:val>
        </c:ser>
        <c:ser>
          <c:idx val="1"/>
          <c:order val="1"/>
          <c:tx>
            <c:v>DINOv2</c:v>
          </c:tx>
          <c:spPr>
            <a:solidFill xmlns:a="http://schemas.openxmlformats.org/drawingml/2006/main">
              <a:srgbClr val="D55E00"/>
            </a:solidFill>
          </c:spPr>
          <c:invertIfNegative val="0"/>
          <c:cat>
            <c:strRef>
              <c:f>'Chart Data'!$C$2:$C$3</c:f>
              <c:strCache>
                <c:ptCount val="2"/>
                <c:pt idx="0">
                  <c:v>Center</c:v>
                </c:pt>
                <c:pt idx="1">
                  <c:v>Random</c:v>
                </c:pt>
              </c:strCache>
            </c:strRef>
          </c:cat>
          <c:val>
            <c:numRef>
              <c:f>'Chart Data'!$D$2:$D$3</c:f>
              <c:numCache>
                <c:formatCode>0</c:formatCode>
                <c:ptCount val="2"/>
                <c:pt idx="0">
                  <c:v>63.1</c:v>
                </c:pt>
                <c:pt idx="1">
                  <c:v>69.6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17313D"/>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6C2C7"/>
            </a:solidFill>
          </a:ln>
        </c:spPr>
        <c:txPr>
          <a:bodyPr xmlns:a="http://schemas.openxmlformats.org/drawingml/2006/main" anchorCtr="1"/>
          <a:lstStyle xmlns:a="http://schemas.openxmlformats.org/drawingml/2006/main"/>
          <a:p xmlns:a="http://schemas.openxmlformats.org/drawingml/2006/main">
            <a:pPr>
              <a:defRPr sz="1800">
                <a:solidFill>
                  <a:srgbClr val="17313D"/>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3E9EC"/>
              </a:solidFill>
            </a:ln>
          </c:spPr>
        </c:majorGridlines>
        <c:title>
          <c:tx>
            <c:rich>
              <a:bodyPr xmlns:a="http://schemas.openxmlformats.org/drawingml/2006/main"/>
              <a:lstStyle xmlns:a="http://schemas.openxmlformats.org/drawingml/2006/main"/>
              <a:p xmlns:a="http://schemas.openxmlformats.org/drawingml/2006/main">
                <a:r>
                  <a:rPr sz="1650">
                    <a:solidFill>
                      <a:srgbClr val="52616A"/>
                    </a:solidFill>
                    <a:latin typeface="Arial"/>
                    <a:ea typeface="Arial"/>
                    <a:cs typeface="Arial"/>
                  </a:rPr>
                  <a:t>Accuracy (%)</a:t>
                </a:r>
              </a:p>
            </c:rich>
          </c:tx>
          <c:overlay val="0"/>
          <c:txPr>
            <a:bodyPr xmlns:a="http://schemas.openxmlformats.org/drawingml/2006/main" anchorCtr="1"/>
            <a:lstStyle xmlns:a="http://schemas.openxmlformats.org/drawingml/2006/main"/>
            <a:p xmlns:a="http://schemas.openxmlformats.org/drawingml/2006/main">
              <a:pPr>
                <a:defRPr sz="1650">
                  <a:solidFill>
                    <a:srgbClr val="52616A"/>
                  </a:solidFill>
                  <a:latin typeface="Arial"/>
                  <a:ea typeface="Arial"/>
                  <a:cs typeface="Arial"/>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16A"/>
                </a:solidFill>
                <a:latin typeface="Arial"/>
                <a:ea typeface="Arial"/>
                <a:cs typeface="Arial"/>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7313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Foreground visible</c:v>
          </c:tx>
          <c:spPr>
            <a:solidFill xmlns:a="http://schemas.openxmlformats.org/drawingml/2006/main">
              <a:srgbClr val="007F7B"/>
            </a:solidFill>
          </c:spPr>
          <c:invertIfNegative val="0"/>
          <c:cat>
            <c:strRef>
              <c:f>'Chart Data'!$A$2:$A$5</c:f>
              <c:strCache>
                <c:ptCount val="4"/>
                <c:pt idx="0">
                  <c:v>Prefix</c:v>
                </c:pt>
                <c:pt idx="1">
                  <c:v>Suffix</c:v>
                </c:pt>
                <c:pt idx="2">
                  <c:v>Center</c:v>
                </c:pt>
                <c:pt idx="3">
                  <c:v>Random</c:v>
                </c:pt>
              </c:strCache>
            </c:strRef>
          </c:cat>
          <c:val>
            <c:numRef>
              <c:f>'Chart Data'!$B$2:$B$5</c:f>
              <c:numCache>
                <c:formatCode>0</c:formatCode>
                <c:ptCount val="4"/>
                <c:pt idx="0">
                  <c:v>9.6</c:v>
                </c:pt>
                <c:pt idx="1">
                  <c:v>15.3</c:v>
                </c:pt>
                <c:pt idx="2">
                  <c:v>62.5</c:v>
                </c:pt>
                <c:pt idx="3">
                  <c:v>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17313D"/>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6C2C7"/>
            </a:solidFill>
          </a:ln>
        </c:spPr>
        <c:txPr>
          <a:bodyPr xmlns:a="http://schemas.openxmlformats.org/drawingml/2006/main" anchorCtr="1"/>
          <a:lstStyle xmlns:a="http://schemas.openxmlformats.org/drawingml/2006/main"/>
          <a:p xmlns:a="http://schemas.openxmlformats.org/drawingml/2006/main">
            <a:pPr>
              <a:defRPr sz="1800">
                <a:solidFill>
                  <a:srgbClr val="17313D"/>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3E9EC"/>
              </a:solidFill>
            </a:ln>
          </c:spPr>
        </c:majorGridlines>
        <c:title>
          <c:tx>
            <c:rich>
              <a:bodyPr xmlns:a="http://schemas.openxmlformats.org/drawingml/2006/main"/>
              <a:lstStyle xmlns:a="http://schemas.openxmlformats.org/drawingml/2006/main"/>
              <a:p xmlns:a="http://schemas.openxmlformats.org/drawingml/2006/main">
                <a:r>
                  <a:rPr sz="1650">
                    <a:solidFill>
                      <a:srgbClr val="52616A"/>
                    </a:solidFill>
                    <a:latin typeface="Arial"/>
                    <a:ea typeface="Arial"/>
                    <a:cs typeface="Arial"/>
                  </a:rPr>
                  <a:t>Foreground visible (%)</a:t>
                </a:r>
              </a:p>
            </c:rich>
          </c:tx>
          <c:overlay val="0"/>
          <c:txPr>
            <a:bodyPr xmlns:a="http://schemas.openxmlformats.org/drawingml/2006/main" anchorCtr="1"/>
            <a:lstStyle xmlns:a="http://schemas.openxmlformats.org/drawingml/2006/main"/>
            <a:p xmlns:a="http://schemas.openxmlformats.org/drawingml/2006/main">
              <a:pPr>
                <a:defRPr sz="1650">
                  <a:solidFill>
                    <a:srgbClr val="52616A"/>
                  </a:solidFill>
                  <a:latin typeface="Arial"/>
                  <a:ea typeface="Arial"/>
                  <a:cs typeface="Arial"/>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16A"/>
                </a:solidFill>
                <a:latin typeface="Arial"/>
                <a:ea typeface="Arial"/>
                <a:cs typeface="Arial"/>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B1004B-EFFA-4289-8DFE-574F910D7DB2}"/>
              </a:ext>
            </a:extLst>
          </p:cNvPr>
          <p:cNvSpPr>
            <a:spLocks xmlns:a="http://schemas.openxmlformats.org/drawingml/2006/main" noGrp="1"/>
          </p:cNvSpPr>
          <p:nvPr/>
        </p:nvSpPr>
        <p:spPr>
          <a:xfrm xmlns:a="http://schemas.openxmlformats.org/drawingml/2006/main">
            <a:off x="609600" y="72390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Arial"/>
                <a:ea typeface="Arial"/>
                <a:cs typeface="Arial"/>
              </a:defRPr>
            </a:defPPr>
            <a:lvl1pPr>
              <a:buNone/>
              <a:defRPr sz="1350" b="1">
                <a:solidFill>
                  <a:srgbClr val="007F7B"/>
                </a:solidFill>
                <a:latin typeface="Arial"/>
                <a:ea typeface="Arial"/>
                <a:cs typeface="Arial"/>
              </a:defRPr>
            </a:lvl1pPr>
            <a:lvl2pPr>
              <a:buNone/>
              <a:defRPr sz="1350" b="1">
                <a:solidFill>
                  <a:srgbClr val="007F7B"/>
                </a:solidFill>
                <a:latin typeface="Arial"/>
                <a:ea typeface="Arial"/>
                <a:cs typeface="Arial"/>
              </a:defRPr>
            </a:lvl2pPr>
            <a:lvl3pPr>
              <a:buNone/>
              <a:defRPr sz="1350" b="1">
                <a:solidFill>
                  <a:srgbClr val="007F7B"/>
                </a:solidFill>
                <a:latin typeface="Arial"/>
                <a:ea typeface="Arial"/>
                <a:cs typeface="Arial"/>
              </a:defRPr>
            </a:lvl3pPr>
            <a:lvl4pPr>
              <a:buNone/>
              <a:defRPr sz="1350" b="1">
                <a:solidFill>
                  <a:srgbClr val="007F7B"/>
                </a:solidFill>
                <a:latin typeface="Arial"/>
                <a:ea typeface="Arial"/>
                <a:cs typeface="Arial"/>
              </a:defRPr>
            </a:lvl4pPr>
            <a:lvl5pPr>
              <a:buNone/>
              <a:defRPr sz="1350" b="1">
                <a:solidFill>
                  <a:srgbClr val="007F7B"/>
                </a:solidFill>
                <a:latin typeface="Arial"/>
                <a:ea typeface="Arial"/>
                <a:cs typeface="Arial"/>
              </a:defRPr>
            </a:lvl5pPr>
            <a:lvl6pPr>
              <a:buNone/>
              <a:defRPr sz="1350" b="1">
                <a:solidFill>
                  <a:srgbClr val="007F7B"/>
                </a:solidFill>
                <a:latin typeface="Arial"/>
                <a:ea typeface="Arial"/>
                <a:cs typeface="Arial"/>
              </a:defRPr>
            </a:lvl6pPr>
            <a:lvl7pPr>
              <a:buNone/>
              <a:defRPr sz="1350" b="1">
                <a:solidFill>
                  <a:srgbClr val="007F7B"/>
                </a:solidFill>
                <a:latin typeface="Arial"/>
                <a:ea typeface="Arial"/>
                <a:cs typeface="Arial"/>
              </a:defRPr>
            </a:lvl7pPr>
            <a:lvl8pPr>
              <a:buNone/>
              <a:defRPr sz="1350" b="1">
                <a:solidFill>
                  <a:srgbClr val="007F7B"/>
                </a:solidFill>
                <a:latin typeface="Arial"/>
                <a:ea typeface="Arial"/>
                <a:cs typeface="Arial"/>
              </a:defRPr>
            </a:lvl8pPr>
            <a:lvl9pPr>
              <a:buNone/>
              <a:defRPr sz="1350" b="1">
                <a:solidFill>
                  <a:srgbClr val="007F7B"/>
                </a:solidFill>
                <a:latin typeface="Arial"/>
                <a:ea typeface="Arial"/>
                <a:cs typeface="Arial"/>
              </a:defRPr>
            </a:lvl9pPr>
          </a:lstStyle>
          <a:p xmlns:a="http://schemas.openxmlformats.org/drawingml/2006/main">
            <a:pPr>
              <a:buNone/>
              <a:defRPr sz="1350" b="1">
                <a:solidFill>
                  <a:srgbClr val="007F7B"/>
                </a:solidFill>
                <a:latin typeface="Arial"/>
                <a:ea typeface="Arial"/>
                <a:cs typeface="Arial"/>
              </a:defRPr>
            </a:pPr>
            <a:r>
              <a:rPr sz="1350" b="1">
                <a:solidFill>
                  <a:srgbClr val="007F7B"/>
                </a:solidFill>
                <a:latin typeface="Arial"/>
                <a:ea typeface="Arial"/>
                <a:cs typeface="Arial"/>
              </a:rPr>
              <a:t>COMP 669 PROJECT MILESTONE</a:t>
            </a:r>
          </a:p>
        </p:txBody>
      </p:sp>
      <p:sp>
        <p:nvSpPr>
          <p:cNvPr id="2" name="">
            <a:extLst xmlns:a="http://schemas.openxmlformats.org/drawingml/2006/main">
              <a:ext uri="{FF2B5EF4-FFF2-40B4-BE49-F238E27FC236}">
                <a16:creationId xmlns:a16="http://schemas.microsoft.com/office/drawing/2014/main" id="{F079D26D-B451-41BE-8BBE-789D8B65E4A8}"/>
              </a:ext>
            </a:extLst>
          </p:cNvPr>
          <p:cNvSpPr>
            <a:spLocks xmlns:a="http://schemas.openxmlformats.org/drawingml/2006/main" noGrp="1"/>
          </p:cNvSpPr>
          <p:nvPr/>
        </p:nvSpPr>
        <p:spPr>
          <a:xfrm xmlns:a="http://schemas.openxmlformats.org/drawingml/2006/main">
            <a:off x="609600" y="16383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7313D"/>
                </a:solidFill>
                <a:latin typeface="Arial"/>
                <a:ea typeface="Arial"/>
                <a:cs typeface="Arial"/>
              </a:defRPr>
            </a:defPPr>
            <a:lvl1pPr>
              <a:buNone/>
              <a:defRPr sz="4800" b="1">
                <a:solidFill>
                  <a:srgbClr val="17313D"/>
                </a:solidFill>
                <a:latin typeface="Arial"/>
                <a:ea typeface="Arial"/>
                <a:cs typeface="Arial"/>
              </a:defRPr>
            </a:lvl1pPr>
            <a:lvl2pPr>
              <a:buNone/>
              <a:defRPr sz="4800" b="1">
                <a:solidFill>
                  <a:srgbClr val="17313D"/>
                </a:solidFill>
                <a:latin typeface="Arial"/>
                <a:ea typeface="Arial"/>
                <a:cs typeface="Arial"/>
              </a:defRPr>
            </a:lvl2pPr>
            <a:lvl3pPr>
              <a:buNone/>
              <a:defRPr sz="4800" b="1">
                <a:solidFill>
                  <a:srgbClr val="17313D"/>
                </a:solidFill>
                <a:latin typeface="Arial"/>
                <a:ea typeface="Arial"/>
                <a:cs typeface="Arial"/>
              </a:defRPr>
            </a:lvl3pPr>
            <a:lvl4pPr>
              <a:buNone/>
              <a:defRPr sz="4800" b="1">
                <a:solidFill>
                  <a:srgbClr val="17313D"/>
                </a:solidFill>
                <a:latin typeface="Arial"/>
                <a:ea typeface="Arial"/>
                <a:cs typeface="Arial"/>
              </a:defRPr>
            </a:lvl4pPr>
            <a:lvl5pPr>
              <a:buNone/>
              <a:defRPr sz="4800" b="1">
                <a:solidFill>
                  <a:srgbClr val="17313D"/>
                </a:solidFill>
                <a:latin typeface="Arial"/>
                <a:ea typeface="Arial"/>
                <a:cs typeface="Arial"/>
              </a:defRPr>
            </a:lvl5pPr>
            <a:lvl6pPr>
              <a:buNone/>
              <a:defRPr sz="4800" b="1">
                <a:solidFill>
                  <a:srgbClr val="17313D"/>
                </a:solidFill>
                <a:latin typeface="Arial"/>
                <a:ea typeface="Arial"/>
                <a:cs typeface="Arial"/>
              </a:defRPr>
            </a:lvl6pPr>
            <a:lvl7pPr>
              <a:buNone/>
              <a:defRPr sz="4800" b="1">
                <a:solidFill>
                  <a:srgbClr val="17313D"/>
                </a:solidFill>
                <a:latin typeface="Arial"/>
                <a:ea typeface="Arial"/>
                <a:cs typeface="Arial"/>
              </a:defRPr>
            </a:lvl7pPr>
            <a:lvl8pPr>
              <a:buNone/>
              <a:defRPr sz="4800" b="1">
                <a:solidFill>
                  <a:srgbClr val="17313D"/>
                </a:solidFill>
                <a:latin typeface="Arial"/>
                <a:ea typeface="Arial"/>
                <a:cs typeface="Arial"/>
              </a:defRPr>
            </a:lvl8pPr>
            <a:lvl9pPr>
              <a:buNone/>
              <a:defRPr sz="4800" b="1">
                <a:solidFill>
                  <a:srgbClr val="17313D"/>
                </a:solidFill>
                <a:latin typeface="Arial"/>
                <a:ea typeface="Arial"/>
                <a:cs typeface="Arial"/>
              </a:defRPr>
            </a:lvl9pPr>
          </a:lstStyle>
          <a:p xmlns:a="http://schemas.openxmlformats.org/drawingml/2006/main">
            <a:pPr>
              <a:buNone/>
              <a:defRPr sz="4800" b="1">
                <a:solidFill>
                  <a:srgbClr val="17313D"/>
                </a:solidFill>
                <a:latin typeface="Arial"/>
                <a:ea typeface="Arial"/>
                <a:cs typeface="Arial"/>
              </a:defRPr>
            </a:pPr>
            <a:r>
              <a:rPr sz="4800" b="1">
                <a:solidFill>
                  <a:srgbClr val="17313D"/>
                </a:solidFill>
                <a:latin typeface="Arial"/>
                <a:ea typeface="Arial"/>
                <a:cs typeface="Arial"/>
              </a:rPr>
              <a:t>What does occlusion</a:t>
            </a:r>
          </a:p>
          <a:p xmlns:a="http://schemas.openxmlformats.org/drawingml/2006/main">
            <a:pPr>
              <a:buNone/>
              <a:defRPr sz="4800" b="1">
                <a:solidFill>
                  <a:srgbClr val="17313D"/>
                </a:solidFill>
                <a:latin typeface="Arial"/>
                <a:ea typeface="Arial"/>
                <a:cs typeface="Arial"/>
              </a:defRPr>
            </a:pPr>
            <a:r>
              <a:rPr sz="4800" b="1">
                <a:solidFill>
                  <a:srgbClr val="17313D"/>
                </a:solidFill>
                <a:latin typeface="Arial"/>
                <a:ea typeface="Arial"/>
                <a:cs typeface="Arial"/>
              </a:rPr>
              <a:t>robustness measure?</a:t>
            </a:r>
          </a:p>
        </p:txBody>
      </p:sp>
      <p:sp>
        <p:nvSpPr>
          <p:cNvPr id="3" name="">
            <a:extLst xmlns:a="http://schemas.openxmlformats.org/drawingml/2006/main">
              <a:ext uri="{FF2B5EF4-FFF2-40B4-BE49-F238E27FC236}">
                <a16:creationId xmlns:a16="http://schemas.microsoft.com/office/drawing/2014/main" id="{910F5D35-D3DA-46B9-A967-A89B3A260212}"/>
              </a:ext>
            </a:extLst>
          </p:cNvPr>
          <p:cNvSpPr>
            <a:spLocks xmlns:a="http://schemas.openxmlformats.org/drawingml/2006/main" noGrp="1"/>
          </p:cNvSpPr>
          <p:nvPr/>
        </p:nvSpPr>
        <p:spPr>
          <a:xfrm xmlns:a="http://schemas.openxmlformats.org/drawingml/2006/main">
            <a:off x="647700" y="3743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52616A"/>
                </a:solidFill>
                <a:latin typeface="Arial"/>
                <a:ea typeface="Arial"/>
                <a:cs typeface="Arial"/>
              </a:defRPr>
            </a:defPPr>
            <a:lvl1pPr>
              <a:buNone/>
              <a:defRPr sz="2400" b="0">
                <a:solidFill>
                  <a:srgbClr val="52616A"/>
                </a:solidFill>
                <a:latin typeface="Arial"/>
                <a:ea typeface="Arial"/>
                <a:cs typeface="Arial"/>
              </a:defRPr>
            </a:lvl1pPr>
            <a:lvl2pPr>
              <a:buNone/>
              <a:defRPr sz="2400" b="0">
                <a:solidFill>
                  <a:srgbClr val="52616A"/>
                </a:solidFill>
                <a:latin typeface="Arial"/>
                <a:ea typeface="Arial"/>
                <a:cs typeface="Arial"/>
              </a:defRPr>
            </a:lvl2pPr>
            <a:lvl3pPr>
              <a:buNone/>
              <a:defRPr sz="2400" b="0">
                <a:solidFill>
                  <a:srgbClr val="52616A"/>
                </a:solidFill>
                <a:latin typeface="Arial"/>
                <a:ea typeface="Arial"/>
                <a:cs typeface="Arial"/>
              </a:defRPr>
            </a:lvl3pPr>
            <a:lvl4pPr>
              <a:buNone/>
              <a:defRPr sz="2400" b="0">
                <a:solidFill>
                  <a:srgbClr val="52616A"/>
                </a:solidFill>
                <a:latin typeface="Arial"/>
                <a:ea typeface="Arial"/>
                <a:cs typeface="Arial"/>
              </a:defRPr>
            </a:lvl4pPr>
            <a:lvl5pPr>
              <a:buNone/>
              <a:defRPr sz="2400" b="0">
                <a:solidFill>
                  <a:srgbClr val="52616A"/>
                </a:solidFill>
                <a:latin typeface="Arial"/>
                <a:ea typeface="Arial"/>
                <a:cs typeface="Arial"/>
              </a:defRPr>
            </a:lvl5pPr>
            <a:lvl6pPr>
              <a:buNone/>
              <a:defRPr sz="2400" b="0">
                <a:solidFill>
                  <a:srgbClr val="52616A"/>
                </a:solidFill>
                <a:latin typeface="Arial"/>
                <a:ea typeface="Arial"/>
                <a:cs typeface="Arial"/>
              </a:defRPr>
            </a:lvl6pPr>
            <a:lvl7pPr>
              <a:buNone/>
              <a:defRPr sz="2400" b="0">
                <a:solidFill>
                  <a:srgbClr val="52616A"/>
                </a:solidFill>
                <a:latin typeface="Arial"/>
                <a:ea typeface="Arial"/>
                <a:cs typeface="Arial"/>
              </a:defRPr>
            </a:lvl7pPr>
            <a:lvl8pPr>
              <a:buNone/>
              <a:defRPr sz="2400" b="0">
                <a:solidFill>
                  <a:srgbClr val="52616A"/>
                </a:solidFill>
                <a:latin typeface="Arial"/>
                <a:ea typeface="Arial"/>
                <a:cs typeface="Arial"/>
              </a:defRPr>
            </a:lvl8pPr>
            <a:lvl9pPr>
              <a:buNone/>
              <a:defRPr sz="2400" b="0">
                <a:solidFill>
                  <a:srgbClr val="52616A"/>
                </a:solidFill>
                <a:latin typeface="Arial"/>
                <a:ea typeface="Arial"/>
                <a:cs typeface="Arial"/>
              </a:defRPr>
            </a:lvl9pPr>
          </a:lstStyle>
          <a:p xmlns:a="http://schemas.openxmlformats.org/drawingml/2006/main">
            <a:pPr>
              <a:buNone/>
              <a:defRPr sz="2400" b="0">
                <a:solidFill>
                  <a:srgbClr val="52616A"/>
                </a:solidFill>
                <a:latin typeface="Arial"/>
                <a:ea typeface="Arial"/>
                <a:cs typeface="Arial"/>
              </a:defRPr>
            </a:pPr>
            <a:r>
              <a:rPr sz="2400" b="0">
                <a:solidFill>
                  <a:srgbClr val="52616A"/>
                </a:solidFill>
                <a:latin typeface="Arial"/>
                <a:ea typeface="Arial"/>
                <a:cs typeface="Arial"/>
              </a:rPr>
              <a:t>Evaluation conditions, visible foreground and model ordering</a:t>
            </a:r>
          </a:p>
          <a:p xmlns:a="http://schemas.openxmlformats.org/drawingml/2006/main">
            <a:pPr>
              <a:buNone/>
              <a:defRPr sz="2400" b="0">
                <a:solidFill>
                  <a:srgbClr val="52616A"/>
                </a:solidFill>
                <a:latin typeface="Arial"/>
                <a:ea typeface="Arial"/>
                <a:cs typeface="Arial"/>
              </a:defRPr>
            </a:pPr>
            <a:r>
              <a:rPr sz="2400" b="0">
                <a:solidFill>
                  <a:srgbClr val="52616A"/>
                </a:solidFill>
                <a:latin typeface="Arial"/>
                <a:ea typeface="Arial"/>
                <a:cs typeface="Arial"/>
              </a:rPr>
              <a:t>in frozen AIMv2 and DINOv2</a:t>
            </a:r>
          </a:p>
        </p:txBody>
      </p:sp>
      <p:sp>
        <p:nvSpPr>
          <p:cNvPr id="4" name="">
            <a:extLst xmlns:a="http://schemas.openxmlformats.org/drawingml/2006/main">
              <a:ext uri="{FF2B5EF4-FFF2-40B4-BE49-F238E27FC236}">
                <a16:creationId xmlns:a16="http://schemas.microsoft.com/office/drawing/2014/main" id="{64BF558A-BA06-4B69-9E1B-DCE0E2CC82B3}"/>
              </a:ext>
            </a:extLst>
          </p:cNvPr>
          <p:cNvSpPr>
            <a:spLocks xmlns:a="http://schemas.openxmlformats.org/drawingml/2006/main" noGrp="1"/>
          </p:cNvSpPr>
          <p:nvPr/>
        </p:nvSpPr>
        <p:spPr>
          <a:xfrm xmlns:a="http://schemas.openxmlformats.org/drawingml/2006/main">
            <a:off x="647700" y="55816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buNone/>
              <a:defRPr sz="1725" b="0">
                <a:solidFill>
                  <a:srgbClr val="52616A"/>
                </a:solidFill>
                <a:latin typeface="Arial"/>
                <a:ea typeface="Arial"/>
                <a:cs typeface="Arial"/>
              </a:defRPr>
            </a:lvl1pPr>
            <a:lvl2pPr>
              <a:buNone/>
              <a:defRPr sz="1725" b="0">
                <a:solidFill>
                  <a:srgbClr val="52616A"/>
                </a:solidFill>
                <a:latin typeface="Arial"/>
                <a:ea typeface="Arial"/>
                <a:cs typeface="Arial"/>
              </a:defRPr>
            </a:lvl2pPr>
            <a:lvl3pPr>
              <a:buNone/>
              <a:defRPr sz="1725" b="0">
                <a:solidFill>
                  <a:srgbClr val="52616A"/>
                </a:solidFill>
                <a:latin typeface="Arial"/>
                <a:ea typeface="Arial"/>
                <a:cs typeface="Arial"/>
              </a:defRPr>
            </a:lvl3pPr>
            <a:lvl4pPr>
              <a:buNone/>
              <a:defRPr sz="1725" b="0">
                <a:solidFill>
                  <a:srgbClr val="52616A"/>
                </a:solidFill>
                <a:latin typeface="Arial"/>
                <a:ea typeface="Arial"/>
                <a:cs typeface="Arial"/>
              </a:defRPr>
            </a:lvl4pPr>
            <a:lvl5pPr>
              <a:buNone/>
              <a:defRPr sz="1725" b="0">
                <a:solidFill>
                  <a:srgbClr val="52616A"/>
                </a:solidFill>
                <a:latin typeface="Arial"/>
                <a:ea typeface="Arial"/>
                <a:cs typeface="Arial"/>
              </a:defRPr>
            </a:lvl5pPr>
            <a:lvl6pPr>
              <a:buNone/>
              <a:defRPr sz="1725" b="0">
                <a:solidFill>
                  <a:srgbClr val="52616A"/>
                </a:solidFill>
                <a:latin typeface="Arial"/>
                <a:ea typeface="Arial"/>
                <a:cs typeface="Arial"/>
              </a:defRPr>
            </a:lvl6pPr>
            <a:lvl7pPr>
              <a:buNone/>
              <a:defRPr sz="1725" b="0">
                <a:solidFill>
                  <a:srgbClr val="52616A"/>
                </a:solidFill>
                <a:latin typeface="Arial"/>
                <a:ea typeface="Arial"/>
                <a:cs typeface="Arial"/>
              </a:defRPr>
            </a:lvl7pPr>
            <a:lvl8pPr>
              <a:buNone/>
              <a:defRPr sz="1725" b="0">
                <a:solidFill>
                  <a:srgbClr val="52616A"/>
                </a:solidFill>
                <a:latin typeface="Arial"/>
                <a:ea typeface="Arial"/>
                <a:cs typeface="Arial"/>
              </a:defRPr>
            </a:lvl8pPr>
            <a:lvl9pPr>
              <a:buNone/>
              <a:defRPr sz="1725" b="0">
                <a:solidFill>
                  <a:srgbClr val="52616A"/>
                </a:solidFill>
                <a:latin typeface="Arial"/>
                <a:ea typeface="Arial"/>
                <a:cs typeface="Arial"/>
              </a:defRPr>
            </a:lvl9pPr>
          </a:lstStyle>
          <a:p xmlns:a="http://schemas.openxmlformats.org/drawingml/2006/main">
            <a:pPr>
              <a:buNone/>
              <a:defRPr sz="1725" b="0">
                <a:solidFill>
                  <a:srgbClr val="52616A"/>
                </a:solidFill>
                <a:latin typeface="Arial"/>
                <a:ea typeface="Arial"/>
                <a:cs typeface="Arial"/>
              </a:defRPr>
            </a:pPr>
            <a:r>
              <a:rPr sz="1725" b="0">
                <a:solidFill>
                  <a:srgbClr val="52616A"/>
                </a:solidFill>
                <a:latin typeface="Arial"/>
                <a:ea typeface="Arial"/>
                <a:cs typeface="Arial"/>
              </a:rPr>
              <a:t>Boshen Yang</a:t>
            </a:r>
          </a:p>
          <a:p xmlns:a="http://schemas.openxmlformats.org/drawingml/2006/main">
            <a:pPr>
              <a:buNone/>
              <a:defRPr sz="1725" b="0">
                <a:solidFill>
                  <a:srgbClr val="52616A"/>
                </a:solidFill>
                <a:latin typeface="Arial"/>
                <a:ea typeface="Arial"/>
                <a:cs typeface="Arial"/>
              </a:defRPr>
            </a:pPr>
            <a:r>
              <a:rPr sz="1725" b="0">
                <a:solidFill>
                  <a:srgbClr val="52616A"/>
                </a:solidFill>
                <a:latin typeface="Arial"/>
                <a:ea typeface="Arial"/>
                <a:cs typeface="Arial"/>
              </a:rPr>
              <a:t>Oxford-IIIT Pet, pilot and follow-up v2</a:t>
            </a:r>
          </a:p>
        </p:txBody>
      </p:sp>
    </p:spTree>
    <p:extLst>
      <p:ext uri="{BB962C8B-B14F-4D97-AF65-F5344CB8AC3E}">
        <p14:creationId xmlns:p14="http://schemas.microsoft.com/office/powerpoint/2010/main" val="6748382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8A8A26-131C-44AF-851B-FC364FCF1536}"/>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Motivation: interpreting a robustness comparison</a:t>
            </a:r>
          </a:p>
        </p:txBody>
      </p:sp>
      <p:sp>
        <p:nvSpPr>
          <p:cNvPr id="2" name="">
            <a:extLst xmlns:a="http://schemas.openxmlformats.org/drawingml/2006/main">
              <a:ext uri="{FF2B5EF4-FFF2-40B4-BE49-F238E27FC236}">
                <a16:creationId xmlns:a16="http://schemas.microsoft.com/office/drawing/2014/main" id="{B590F840-7A90-4086-A7CF-529285653F78}"/>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82F4A68-1D52-4046-A9F1-D68626331F52}"/>
              </a:ext>
            </a:extLst>
          </p:cNvPr>
          <p:cNvSpPr>
            <a:spLocks xmlns:a="http://schemas.openxmlformats.org/drawingml/2006/main" noGrp="1"/>
          </p:cNvSpPr>
          <p:nvPr/>
        </p:nvSpPr>
        <p:spPr>
          <a:xfrm xmlns:a="http://schemas.openxmlformats.org/drawingml/2006/main">
            <a:off x="609600" y="17049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Arial"/>
                <a:ea typeface="Arial"/>
                <a:cs typeface="Arial"/>
              </a:defRPr>
            </a:defPPr>
            <a:lvl1pPr>
              <a:defRPr sz="2100" b="1">
                <a:solidFill>
                  <a:srgbClr val="007F7B"/>
                </a:solidFill>
                <a:latin typeface="Arial"/>
                <a:ea typeface="Arial"/>
                <a:cs typeface="Arial"/>
              </a:defRPr>
            </a:lvl1pPr>
            <a:lvl2pPr>
              <a:defRPr sz="2100" b="1">
                <a:solidFill>
                  <a:srgbClr val="007F7B"/>
                </a:solidFill>
                <a:latin typeface="Arial"/>
                <a:ea typeface="Arial"/>
                <a:cs typeface="Arial"/>
              </a:defRPr>
            </a:lvl2pPr>
            <a:lvl3pPr>
              <a:defRPr sz="2100" b="1">
                <a:solidFill>
                  <a:srgbClr val="007F7B"/>
                </a:solidFill>
                <a:latin typeface="Arial"/>
                <a:ea typeface="Arial"/>
                <a:cs typeface="Arial"/>
              </a:defRPr>
            </a:lvl3pPr>
            <a:lvl4pPr>
              <a:defRPr sz="2100" b="1">
                <a:solidFill>
                  <a:srgbClr val="007F7B"/>
                </a:solidFill>
                <a:latin typeface="Arial"/>
                <a:ea typeface="Arial"/>
                <a:cs typeface="Arial"/>
              </a:defRPr>
            </a:lvl4pPr>
            <a:lvl5pPr>
              <a:defRPr sz="2100" b="1">
                <a:solidFill>
                  <a:srgbClr val="007F7B"/>
                </a:solidFill>
                <a:latin typeface="Arial"/>
                <a:ea typeface="Arial"/>
                <a:cs typeface="Arial"/>
              </a:defRPr>
            </a:lvl5pPr>
            <a:lvl6pPr>
              <a:defRPr sz="2100" b="1">
                <a:solidFill>
                  <a:srgbClr val="007F7B"/>
                </a:solidFill>
                <a:latin typeface="Arial"/>
                <a:ea typeface="Arial"/>
                <a:cs typeface="Arial"/>
              </a:defRPr>
            </a:lvl6pPr>
            <a:lvl7pPr>
              <a:defRPr sz="2100" b="1">
                <a:solidFill>
                  <a:srgbClr val="007F7B"/>
                </a:solidFill>
                <a:latin typeface="Arial"/>
                <a:ea typeface="Arial"/>
                <a:cs typeface="Arial"/>
              </a:defRPr>
            </a:lvl7pPr>
            <a:lvl8pPr>
              <a:defRPr sz="2100" b="1">
                <a:solidFill>
                  <a:srgbClr val="007F7B"/>
                </a:solidFill>
                <a:latin typeface="Arial"/>
                <a:ea typeface="Arial"/>
                <a:cs typeface="Arial"/>
              </a:defRPr>
            </a:lvl8pPr>
            <a:lvl9pPr>
              <a:defRPr sz="2100" b="1">
                <a:solidFill>
                  <a:srgbClr val="007F7B"/>
                </a:solidFill>
                <a:latin typeface="Arial"/>
                <a:ea typeface="Arial"/>
                <a:cs typeface="Arial"/>
              </a:defRPr>
            </a:lvl9pPr>
          </a:lstStyle>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Research question</a:t>
            </a:r>
          </a:p>
        </p:txBody>
      </p:sp>
      <p:sp>
        <p:nvSpPr>
          <p:cNvPr id="4" name="">
            <a:extLst xmlns:a="http://schemas.openxmlformats.org/drawingml/2006/main">
              <a:ext uri="{FF2B5EF4-FFF2-40B4-BE49-F238E27FC236}">
                <a16:creationId xmlns:a16="http://schemas.microsoft.com/office/drawing/2014/main" id="{2A5938E5-6D44-4BE0-A27E-A92E85BDB577}"/>
              </a:ext>
            </a:extLst>
          </p:cNvPr>
          <p:cNvSpPr>
            <a:spLocks xmlns:a="http://schemas.openxmlformats.org/drawingml/2006/main" noGrp="1"/>
          </p:cNvSpPr>
          <p:nvPr/>
        </p:nvSpPr>
        <p:spPr>
          <a:xfrm xmlns:a="http://schemas.openxmlformats.org/drawingml/2006/main">
            <a:off x="609600" y="2286000"/>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7313D"/>
                </a:solidFill>
                <a:latin typeface="Arial"/>
                <a:ea typeface="Arial"/>
                <a:cs typeface="Arial"/>
              </a:defRPr>
            </a:defPPr>
            <a:lvl1pPr>
              <a:defRPr sz="3225" b="1">
                <a:solidFill>
                  <a:srgbClr val="17313D"/>
                </a:solidFill>
                <a:latin typeface="Arial"/>
                <a:ea typeface="Arial"/>
                <a:cs typeface="Arial"/>
              </a:defRPr>
            </a:lvl1pPr>
            <a:lvl2pPr>
              <a:defRPr sz="3225" b="1">
                <a:solidFill>
                  <a:srgbClr val="17313D"/>
                </a:solidFill>
                <a:latin typeface="Arial"/>
                <a:ea typeface="Arial"/>
                <a:cs typeface="Arial"/>
              </a:defRPr>
            </a:lvl2pPr>
            <a:lvl3pPr>
              <a:defRPr sz="3225" b="1">
                <a:solidFill>
                  <a:srgbClr val="17313D"/>
                </a:solidFill>
                <a:latin typeface="Arial"/>
                <a:ea typeface="Arial"/>
                <a:cs typeface="Arial"/>
              </a:defRPr>
            </a:lvl3pPr>
            <a:lvl4pPr>
              <a:defRPr sz="3225" b="1">
                <a:solidFill>
                  <a:srgbClr val="17313D"/>
                </a:solidFill>
                <a:latin typeface="Arial"/>
                <a:ea typeface="Arial"/>
                <a:cs typeface="Arial"/>
              </a:defRPr>
            </a:lvl4pPr>
            <a:lvl5pPr>
              <a:defRPr sz="3225" b="1">
                <a:solidFill>
                  <a:srgbClr val="17313D"/>
                </a:solidFill>
                <a:latin typeface="Arial"/>
                <a:ea typeface="Arial"/>
                <a:cs typeface="Arial"/>
              </a:defRPr>
            </a:lvl5pPr>
            <a:lvl6pPr>
              <a:defRPr sz="3225" b="1">
                <a:solidFill>
                  <a:srgbClr val="17313D"/>
                </a:solidFill>
                <a:latin typeface="Arial"/>
                <a:ea typeface="Arial"/>
                <a:cs typeface="Arial"/>
              </a:defRPr>
            </a:lvl6pPr>
            <a:lvl7pPr>
              <a:defRPr sz="3225" b="1">
                <a:solidFill>
                  <a:srgbClr val="17313D"/>
                </a:solidFill>
                <a:latin typeface="Arial"/>
                <a:ea typeface="Arial"/>
                <a:cs typeface="Arial"/>
              </a:defRPr>
            </a:lvl7pPr>
            <a:lvl8pPr>
              <a:defRPr sz="3225" b="1">
                <a:solidFill>
                  <a:srgbClr val="17313D"/>
                </a:solidFill>
                <a:latin typeface="Arial"/>
                <a:ea typeface="Arial"/>
                <a:cs typeface="Arial"/>
              </a:defRPr>
            </a:lvl8pPr>
            <a:lvl9pPr>
              <a:defRPr sz="3225" b="1">
                <a:solidFill>
                  <a:srgbClr val="17313D"/>
                </a:solidFill>
                <a:latin typeface="Arial"/>
                <a:ea typeface="Arial"/>
                <a:cs typeface="Arial"/>
              </a:defRPr>
            </a:lvl9pPr>
          </a:lstStyle>
          <a:p xmlns:a="http://schemas.openxmlformats.org/drawingml/2006/main">
            <a:pPr>
              <a:defRPr sz="3225" b="1">
                <a:solidFill>
                  <a:srgbClr val="17313D"/>
                </a:solidFill>
                <a:latin typeface="Arial"/>
                <a:ea typeface="Arial"/>
                <a:cs typeface="Arial"/>
              </a:defRPr>
            </a:pPr>
            <a:r>
              <a:rPr sz="3225" b="1">
                <a:solidFill>
                  <a:srgbClr val="17313D"/>
                </a:solidFill>
                <a:latin typeface="Arial"/>
                <a:ea typeface="Arial"/>
                <a:cs typeface="Arial"/>
              </a:rPr>
              <a:t>Does the masking condition change</a:t>
            </a:r>
          </a:p>
          <a:p xmlns:a="http://schemas.openxmlformats.org/drawingml/2006/main">
            <a:pPr>
              <a:defRPr sz="3225" b="1">
                <a:solidFill>
                  <a:srgbClr val="17313D"/>
                </a:solidFill>
                <a:latin typeface="Arial"/>
                <a:ea typeface="Arial"/>
                <a:cs typeface="Arial"/>
              </a:defRPr>
            </a:pPr>
            <a:r>
              <a:rPr sz="3225" b="1">
                <a:solidFill>
                  <a:srgbClr val="17313D"/>
                </a:solidFill>
                <a:latin typeface="Arial"/>
                <a:ea typeface="Arial"/>
                <a:cs typeface="Arial"/>
              </a:rPr>
              <a:t>which model appears more robust?</a:t>
            </a:r>
          </a:p>
        </p:txBody>
      </p:sp>
      <p:sp>
        <p:nvSpPr>
          <p:cNvPr id="5" name="">
            <a:extLst xmlns:a="http://schemas.openxmlformats.org/drawingml/2006/main">
              <a:ext uri="{FF2B5EF4-FFF2-40B4-BE49-F238E27FC236}">
                <a16:creationId xmlns:a16="http://schemas.microsoft.com/office/drawing/2014/main" id="{5FA142FB-1712-4D49-B6AE-5BA6FF6B5560}"/>
              </a:ext>
            </a:extLst>
          </p:cNvPr>
          <p:cNvSpPr>
            <a:spLocks xmlns:a="http://schemas.openxmlformats.org/drawingml/2006/main" noGrp="1"/>
          </p:cNvSpPr>
          <p:nvPr/>
        </p:nvSpPr>
        <p:spPr>
          <a:xfrm xmlns:a="http://schemas.openxmlformats.org/drawingml/2006/main">
            <a:off x="609600" y="4010025"/>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313D"/>
                </a:solidFill>
                <a:latin typeface="Arial"/>
                <a:ea typeface="Arial"/>
                <a:cs typeface="Arial"/>
              </a:defRPr>
            </a:defPPr>
            <a:lvl1pPr>
              <a:defRPr sz="2175" b="0">
                <a:solidFill>
                  <a:srgbClr val="17313D"/>
                </a:solidFill>
                <a:latin typeface="Arial"/>
                <a:ea typeface="Arial"/>
                <a:cs typeface="Arial"/>
              </a:defRPr>
            </a:lvl1pPr>
            <a:lvl2pPr>
              <a:defRPr sz="2175" b="0">
                <a:solidFill>
                  <a:srgbClr val="17313D"/>
                </a:solidFill>
                <a:latin typeface="Arial"/>
                <a:ea typeface="Arial"/>
                <a:cs typeface="Arial"/>
              </a:defRPr>
            </a:lvl2pPr>
            <a:lvl3pPr>
              <a:defRPr sz="2175" b="0">
                <a:solidFill>
                  <a:srgbClr val="17313D"/>
                </a:solidFill>
                <a:latin typeface="Arial"/>
                <a:ea typeface="Arial"/>
                <a:cs typeface="Arial"/>
              </a:defRPr>
            </a:lvl3pPr>
            <a:lvl4pPr>
              <a:defRPr sz="2175" b="0">
                <a:solidFill>
                  <a:srgbClr val="17313D"/>
                </a:solidFill>
                <a:latin typeface="Arial"/>
                <a:ea typeface="Arial"/>
                <a:cs typeface="Arial"/>
              </a:defRPr>
            </a:lvl4pPr>
            <a:lvl5pPr>
              <a:defRPr sz="2175" b="0">
                <a:solidFill>
                  <a:srgbClr val="17313D"/>
                </a:solidFill>
                <a:latin typeface="Arial"/>
                <a:ea typeface="Arial"/>
                <a:cs typeface="Arial"/>
              </a:defRPr>
            </a:lvl5pPr>
            <a:lvl6pPr>
              <a:defRPr sz="2175" b="0">
                <a:solidFill>
                  <a:srgbClr val="17313D"/>
                </a:solidFill>
                <a:latin typeface="Arial"/>
                <a:ea typeface="Arial"/>
                <a:cs typeface="Arial"/>
              </a:defRPr>
            </a:lvl6pPr>
            <a:lvl7pPr>
              <a:defRPr sz="2175" b="0">
                <a:solidFill>
                  <a:srgbClr val="17313D"/>
                </a:solidFill>
                <a:latin typeface="Arial"/>
                <a:ea typeface="Arial"/>
                <a:cs typeface="Arial"/>
              </a:defRPr>
            </a:lvl7pPr>
            <a:lvl8pPr>
              <a:defRPr sz="2175" b="0">
                <a:solidFill>
                  <a:srgbClr val="17313D"/>
                </a:solidFill>
                <a:latin typeface="Arial"/>
                <a:ea typeface="Arial"/>
                <a:cs typeface="Arial"/>
              </a:defRPr>
            </a:lvl8pPr>
            <a:lvl9pPr>
              <a:defRPr sz="2175" b="0">
                <a:solidFill>
                  <a:srgbClr val="17313D"/>
                </a:solidFill>
                <a:latin typeface="Arial"/>
                <a:ea typeface="Arial"/>
                <a:cs typeface="Arial"/>
              </a:defRPr>
            </a:lvl9pPr>
          </a:lstStyle>
          <a:p xmlns:a="http://schemas.openxmlformats.org/drawingml/2006/main">
            <a:pPr>
              <a:defRPr sz="2175" b="0">
                <a:solidFill>
                  <a:srgbClr val="17313D"/>
                </a:solidFill>
                <a:latin typeface="Arial"/>
                <a:ea typeface="Arial"/>
                <a:cs typeface="Arial"/>
              </a:defRPr>
            </a:pPr>
            <a:r>
              <a:rPr sz="2175" b="0">
                <a:solidFill>
                  <a:srgbClr val="17313D"/>
                </a:solidFill>
                <a:latin typeface="Arial"/>
                <a:ea typeface="Arial"/>
                <a:cs typeface="Arial"/>
              </a:rPr>
              <a:t>Measure retained foreground. Test the ordering on new images.</a:t>
            </a:r>
          </a:p>
          <a:p xmlns:a="http://schemas.openxmlformats.org/drawingml/2006/main">
            <a:pPr>
              <a:defRPr sz="2175" b="0">
                <a:solidFill>
                  <a:srgbClr val="17313D"/>
                </a:solidFill>
                <a:latin typeface="Arial"/>
                <a:ea typeface="Arial"/>
                <a:cs typeface="Arial"/>
              </a:defRPr>
            </a:pPr>
            <a:r>
              <a:rPr sz="2175" b="0">
                <a:solidFill>
                  <a:srgbClr val="17313D"/>
                </a:solidFill>
                <a:latin typeface="Arial"/>
                <a:ea typeface="Arial"/>
                <a:cs typeface="Arial"/>
              </a:rPr>
              <a:t>Use same-image pairs to examine what area matching misses.</a:t>
            </a:r>
          </a:p>
        </p:txBody>
      </p:sp>
      <p:sp>
        <p:nvSpPr>
          <p:cNvPr id="6" name="">
            <a:extLst xmlns:a="http://schemas.openxmlformats.org/drawingml/2006/main">
              <a:ext uri="{FF2B5EF4-FFF2-40B4-BE49-F238E27FC236}">
                <a16:creationId xmlns:a16="http://schemas.microsoft.com/office/drawing/2014/main" id="{B06EF804-1FA1-4C0A-8C39-CDDD31F1CA76}"/>
              </a:ext>
            </a:extLst>
          </p:cNvPr>
          <p:cNvSpPr>
            <a:spLocks xmlns:a="http://schemas.openxmlformats.org/drawingml/2006/main" noGrp="1"/>
          </p:cNvSpPr>
          <p:nvPr/>
        </p:nvSpPr>
        <p:spPr>
          <a:xfrm xmlns:a="http://schemas.openxmlformats.org/drawingml/2006/main">
            <a:off x="609600" y="5629275"/>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Contribution: a reproducible replication and diagnostic extension of prior occlusion work.</a:t>
            </a:r>
          </a:p>
        </p:txBody>
      </p:sp>
    </p:spTree>
    <p:extLst>
      <p:ext uri="{BB962C8B-B14F-4D97-AF65-F5344CB8AC3E}">
        <p14:creationId xmlns:p14="http://schemas.microsoft.com/office/powerpoint/2010/main" val="64514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8210D6A-DF2B-454A-8FE8-F63164B0C85F}"/>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Image visibility and foreground visibility</a:t>
            </a:r>
          </a:p>
        </p:txBody>
      </p:sp>
      <p:sp>
        <p:nvSpPr>
          <p:cNvPr id="2" name="">
            <a:extLst xmlns:a="http://schemas.openxmlformats.org/drawingml/2006/main">
              <a:ext uri="{FF2B5EF4-FFF2-40B4-BE49-F238E27FC236}">
                <a16:creationId xmlns:a16="http://schemas.microsoft.com/office/drawing/2014/main" id="{E277351B-5008-45DE-A852-EEDE443A9F8C}"/>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00AEB43E-0CF3-4B9D-803F-19F4C9D5E793}"/>
              </a:ext>
            </a:extLst>
          </p:cNvPr>
          <p:cNvSpPr>
            <a:spLocks xmlns:a="http://schemas.openxmlformats.org/drawingml/2006/main" noGrp="1"/>
          </p:cNvSpPr>
          <p:nvPr/>
        </p:nvSpPr>
        <p:spPr>
          <a:xfrm xmlns:a="http://schemas.openxmlformats.org/drawingml/2006/main">
            <a:off x="609600" y="16859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313D"/>
                </a:solidFill>
                <a:latin typeface="Arial"/>
                <a:ea typeface="Arial"/>
                <a:cs typeface="Arial"/>
              </a:defRPr>
            </a:defPPr>
            <a:lvl1pPr>
              <a:defRPr sz="1875" b="1">
                <a:solidFill>
                  <a:srgbClr val="17313D"/>
                </a:solidFill>
                <a:latin typeface="Arial"/>
                <a:ea typeface="Arial"/>
                <a:cs typeface="Arial"/>
              </a:defRPr>
            </a:lvl1pPr>
            <a:lvl2pPr>
              <a:defRPr sz="1875" b="1">
                <a:solidFill>
                  <a:srgbClr val="17313D"/>
                </a:solidFill>
                <a:latin typeface="Arial"/>
                <a:ea typeface="Arial"/>
                <a:cs typeface="Arial"/>
              </a:defRPr>
            </a:lvl2pPr>
            <a:lvl3pPr>
              <a:defRPr sz="1875" b="1">
                <a:solidFill>
                  <a:srgbClr val="17313D"/>
                </a:solidFill>
                <a:latin typeface="Arial"/>
                <a:ea typeface="Arial"/>
                <a:cs typeface="Arial"/>
              </a:defRPr>
            </a:lvl3pPr>
            <a:lvl4pPr>
              <a:defRPr sz="1875" b="1">
                <a:solidFill>
                  <a:srgbClr val="17313D"/>
                </a:solidFill>
                <a:latin typeface="Arial"/>
                <a:ea typeface="Arial"/>
                <a:cs typeface="Arial"/>
              </a:defRPr>
            </a:lvl4pPr>
            <a:lvl5pPr>
              <a:defRPr sz="1875" b="1">
                <a:solidFill>
                  <a:srgbClr val="17313D"/>
                </a:solidFill>
                <a:latin typeface="Arial"/>
                <a:ea typeface="Arial"/>
                <a:cs typeface="Arial"/>
              </a:defRPr>
            </a:lvl5pPr>
            <a:lvl6pPr>
              <a:defRPr sz="1875" b="1">
                <a:solidFill>
                  <a:srgbClr val="17313D"/>
                </a:solidFill>
                <a:latin typeface="Arial"/>
                <a:ea typeface="Arial"/>
                <a:cs typeface="Arial"/>
              </a:defRPr>
            </a:lvl6pPr>
            <a:lvl7pPr>
              <a:defRPr sz="1875" b="1">
                <a:solidFill>
                  <a:srgbClr val="17313D"/>
                </a:solidFill>
                <a:latin typeface="Arial"/>
                <a:ea typeface="Arial"/>
                <a:cs typeface="Arial"/>
              </a:defRPr>
            </a:lvl7pPr>
            <a:lvl8pPr>
              <a:defRPr sz="1875" b="1">
                <a:solidFill>
                  <a:srgbClr val="17313D"/>
                </a:solidFill>
                <a:latin typeface="Arial"/>
                <a:ea typeface="Arial"/>
                <a:cs typeface="Arial"/>
              </a:defRPr>
            </a:lvl8pPr>
            <a:lvl9pPr>
              <a:defRPr sz="1875" b="1">
                <a:solidFill>
                  <a:srgbClr val="17313D"/>
                </a:solidFill>
                <a:latin typeface="Arial"/>
                <a:ea typeface="Arial"/>
                <a:cs typeface="Arial"/>
              </a:defRPr>
            </a:lvl9pPr>
          </a:lstStyle>
          <a:p xmlns:a="http://schemas.openxmlformats.org/drawingml/2006/main">
            <a:pPr>
              <a:defRPr sz="1875" b="1">
                <a:solidFill>
                  <a:srgbClr val="17313D"/>
                </a:solidFill>
                <a:latin typeface="Arial"/>
                <a:ea typeface="Arial"/>
                <a:cs typeface="Arial"/>
              </a:defRPr>
            </a:pPr>
            <a:r>
              <a:rPr sz="1875" b="1">
                <a:solidFill>
                  <a:srgbClr val="17313D"/>
                </a:solidFill>
                <a:latin typeface="Arial"/>
                <a:ea typeface="Arial"/>
                <a:cs typeface="Arial"/>
              </a:rPr>
              <a:t>Original</a:t>
            </a:r>
          </a:p>
        </p:txBody>
      </p:sp>
      <p:pic>
        <p:nvPicPr>
          <p:cNvPr id="4" name="">
            <a:extLst xmlns:a="http://schemas.openxmlformats.org/drawingml/2006/main">
              <a:ext uri="{FF2B5EF4-FFF2-40B4-BE49-F238E27FC236}">
                <a16:creationId xmlns:a16="http://schemas.microsoft.com/office/drawing/2014/main" id="{945164B6-A07B-4C44-9F6A-52A5EA0E98C0}"/>
              </a:ext>
            </a:extLst>
          </p:cNvPr>
          <p:cNvPicPr>
            <a:picLocks xmlns:a="http://schemas.openxmlformats.org/drawingml/2006/main" noChangeAspect="1"/>
          </p:cNvPicPr>
          <p:nvPr/>
        </p:nvPicPr>
        <p:blipFill>
          <a:blip xmlns:r="http://schemas.openxmlformats.org/officeDocument/2006/relationships" xmlns:a="http://schemas.openxmlformats.org/drawingml/2006/main" r:embed="R703ef0a238f64c2b"/>
          <a:srcRect xmlns:a="http://schemas.openxmlformats.org/drawingml/2006/main" l="600" t="12700" r="80300" b="48800"/>
          <a:stretch xmlns:a="http://schemas.openxmlformats.org/drawingml/2006/main"/>
        </p:blipFill>
        <p:spPr>
          <a:xfrm xmlns:a="http://schemas.openxmlformats.org/drawingml/2006/main">
            <a:off x="609600" y="2181225"/>
            <a:ext cx="2857500" cy="2857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FE8CB19-DB30-4BED-8518-7384BD4C96BB}"/>
              </a:ext>
            </a:extLst>
          </p:cNvPr>
          <p:cNvSpPr>
            <a:spLocks xmlns:a="http://schemas.openxmlformats.org/drawingml/2006/main" noGrp="1"/>
          </p:cNvSpPr>
          <p:nvPr/>
        </p:nvSpPr>
        <p:spPr>
          <a:xfrm xmlns:a="http://schemas.openxmlformats.org/drawingml/2006/main">
            <a:off x="4400550" y="16859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313D"/>
                </a:solidFill>
                <a:latin typeface="Arial"/>
                <a:ea typeface="Arial"/>
                <a:cs typeface="Arial"/>
              </a:defRPr>
            </a:defPPr>
            <a:lvl1pPr>
              <a:defRPr sz="1875" b="1">
                <a:solidFill>
                  <a:srgbClr val="17313D"/>
                </a:solidFill>
                <a:latin typeface="Arial"/>
                <a:ea typeface="Arial"/>
                <a:cs typeface="Arial"/>
              </a:defRPr>
            </a:lvl1pPr>
            <a:lvl2pPr>
              <a:defRPr sz="1875" b="1">
                <a:solidFill>
                  <a:srgbClr val="17313D"/>
                </a:solidFill>
                <a:latin typeface="Arial"/>
                <a:ea typeface="Arial"/>
                <a:cs typeface="Arial"/>
              </a:defRPr>
            </a:lvl2pPr>
            <a:lvl3pPr>
              <a:defRPr sz="1875" b="1">
                <a:solidFill>
                  <a:srgbClr val="17313D"/>
                </a:solidFill>
                <a:latin typeface="Arial"/>
                <a:ea typeface="Arial"/>
                <a:cs typeface="Arial"/>
              </a:defRPr>
            </a:lvl3pPr>
            <a:lvl4pPr>
              <a:defRPr sz="1875" b="1">
                <a:solidFill>
                  <a:srgbClr val="17313D"/>
                </a:solidFill>
                <a:latin typeface="Arial"/>
                <a:ea typeface="Arial"/>
                <a:cs typeface="Arial"/>
              </a:defRPr>
            </a:lvl4pPr>
            <a:lvl5pPr>
              <a:defRPr sz="1875" b="1">
                <a:solidFill>
                  <a:srgbClr val="17313D"/>
                </a:solidFill>
                <a:latin typeface="Arial"/>
                <a:ea typeface="Arial"/>
                <a:cs typeface="Arial"/>
              </a:defRPr>
            </a:lvl5pPr>
            <a:lvl6pPr>
              <a:defRPr sz="1875" b="1">
                <a:solidFill>
                  <a:srgbClr val="17313D"/>
                </a:solidFill>
                <a:latin typeface="Arial"/>
                <a:ea typeface="Arial"/>
                <a:cs typeface="Arial"/>
              </a:defRPr>
            </a:lvl6pPr>
            <a:lvl7pPr>
              <a:defRPr sz="1875" b="1">
                <a:solidFill>
                  <a:srgbClr val="17313D"/>
                </a:solidFill>
                <a:latin typeface="Arial"/>
                <a:ea typeface="Arial"/>
                <a:cs typeface="Arial"/>
              </a:defRPr>
            </a:lvl7pPr>
            <a:lvl8pPr>
              <a:defRPr sz="1875" b="1">
                <a:solidFill>
                  <a:srgbClr val="17313D"/>
                </a:solidFill>
                <a:latin typeface="Arial"/>
                <a:ea typeface="Arial"/>
                <a:cs typeface="Arial"/>
              </a:defRPr>
            </a:lvl8pPr>
            <a:lvl9pPr>
              <a:defRPr sz="1875" b="1">
                <a:solidFill>
                  <a:srgbClr val="17313D"/>
                </a:solidFill>
                <a:latin typeface="Arial"/>
                <a:ea typeface="Arial"/>
                <a:cs typeface="Arial"/>
              </a:defRPr>
            </a:lvl9pPr>
          </a:lstStyle>
          <a:p xmlns:a="http://schemas.openxmlformats.org/drawingml/2006/main">
            <a:pPr>
              <a:defRPr sz="1875" b="1">
                <a:solidFill>
                  <a:srgbClr val="17313D"/>
                </a:solidFill>
                <a:latin typeface="Arial"/>
                <a:ea typeface="Arial"/>
                <a:cs typeface="Arial"/>
              </a:defRPr>
            </a:pPr>
            <a:r>
              <a:rPr sz="1875" b="1">
                <a:solidFill>
                  <a:srgbClr val="17313D"/>
                </a:solidFill>
                <a:latin typeface="Arial"/>
                <a:ea typeface="Arial"/>
                <a:cs typeface="Arial"/>
              </a:rPr>
              <a:t>Center, 25% image visible</a:t>
            </a:r>
          </a:p>
        </p:txBody>
      </p:sp>
      <p:pic>
        <p:nvPicPr>
          <p:cNvPr id="6" name="">
            <a:extLst xmlns:a="http://schemas.openxmlformats.org/drawingml/2006/main">
              <a:ext uri="{FF2B5EF4-FFF2-40B4-BE49-F238E27FC236}">
                <a16:creationId xmlns:a16="http://schemas.microsoft.com/office/drawing/2014/main" id="{EDE947AB-7649-4B1B-A90A-D997DCBBFCE4}"/>
              </a:ext>
            </a:extLst>
          </p:cNvPr>
          <p:cNvPicPr>
            <a:picLocks xmlns:a="http://schemas.openxmlformats.org/drawingml/2006/main" noChangeAspect="1"/>
          </p:cNvPicPr>
          <p:nvPr/>
        </p:nvPicPr>
        <p:blipFill>
          <a:blip xmlns:r="http://schemas.openxmlformats.org/officeDocument/2006/relationships" xmlns:a="http://schemas.openxmlformats.org/drawingml/2006/main" r:embed="R2b27552f3040441a"/>
          <a:srcRect xmlns:a="http://schemas.openxmlformats.org/drawingml/2006/main" l="20500" t="12700" r="60400" b="48800"/>
          <a:stretch xmlns:a="http://schemas.openxmlformats.org/drawingml/2006/main"/>
        </p:blipFill>
        <p:spPr>
          <a:xfrm xmlns:a="http://schemas.openxmlformats.org/drawingml/2006/main">
            <a:off x="4400550" y="2181225"/>
            <a:ext cx="2857500" cy="2857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84FB72F-076F-4033-8B0A-6B249FF7F9C3}"/>
              </a:ext>
            </a:extLst>
          </p:cNvPr>
          <p:cNvSpPr>
            <a:spLocks xmlns:a="http://schemas.openxmlformats.org/drawingml/2006/main" noGrp="1"/>
          </p:cNvSpPr>
          <p:nvPr/>
        </p:nvSpPr>
        <p:spPr>
          <a:xfrm xmlns:a="http://schemas.openxmlformats.org/drawingml/2006/main">
            <a:off x="8191500" y="16859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313D"/>
                </a:solidFill>
                <a:latin typeface="Arial"/>
                <a:ea typeface="Arial"/>
                <a:cs typeface="Arial"/>
              </a:defRPr>
            </a:defPPr>
            <a:lvl1pPr>
              <a:defRPr sz="1875" b="1">
                <a:solidFill>
                  <a:srgbClr val="17313D"/>
                </a:solidFill>
                <a:latin typeface="Arial"/>
                <a:ea typeface="Arial"/>
                <a:cs typeface="Arial"/>
              </a:defRPr>
            </a:lvl1pPr>
            <a:lvl2pPr>
              <a:defRPr sz="1875" b="1">
                <a:solidFill>
                  <a:srgbClr val="17313D"/>
                </a:solidFill>
                <a:latin typeface="Arial"/>
                <a:ea typeface="Arial"/>
                <a:cs typeface="Arial"/>
              </a:defRPr>
            </a:lvl2pPr>
            <a:lvl3pPr>
              <a:defRPr sz="1875" b="1">
                <a:solidFill>
                  <a:srgbClr val="17313D"/>
                </a:solidFill>
                <a:latin typeface="Arial"/>
                <a:ea typeface="Arial"/>
                <a:cs typeface="Arial"/>
              </a:defRPr>
            </a:lvl3pPr>
            <a:lvl4pPr>
              <a:defRPr sz="1875" b="1">
                <a:solidFill>
                  <a:srgbClr val="17313D"/>
                </a:solidFill>
                <a:latin typeface="Arial"/>
                <a:ea typeface="Arial"/>
                <a:cs typeface="Arial"/>
              </a:defRPr>
            </a:lvl4pPr>
            <a:lvl5pPr>
              <a:defRPr sz="1875" b="1">
                <a:solidFill>
                  <a:srgbClr val="17313D"/>
                </a:solidFill>
                <a:latin typeface="Arial"/>
                <a:ea typeface="Arial"/>
                <a:cs typeface="Arial"/>
              </a:defRPr>
            </a:lvl5pPr>
            <a:lvl6pPr>
              <a:defRPr sz="1875" b="1">
                <a:solidFill>
                  <a:srgbClr val="17313D"/>
                </a:solidFill>
                <a:latin typeface="Arial"/>
                <a:ea typeface="Arial"/>
                <a:cs typeface="Arial"/>
              </a:defRPr>
            </a:lvl6pPr>
            <a:lvl7pPr>
              <a:defRPr sz="1875" b="1">
                <a:solidFill>
                  <a:srgbClr val="17313D"/>
                </a:solidFill>
                <a:latin typeface="Arial"/>
                <a:ea typeface="Arial"/>
                <a:cs typeface="Arial"/>
              </a:defRPr>
            </a:lvl7pPr>
            <a:lvl8pPr>
              <a:defRPr sz="1875" b="1">
                <a:solidFill>
                  <a:srgbClr val="17313D"/>
                </a:solidFill>
                <a:latin typeface="Arial"/>
                <a:ea typeface="Arial"/>
                <a:cs typeface="Arial"/>
              </a:defRPr>
            </a:lvl8pPr>
            <a:lvl9pPr>
              <a:defRPr sz="1875" b="1">
                <a:solidFill>
                  <a:srgbClr val="17313D"/>
                </a:solidFill>
                <a:latin typeface="Arial"/>
                <a:ea typeface="Arial"/>
                <a:cs typeface="Arial"/>
              </a:defRPr>
            </a:lvl9pPr>
          </a:lstStyle>
          <a:p xmlns:a="http://schemas.openxmlformats.org/drawingml/2006/main">
            <a:pPr>
              <a:defRPr sz="1875" b="1">
                <a:solidFill>
                  <a:srgbClr val="17313D"/>
                </a:solidFill>
                <a:latin typeface="Arial"/>
                <a:ea typeface="Arial"/>
                <a:cs typeface="Arial"/>
              </a:defRPr>
            </a:pPr>
            <a:r>
              <a:rPr sz="1875" b="1">
                <a:solidFill>
                  <a:srgbClr val="17313D"/>
                </a:solidFill>
                <a:latin typeface="Arial"/>
                <a:ea typeface="Arial"/>
                <a:cs typeface="Arial"/>
              </a:rPr>
              <a:t>Random, 25% image visible</a:t>
            </a:r>
          </a:p>
        </p:txBody>
      </p:sp>
      <p:pic>
        <p:nvPicPr>
          <p:cNvPr id="8" name="">
            <a:extLst xmlns:a="http://schemas.openxmlformats.org/drawingml/2006/main">
              <a:ext uri="{FF2B5EF4-FFF2-40B4-BE49-F238E27FC236}">
                <a16:creationId xmlns:a16="http://schemas.microsoft.com/office/drawing/2014/main" id="{74CDA639-E3F4-4B49-B05E-D9B8A57A3520}"/>
              </a:ext>
            </a:extLst>
          </p:cNvPr>
          <p:cNvPicPr>
            <a:picLocks xmlns:a="http://schemas.openxmlformats.org/drawingml/2006/main" noChangeAspect="1"/>
          </p:cNvPicPr>
          <p:nvPr/>
        </p:nvPicPr>
        <p:blipFill>
          <a:blip xmlns:r="http://schemas.openxmlformats.org/officeDocument/2006/relationships" xmlns:a="http://schemas.openxmlformats.org/drawingml/2006/main" r:embed="Rcff087aa03314fe6"/>
          <a:srcRect xmlns:a="http://schemas.openxmlformats.org/drawingml/2006/main" l="40500" t="12700" r="40400" b="48800"/>
          <a:stretch xmlns:a="http://schemas.openxmlformats.org/drawingml/2006/main"/>
        </p:blipFill>
        <p:spPr>
          <a:xfrm xmlns:a="http://schemas.openxmlformats.org/drawingml/2006/main">
            <a:off x="8191500" y="2181225"/>
            <a:ext cx="2857500" cy="2857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FCACE6F-1D52-43AF-84F6-09C3875C7D91}"/>
              </a:ext>
            </a:extLst>
          </p:cNvPr>
          <p:cNvSpPr>
            <a:spLocks xmlns:a="http://schemas.openxmlformats.org/drawingml/2006/main" noGrp="1"/>
          </p:cNvSpPr>
          <p:nvPr/>
        </p:nvSpPr>
        <p:spPr>
          <a:xfrm xmlns:a="http://schemas.openxmlformats.org/drawingml/2006/main">
            <a:off x="609600" y="5210175"/>
            <a:ext cx="342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Abyssinian_96</a:t>
            </a:r>
          </a:p>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Illustrative input</a:t>
            </a:r>
          </a:p>
        </p:txBody>
      </p:sp>
      <p:sp>
        <p:nvSpPr>
          <p:cNvPr id="10" name="">
            <a:extLst xmlns:a="http://schemas.openxmlformats.org/drawingml/2006/main">
              <a:ext uri="{FF2B5EF4-FFF2-40B4-BE49-F238E27FC236}">
                <a16:creationId xmlns:a16="http://schemas.microsoft.com/office/drawing/2014/main" id="{65F9395E-3B88-4487-8FDC-93EF1D4CA867}"/>
              </a:ext>
            </a:extLst>
          </p:cNvPr>
          <p:cNvSpPr>
            <a:spLocks xmlns:a="http://schemas.openxmlformats.org/drawingml/2006/main" noGrp="1"/>
          </p:cNvSpPr>
          <p:nvPr/>
        </p:nvSpPr>
        <p:spPr>
          <a:xfrm xmlns:a="http://schemas.openxmlformats.org/drawingml/2006/main">
            <a:off x="4400550" y="521017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7F7B"/>
                </a:solidFill>
                <a:latin typeface="Arial"/>
                <a:ea typeface="Arial"/>
                <a:cs typeface="Arial"/>
              </a:defRPr>
            </a:defPPr>
            <a:lvl1pPr>
              <a:defRPr sz="1875" b="1">
                <a:solidFill>
                  <a:srgbClr val="007F7B"/>
                </a:solidFill>
                <a:latin typeface="Arial"/>
                <a:ea typeface="Arial"/>
                <a:cs typeface="Arial"/>
              </a:defRPr>
            </a:lvl1pPr>
            <a:lvl2pPr>
              <a:defRPr sz="1875" b="1">
                <a:solidFill>
                  <a:srgbClr val="007F7B"/>
                </a:solidFill>
                <a:latin typeface="Arial"/>
                <a:ea typeface="Arial"/>
                <a:cs typeface="Arial"/>
              </a:defRPr>
            </a:lvl2pPr>
            <a:lvl3pPr>
              <a:defRPr sz="1875" b="1">
                <a:solidFill>
                  <a:srgbClr val="007F7B"/>
                </a:solidFill>
                <a:latin typeface="Arial"/>
                <a:ea typeface="Arial"/>
                <a:cs typeface="Arial"/>
              </a:defRPr>
            </a:lvl3pPr>
            <a:lvl4pPr>
              <a:defRPr sz="1875" b="1">
                <a:solidFill>
                  <a:srgbClr val="007F7B"/>
                </a:solidFill>
                <a:latin typeface="Arial"/>
                <a:ea typeface="Arial"/>
                <a:cs typeface="Arial"/>
              </a:defRPr>
            </a:lvl4pPr>
            <a:lvl5pPr>
              <a:defRPr sz="1875" b="1">
                <a:solidFill>
                  <a:srgbClr val="007F7B"/>
                </a:solidFill>
                <a:latin typeface="Arial"/>
                <a:ea typeface="Arial"/>
                <a:cs typeface="Arial"/>
              </a:defRPr>
            </a:lvl5pPr>
            <a:lvl6pPr>
              <a:defRPr sz="1875" b="1">
                <a:solidFill>
                  <a:srgbClr val="007F7B"/>
                </a:solidFill>
                <a:latin typeface="Arial"/>
                <a:ea typeface="Arial"/>
                <a:cs typeface="Arial"/>
              </a:defRPr>
            </a:lvl6pPr>
            <a:lvl7pPr>
              <a:defRPr sz="1875" b="1">
                <a:solidFill>
                  <a:srgbClr val="007F7B"/>
                </a:solidFill>
                <a:latin typeface="Arial"/>
                <a:ea typeface="Arial"/>
                <a:cs typeface="Arial"/>
              </a:defRPr>
            </a:lvl7pPr>
            <a:lvl8pPr>
              <a:defRPr sz="1875" b="1">
                <a:solidFill>
                  <a:srgbClr val="007F7B"/>
                </a:solidFill>
                <a:latin typeface="Arial"/>
                <a:ea typeface="Arial"/>
                <a:cs typeface="Arial"/>
              </a:defRPr>
            </a:lvl8pPr>
            <a:lvl9pPr>
              <a:defRPr sz="1875" b="1">
                <a:solidFill>
                  <a:srgbClr val="007F7B"/>
                </a:solidFill>
                <a:latin typeface="Arial"/>
                <a:ea typeface="Arial"/>
                <a:cs typeface="Arial"/>
              </a:defRPr>
            </a:lvl9pPr>
          </a:lstStyle>
          <a:p xmlns:a="http://schemas.openxmlformats.org/drawingml/2006/main">
            <a:pPr>
              <a:defRPr sz="1875" b="1">
                <a:solidFill>
                  <a:srgbClr val="007F7B"/>
                </a:solidFill>
                <a:latin typeface="Arial"/>
                <a:ea typeface="Arial"/>
                <a:cs typeface="Arial"/>
              </a:defRPr>
            </a:pPr>
            <a:r>
              <a:rPr sz="1875" b="1">
                <a:solidFill>
                  <a:srgbClr val="007F7B"/>
                </a:solidFill>
                <a:latin typeface="Arial"/>
                <a:ea typeface="Arial"/>
                <a:cs typeface="Arial"/>
              </a:rPr>
              <a:t>83.8% foreground visible</a:t>
            </a:r>
          </a:p>
        </p:txBody>
      </p:sp>
      <p:sp>
        <p:nvSpPr>
          <p:cNvPr id="11" name="">
            <a:extLst xmlns:a="http://schemas.openxmlformats.org/drawingml/2006/main">
              <a:ext uri="{FF2B5EF4-FFF2-40B4-BE49-F238E27FC236}">
                <a16:creationId xmlns:a16="http://schemas.microsoft.com/office/drawing/2014/main" id="{93CA576A-DDF2-4EB4-88B8-91480B4E7631}"/>
              </a:ext>
            </a:extLst>
          </p:cNvPr>
          <p:cNvSpPr>
            <a:spLocks xmlns:a="http://schemas.openxmlformats.org/drawingml/2006/main" noGrp="1"/>
          </p:cNvSpPr>
          <p:nvPr/>
        </p:nvSpPr>
        <p:spPr>
          <a:xfrm xmlns:a="http://schemas.openxmlformats.org/drawingml/2006/main">
            <a:off x="8191500" y="521017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7F7B"/>
                </a:solidFill>
                <a:latin typeface="Arial"/>
                <a:ea typeface="Arial"/>
                <a:cs typeface="Arial"/>
              </a:defRPr>
            </a:defPPr>
            <a:lvl1pPr>
              <a:defRPr sz="1875" b="1">
                <a:solidFill>
                  <a:srgbClr val="007F7B"/>
                </a:solidFill>
                <a:latin typeface="Arial"/>
                <a:ea typeface="Arial"/>
                <a:cs typeface="Arial"/>
              </a:defRPr>
            </a:lvl1pPr>
            <a:lvl2pPr>
              <a:defRPr sz="1875" b="1">
                <a:solidFill>
                  <a:srgbClr val="007F7B"/>
                </a:solidFill>
                <a:latin typeface="Arial"/>
                <a:ea typeface="Arial"/>
                <a:cs typeface="Arial"/>
              </a:defRPr>
            </a:lvl2pPr>
            <a:lvl3pPr>
              <a:defRPr sz="1875" b="1">
                <a:solidFill>
                  <a:srgbClr val="007F7B"/>
                </a:solidFill>
                <a:latin typeface="Arial"/>
                <a:ea typeface="Arial"/>
                <a:cs typeface="Arial"/>
              </a:defRPr>
            </a:lvl3pPr>
            <a:lvl4pPr>
              <a:defRPr sz="1875" b="1">
                <a:solidFill>
                  <a:srgbClr val="007F7B"/>
                </a:solidFill>
                <a:latin typeface="Arial"/>
                <a:ea typeface="Arial"/>
                <a:cs typeface="Arial"/>
              </a:defRPr>
            </a:lvl4pPr>
            <a:lvl5pPr>
              <a:defRPr sz="1875" b="1">
                <a:solidFill>
                  <a:srgbClr val="007F7B"/>
                </a:solidFill>
                <a:latin typeface="Arial"/>
                <a:ea typeface="Arial"/>
                <a:cs typeface="Arial"/>
              </a:defRPr>
            </a:lvl5pPr>
            <a:lvl6pPr>
              <a:defRPr sz="1875" b="1">
                <a:solidFill>
                  <a:srgbClr val="007F7B"/>
                </a:solidFill>
                <a:latin typeface="Arial"/>
                <a:ea typeface="Arial"/>
                <a:cs typeface="Arial"/>
              </a:defRPr>
            </a:lvl6pPr>
            <a:lvl7pPr>
              <a:defRPr sz="1875" b="1">
                <a:solidFill>
                  <a:srgbClr val="007F7B"/>
                </a:solidFill>
                <a:latin typeface="Arial"/>
                <a:ea typeface="Arial"/>
                <a:cs typeface="Arial"/>
              </a:defRPr>
            </a:lvl7pPr>
            <a:lvl8pPr>
              <a:defRPr sz="1875" b="1">
                <a:solidFill>
                  <a:srgbClr val="007F7B"/>
                </a:solidFill>
                <a:latin typeface="Arial"/>
                <a:ea typeface="Arial"/>
                <a:cs typeface="Arial"/>
              </a:defRPr>
            </a:lvl8pPr>
            <a:lvl9pPr>
              <a:defRPr sz="1875" b="1">
                <a:solidFill>
                  <a:srgbClr val="007F7B"/>
                </a:solidFill>
                <a:latin typeface="Arial"/>
                <a:ea typeface="Arial"/>
                <a:cs typeface="Arial"/>
              </a:defRPr>
            </a:lvl9pPr>
          </a:lstStyle>
          <a:p xmlns:a="http://schemas.openxmlformats.org/drawingml/2006/main">
            <a:pPr>
              <a:defRPr sz="1875" b="1">
                <a:solidFill>
                  <a:srgbClr val="007F7B"/>
                </a:solidFill>
                <a:latin typeface="Arial"/>
                <a:ea typeface="Arial"/>
                <a:cs typeface="Arial"/>
              </a:defRPr>
            </a:pPr>
            <a:r>
              <a:rPr sz="1875" b="1">
                <a:solidFill>
                  <a:srgbClr val="007F7B"/>
                </a:solidFill>
                <a:latin typeface="Arial"/>
                <a:ea typeface="Arial"/>
                <a:cs typeface="Arial"/>
              </a:rPr>
              <a:t>22.3% foreground visible</a:t>
            </a:r>
          </a:p>
        </p:txBody>
      </p:sp>
      <p:sp>
        <p:nvSpPr>
          <p:cNvPr id="12" name="">
            <a:extLst xmlns:a="http://schemas.openxmlformats.org/drawingml/2006/main">
              <a:ext uri="{FF2B5EF4-FFF2-40B4-BE49-F238E27FC236}">
                <a16:creationId xmlns:a16="http://schemas.microsoft.com/office/drawing/2014/main" id="{B2D9BEA3-239B-4D86-8705-CBBCF5E362A0}"/>
              </a:ext>
            </a:extLst>
          </p:cNvPr>
          <p:cNvSpPr>
            <a:spLocks xmlns:a="http://schemas.openxmlformats.org/drawingml/2006/main" noGrp="1"/>
          </p:cNvSpPr>
          <p:nvPr/>
        </p:nvSpPr>
        <p:spPr>
          <a:xfrm xmlns:a="http://schemas.openxmlformats.org/drawingml/2006/main">
            <a:off x="609600" y="601980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Image visibility uses the whole image. Foreground visibility uses the annotated animal.</a:t>
            </a:r>
          </a:p>
        </p:txBody>
      </p:sp>
    </p:spTree>
    <p:extLst>
      <p:ext uri="{BB962C8B-B14F-4D97-AF65-F5344CB8AC3E}">
        <p14:creationId xmlns:p14="http://schemas.microsoft.com/office/powerpoint/2010/main" val="13707202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B8A7981-5B71-4F21-894B-E1DCAB9B21BB}"/>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Follow-up design and fixed classifiers</a:t>
            </a:r>
          </a:p>
        </p:txBody>
      </p:sp>
      <p:sp>
        <p:nvSpPr>
          <p:cNvPr id="2" name="">
            <a:extLst xmlns:a="http://schemas.openxmlformats.org/drawingml/2006/main">
              <a:ext uri="{FF2B5EF4-FFF2-40B4-BE49-F238E27FC236}">
                <a16:creationId xmlns:a16="http://schemas.microsoft.com/office/drawing/2014/main" id="{D41D70A0-3A0E-4E7F-B04E-2E479E67B222}"/>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2B006EE4-EFF1-4852-B5B2-0D3235F35009}"/>
              </a:ext>
            </a:extLst>
          </p:cNvPr>
          <p:cNvGraphicFramePr/>
          <p:nvPr/>
        </p:nvGraphicFramePr>
        <p:xfrm>
          <a:off xmlns:a="http://schemas.openxmlformats.org/drawingml/2006/main" x="609600" y="1657350"/>
          <a:ext xmlns:a="http://schemas.openxmlformats.org/drawingml/2006/main" cx="10972800" cy="3905250"/>
        </p:xfrm>
        <a:graphic xmlns:a="http://schemas.openxmlformats.org/drawingml/2006/main">
          <a:graphicData uri="http://schemas.openxmlformats.org/drawingml/2006/table">
            <a:tbl>
              <a:tblPr/>
              <a:tblGrid>
                <a:gridCol w="2571750"/>
                <a:gridCol w="8401050"/>
              </a:tblGrid>
              <a:tr h="557893">
                <a:tc>
                  <a:txBody>
                    <a:bodyPr/>
                    <a:lstStyle/>
                    <a:p>
                      <a:r>
                        <a:rPr sz="1725" b="1">
                          <a:solidFill>
                            <a:srgbClr val="007F7B"/>
                          </a:solidFill>
                          <a:latin typeface="Arial"/>
                          <a:ea typeface="Arial"/>
                          <a:cs typeface="Arial"/>
                        </a:rPr>
                        <a:t>Component</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Fixed design</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557893">
                <a:tc>
                  <a:txBody>
                    <a:bodyPr/>
                    <a:lstStyle/>
                    <a:p>
                      <a:r>
                        <a:rPr sz="1725" b="0">
                          <a:solidFill>
                            <a:srgbClr val="17313D"/>
                          </a:solidFill>
                          <a:latin typeface="Arial"/>
                          <a:ea typeface="Arial"/>
                          <a:cs typeface="Arial"/>
                        </a:rPr>
                        <a:t>Data</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Oxford-IIIT Pet, 37 breeds, pixel foreground labels</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57893">
                <a:tc>
                  <a:txBody>
                    <a:bodyPr/>
                    <a:lstStyle/>
                    <a:p>
                      <a:r>
                        <a:rPr sz="1725" b="0">
                          <a:solidFill>
                            <a:srgbClr val="17313D"/>
                          </a:solidFill>
                          <a:latin typeface="Arial"/>
                          <a:ea typeface="Arial"/>
                          <a:cs typeface="Arial"/>
                        </a:rPr>
                        <a:t>Original probe fit</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1,480 clean train / 370 clean validation, C = 10</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57893">
                <a:tc>
                  <a:txBody>
                    <a:bodyPr/>
                    <a:lstStyle/>
                    <a:p>
                      <a:r>
                        <a:rPr sz="1725" b="0">
                          <a:solidFill>
                            <a:srgbClr val="17313D"/>
                          </a:solidFill>
                          <a:latin typeface="Arial"/>
                          <a:ea typeface="Arial"/>
                          <a:cs typeface="Arial"/>
                        </a:rPr>
                        <a:t>New main cohort</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740 official-test images, 20 per breed, disjoint from pilot</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57893">
                <a:tc>
                  <a:txBody>
                    <a:bodyPr/>
                    <a:lstStyle/>
                    <a:p>
                      <a:r>
                        <a:rPr sz="1725" b="0">
                          <a:solidFill>
                            <a:srgbClr val="17313D"/>
                          </a:solidFill>
                          <a:latin typeface="Arial"/>
                          <a:ea typeface="Arial"/>
                          <a:cs typeface="Arial"/>
                        </a:rPr>
                        <a:t>Encoders and readout</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Frozen AIMv2-L/14, DINOv2-L/14; mean patch pooling</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57893">
                <a:tc>
                  <a:txBody>
                    <a:bodyPr/>
                    <a:lstStyle/>
                    <a:p>
                      <a:r>
                        <a:rPr sz="1725" b="0">
                          <a:solidFill>
                            <a:srgbClr val="17313D"/>
                          </a:solidFill>
                          <a:latin typeface="Arial"/>
                          <a:ea typeface="Arial"/>
                          <a:cs typeface="Arial"/>
                        </a:rPr>
                        <a:t>Evaluation</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Same 224x224 inputs, L2-normalized features, fixed probes</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57893">
                <a:tc>
                  <a:txBody>
                    <a:bodyPr/>
                    <a:lstStyle/>
                    <a:p>
                      <a:r>
                        <a:rPr sz="1725" b="0">
                          <a:solidFill>
                            <a:srgbClr val="17313D"/>
                          </a:solidFill>
                          <a:latin typeface="Arial"/>
                          <a:ea typeface="Arial"/>
                          <a:cs typeface="Arial"/>
                        </a:rPr>
                        <a:t>Follow-up timing</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Design fixed after pilot and before new predictions</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65B4DB7-435B-4FAF-899C-0FBF693B5AFD}"/>
              </a:ext>
            </a:extLst>
          </p:cNvPr>
          <p:cNvSpPr>
            <a:spLocks xmlns:a="http://schemas.openxmlformats.org/drawingml/2006/main" noGrp="1"/>
          </p:cNvSpPr>
          <p:nvPr/>
        </p:nvSpPr>
        <p:spPr>
          <a:xfrm xmlns:a="http://schemas.openxmlformats.org/drawingml/2006/main">
            <a:off x="609600" y="58388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Arial"/>
                <a:ea typeface="Arial"/>
                <a:cs typeface="Arial"/>
              </a:defRPr>
            </a:defPPr>
            <a:lvl1pPr>
              <a:defRPr sz="2250" b="1">
                <a:solidFill>
                  <a:srgbClr val="007F7B"/>
                </a:solidFill>
                <a:latin typeface="Arial"/>
                <a:ea typeface="Arial"/>
                <a:cs typeface="Arial"/>
              </a:defRPr>
            </a:lvl1pPr>
            <a:lvl2pPr>
              <a:defRPr sz="2250" b="1">
                <a:solidFill>
                  <a:srgbClr val="007F7B"/>
                </a:solidFill>
                <a:latin typeface="Arial"/>
                <a:ea typeface="Arial"/>
                <a:cs typeface="Arial"/>
              </a:defRPr>
            </a:lvl2pPr>
            <a:lvl3pPr>
              <a:defRPr sz="2250" b="1">
                <a:solidFill>
                  <a:srgbClr val="007F7B"/>
                </a:solidFill>
                <a:latin typeface="Arial"/>
                <a:ea typeface="Arial"/>
                <a:cs typeface="Arial"/>
              </a:defRPr>
            </a:lvl3pPr>
            <a:lvl4pPr>
              <a:defRPr sz="2250" b="1">
                <a:solidFill>
                  <a:srgbClr val="007F7B"/>
                </a:solidFill>
                <a:latin typeface="Arial"/>
                <a:ea typeface="Arial"/>
                <a:cs typeface="Arial"/>
              </a:defRPr>
            </a:lvl4pPr>
            <a:lvl5pPr>
              <a:defRPr sz="2250" b="1">
                <a:solidFill>
                  <a:srgbClr val="007F7B"/>
                </a:solidFill>
                <a:latin typeface="Arial"/>
                <a:ea typeface="Arial"/>
                <a:cs typeface="Arial"/>
              </a:defRPr>
            </a:lvl5pPr>
            <a:lvl6pPr>
              <a:defRPr sz="2250" b="1">
                <a:solidFill>
                  <a:srgbClr val="007F7B"/>
                </a:solidFill>
                <a:latin typeface="Arial"/>
                <a:ea typeface="Arial"/>
                <a:cs typeface="Arial"/>
              </a:defRPr>
            </a:lvl6pPr>
            <a:lvl7pPr>
              <a:defRPr sz="2250" b="1">
                <a:solidFill>
                  <a:srgbClr val="007F7B"/>
                </a:solidFill>
                <a:latin typeface="Arial"/>
                <a:ea typeface="Arial"/>
                <a:cs typeface="Arial"/>
              </a:defRPr>
            </a:lvl7pPr>
            <a:lvl8pPr>
              <a:defRPr sz="2250" b="1">
                <a:solidFill>
                  <a:srgbClr val="007F7B"/>
                </a:solidFill>
                <a:latin typeface="Arial"/>
                <a:ea typeface="Arial"/>
                <a:cs typeface="Arial"/>
              </a:defRPr>
            </a:lvl8pPr>
            <a:lvl9pPr>
              <a:defRPr sz="2250" b="1">
                <a:solidFill>
                  <a:srgbClr val="007F7B"/>
                </a:solidFill>
                <a:latin typeface="Arial"/>
                <a:ea typeface="Arial"/>
                <a:cs typeface="Arial"/>
              </a:defRPr>
            </a:lvl9pPr>
          </a:lstStyle>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No refitting or parameter selection on follow-up images.</a:t>
            </a:r>
          </a:p>
        </p:txBody>
      </p:sp>
    </p:spTree>
    <p:extLst>
      <p:ext uri="{BB962C8B-B14F-4D97-AF65-F5344CB8AC3E}">
        <p14:creationId xmlns:p14="http://schemas.microsoft.com/office/powerpoint/2010/main" val="18262390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40E0B2-E098-4CC7-A3B0-A3315B90049D}"/>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Controls and the conclusions they permit</a:t>
            </a:r>
          </a:p>
        </p:txBody>
      </p:sp>
      <p:sp>
        <p:nvSpPr>
          <p:cNvPr id="2" name="">
            <a:extLst xmlns:a="http://schemas.openxmlformats.org/drawingml/2006/main">
              <a:ext uri="{FF2B5EF4-FFF2-40B4-BE49-F238E27FC236}">
                <a16:creationId xmlns:a16="http://schemas.microsoft.com/office/drawing/2014/main" id="{26AE5F1A-8CA0-439E-87D5-8F554673EB6C}"/>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91A899E7-EB30-4265-AA63-3D2424662674}"/>
              </a:ext>
            </a:extLst>
          </p:cNvPr>
          <p:cNvGraphicFramePr/>
          <p:nvPr/>
        </p:nvGraphicFramePr>
        <p:xfrm>
          <a:off xmlns:a="http://schemas.openxmlformats.org/drawingml/2006/main" x="609600" y="1676400"/>
          <a:ext xmlns:a="http://schemas.openxmlformats.org/drawingml/2006/main" cx="10972800" cy="3238500"/>
        </p:xfrm>
        <a:graphic xmlns:a="http://schemas.openxmlformats.org/drawingml/2006/main">
          <a:graphicData uri="http://schemas.openxmlformats.org/drawingml/2006/table">
            <a:tbl>
              <a:tblPr/>
              <a:tblGrid>
                <a:gridCol w="2238375"/>
                <a:gridCol w="4381500"/>
                <a:gridCol w="4352925"/>
              </a:tblGrid>
              <a:tr h="809625">
                <a:tc>
                  <a:txBody>
                    <a:bodyPr/>
                    <a:lstStyle/>
                    <a:p>
                      <a:r>
                        <a:rPr sz="1800" b="1">
                          <a:solidFill>
                            <a:srgbClr val="007F7B"/>
                          </a:solidFill>
                          <a:latin typeface="Arial"/>
                          <a:ea typeface="Arial"/>
                          <a:cs typeface="Arial"/>
                        </a:rPr>
                        <a:t>Comparison</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800" b="1">
                          <a:solidFill>
                            <a:srgbClr val="007F7B"/>
                          </a:solidFill>
                          <a:latin typeface="Arial"/>
                          <a:ea typeface="Arial"/>
                          <a:cs typeface="Arial"/>
                        </a:rPr>
                        <a:t>Held fixed</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800" b="1">
                          <a:solidFill>
                            <a:srgbClr val="007F7B"/>
                          </a:solidFill>
                          <a:latin typeface="Arial"/>
                          <a:ea typeface="Arial"/>
                          <a:cs typeface="Arial"/>
                        </a:rPr>
                        <a:t>Still changes</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809625">
                <a:tc>
                  <a:txBody>
                    <a:bodyPr/>
                    <a:lstStyle/>
                    <a:p>
                      <a:r>
                        <a:rPr sz="1800" b="0">
                          <a:solidFill>
                            <a:srgbClr val="17313D"/>
                          </a:solidFill>
                          <a:latin typeface="Arial"/>
                          <a:ea typeface="Arial"/>
                          <a:cs typeface="Arial"/>
                        </a:rPr>
                        <a:t>Across models</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Images, masks, preprocessing,</a:t>
                      </a:r>
                    </a:p>
                    <a:p>
                      <a:r>
                        <a:rPr sz="1800" b="0">
                          <a:solidFill>
                            <a:srgbClr val="17313D"/>
                          </a:solidFill>
                          <a:latin typeface="Arial"/>
                          <a:ea typeface="Arial"/>
                          <a:cs typeface="Arial"/>
                        </a:rPr>
                        <a:t>probe procedure</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Pretraining data/objective,</a:t>
                      </a:r>
                    </a:p>
                    <a:p>
                      <a:r>
                        <a:rPr sz="1800" b="0">
                          <a:solidFill>
                            <a:srgbClr val="17313D"/>
                          </a:solidFill>
                          <a:latin typeface="Arial"/>
                          <a:ea typeface="Arial"/>
                          <a:cs typeface="Arial"/>
                        </a:rPr>
                        <a:t>weights and model details</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809625">
                <a:tc>
                  <a:txBody>
                    <a:bodyPr/>
                    <a:lstStyle/>
                    <a:p>
                      <a:r>
                        <a:rPr sz="1800" b="0">
                          <a:solidFill>
                            <a:srgbClr val="17313D"/>
                          </a:solidFill>
                          <a:latin typeface="Arial"/>
                          <a:ea typeface="Arial"/>
                          <a:cs typeface="Arial"/>
                        </a:rPr>
                        <a:t>Gray versus black</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Model, probe, mask,</a:t>
                      </a:r>
                    </a:p>
                    <a:p>
                      <a:r>
                        <a:rPr sz="1800" b="0">
                          <a:solidFill>
                            <a:srgbClr val="17313D"/>
                          </a:solidFill>
                          <a:latin typeface="Arial"/>
                          <a:ea typeface="Arial"/>
                          <a:cs typeface="Arial"/>
                        </a:rPr>
                        <a:t>retained pixels</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Hidden-pixel value</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809625">
                <a:tc>
                  <a:txBody>
                    <a:bodyPr/>
                    <a:lstStyle/>
                    <a:p>
                      <a:r>
                        <a:rPr sz="1800" b="0">
                          <a:solidFill>
                            <a:srgbClr val="17313D"/>
                          </a:solidFill>
                          <a:latin typeface="Arial"/>
                          <a:ea typeface="Arial"/>
                          <a:cs typeface="Arial"/>
                        </a:rPr>
                        <a:t>Same-image pairs</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Image, model, probe,</a:t>
                      </a:r>
                    </a:p>
                    <a:p>
                      <a:r>
                        <a:rPr sz="1800" b="0">
                          <a:solidFill>
                            <a:srgbClr val="17313D"/>
                          </a:solidFill>
                          <a:latin typeface="Arial"/>
                          <a:ea typeface="Arial"/>
                          <a:cs typeface="Arial"/>
                        </a:rPr>
                        <a:t>occluder area and shape</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Occluder position, retained</a:t>
                      </a:r>
                    </a:p>
                    <a:p>
                      <a:r>
                        <a:rPr sz="1800" b="0">
                          <a:solidFill>
                            <a:srgbClr val="17313D"/>
                          </a:solidFill>
                          <a:latin typeface="Arial"/>
                          <a:ea typeface="Arial"/>
                          <a:cs typeface="Arial"/>
                        </a:rPr>
                        <a:t>parts, texture and background</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EF79656-1A1E-4CE9-8739-481EED9F8618}"/>
              </a:ext>
            </a:extLst>
          </p:cNvPr>
          <p:cNvSpPr>
            <a:spLocks xmlns:a="http://schemas.openxmlformats.org/drawingml/2006/main" noGrp="1"/>
          </p:cNvSpPr>
          <p:nvPr/>
        </p:nvSpPr>
        <p:spPr>
          <a:xfrm xmlns:a="http://schemas.openxmlformats.org/drawingml/2006/main">
            <a:off x="609600" y="52578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Arial"/>
                <a:ea typeface="Arial"/>
                <a:cs typeface="Arial"/>
              </a:defRPr>
            </a:defPPr>
            <a:lvl1pPr>
              <a:defRPr sz="2175" b="1">
                <a:solidFill>
                  <a:srgbClr val="007F7B"/>
                </a:solidFill>
                <a:latin typeface="Arial"/>
                <a:ea typeface="Arial"/>
                <a:cs typeface="Arial"/>
              </a:defRPr>
            </a:lvl1pPr>
            <a:lvl2pPr>
              <a:defRPr sz="2175" b="1">
                <a:solidFill>
                  <a:srgbClr val="007F7B"/>
                </a:solidFill>
                <a:latin typeface="Arial"/>
                <a:ea typeface="Arial"/>
                <a:cs typeface="Arial"/>
              </a:defRPr>
            </a:lvl2pPr>
            <a:lvl3pPr>
              <a:defRPr sz="2175" b="1">
                <a:solidFill>
                  <a:srgbClr val="007F7B"/>
                </a:solidFill>
                <a:latin typeface="Arial"/>
                <a:ea typeface="Arial"/>
                <a:cs typeface="Arial"/>
              </a:defRPr>
            </a:lvl3pPr>
            <a:lvl4pPr>
              <a:defRPr sz="2175" b="1">
                <a:solidFill>
                  <a:srgbClr val="007F7B"/>
                </a:solidFill>
                <a:latin typeface="Arial"/>
                <a:ea typeface="Arial"/>
                <a:cs typeface="Arial"/>
              </a:defRPr>
            </a:lvl4pPr>
            <a:lvl5pPr>
              <a:defRPr sz="2175" b="1">
                <a:solidFill>
                  <a:srgbClr val="007F7B"/>
                </a:solidFill>
                <a:latin typeface="Arial"/>
                <a:ea typeface="Arial"/>
                <a:cs typeface="Arial"/>
              </a:defRPr>
            </a:lvl5pPr>
            <a:lvl6pPr>
              <a:defRPr sz="2175" b="1">
                <a:solidFill>
                  <a:srgbClr val="007F7B"/>
                </a:solidFill>
                <a:latin typeface="Arial"/>
                <a:ea typeface="Arial"/>
                <a:cs typeface="Arial"/>
              </a:defRPr>
            </a:lvl6pPr>
            <a:lvl7pPr>
              <a:defRPr sz="2175" b="1">
                <a:solidFill>
                  <a:srgbClr val="007F7B"/>
                </a:solidFill>
                <a:latin typeface="Arial"/>
                <a:ea typeface="Arial"/>
                <a:cs typeface="Arial"/>
              </a:defRPr>
            </a:lvl7pPr>
            <a:lvl8pPr>
              <a:defRPr sz="2175" b="1">
                <a:solidFill>
                  <a:srgbClr val="007F7B"/>
                </a:solidFill>
                <a:latin typeface="Arial"/>
                <a:ea typeface="Arial"/>
                <a:cs typeface="Arial"/>
              </a:defRPr>
            </a:lvl8pPr>
            <a:lvl9pPr>
              <a:defRPr sz="2175" b="1">
                <a:solidFill>
                  <a:srgbClr val="007F7B"/>
                </a:solidFill>
                <a:latin typeface="Arial"/>
                <a:ea typeface="Arial"/>
                <a:cs typeface="Arial"/>
              </a:defRPr>
            </a:lvl9pPr>
          </a:lstStyle>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Cross-model scores describe these systems under shared inputs.</a:t>
            </a:r>
          </a:p>
        </p:txBody>
      </p:sp>
      <p:sp>
        <p:nvSpPr>
          <p:cNvPr id="5" name="">
            <a:extLst xmlns:a="http://schemas.openxmlformats.org/drawingml/2006/main">
              <a:ext uri="{FF2B5EF4-FFF2-40B4-BE49-F238E27FC236}">
                <a16:creationId xmlns:a16="http://schemas.microsoft.com/office/drawing/2014/main" id="{F8FA7DD6-3B2B-4915-A0C2-0B170167FB9D}"/>
              </a:ext>
            </a:extLst>
          </p:cNvPr>
          <p:cNvSpPr>
            <a:spLocks xmlns:a="http://schemas.openxmlformats.org/drawingml/2006/main" noGrp="1"/>
          </p:cNvSpPr>
          <p:nvPr/>
        </p:nvSpPr>
        <p:spPr>
          <a:xfrm xmlns:a="http://schemas.openxmlformats.org/drawingml/2006/main">
            <a:off x="609600" y="58388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13D"/>
                </a:solidFill>
                <a:latin typeface="Arial"/>
                <a:ea typeface="Arial"/>
                <a:cs typeface="Arial"/>
              </a:defRPr>
            </a:defPPr>
            <a:lvl1pPr>
              <a:defRPr sz="2175" b="1">
                <a:solidFill>
                  <a:srgbClr val="17313D"/>
                </a:solidFill>
                <a:latin typeface="Arial"/>
                <a:ea typeface="Arial"/>
                <a:cs typeface="Arial"/>
              </a:defRPr>
            </a:lvl1pPr>
            <a:lvl2pPr>
              <a:defRPr sz="2175" b="1">
                <a:solidFill>
                  <a:srgbClr val="17313D"/>
                </a:solidFill>
                <a:latin typeface="Arial"/>
                <a:ea typeface="Arial"/>
                <a:cs typeface="Arial"/>
              </a:defRPr>
            </a:lvl2pPr>
            <a:lvl3pPr>
              <a:defRPr sz="2175" b="1">
                <a:solidFill>
                  <a:srgbClr val="17313D"/>
                </a:solidFill>
                <a:latin typeface="Arial"/>
                <a:ea typeface="Arial"/>
                <a:cs typeface="Arial"/>
              </a:defRPr>
            </a:lvl3pPr>
            <a:lvl4pPr>
              <a:defRPr sz="2175" b="1">
                <a:solidFill>
                  <a:srgbClr val="17313D"/>
                </a:solidFill>
                <a:latin typeface="Arial"/>
                <a:ea typeface="Arial"/>
                <a:cs typeface="Arial"/>
              </a:defRPr>
            </a:lvl4pPr>
            <a:lvl5pPr>
              <a:defRPr sz="2175" b="1">
                <a:solidFill>
                  <a:srgbClr val="17313D"/>
                </a:solidFill>
                <a:latin typeface="Arial"/>
                <a:ea typeface="Arial"/>
                <a:cs typeface="Arial"/>
              </a:defRPr>
            </a:lvl5pPr>
            <a:lvl6pPr>
              <a:defRPr sz="2175" b="1">
                <a:solidFill>
                  <a:srgbClr val="17313D"/>
                </a:solidFill>
                <a:latin typeface="Arial"/>
                <a:ea typeface="Arial"/>
                <a:cs typeface="Arial"/>
              </a:defRPr>
            </a:lvl6pPr>
            <a:lvl7pPr>
              <a:defRPr sz="2175" b="1">
                <a:solidFill>
                  <a:srgbClr val="17313D"/>
                </a:solidFill>
                <a:latin typeface="Arial"/>
                <a:ea typeface="Arial"/>
                <a:cs typeface="Arial"/>
              </a:defRPr>
            </a:lvl7pPr>
            <a:lvl8pPr>
              <a:defRPr sz="2175" b="1">
                <a:solidFill>
                  <a:srgbClr val="17313D"/>
                </a:solidFill>
                <a:latin typeface="Arial"/>
                <a:ea typeface="Arial"/>
                <a:cs typeface="Arial"/>
              </a:defRPr>
            </a:lvl8pPr>
            <a:lvl9pPr>
              <a:defRPr sz="2175" b="1">
                <a:solidFill>
                  <a:srgbClr val="17313D"/>
                </a:solidFill>
                <a:latin typeface="Arial"/>
                <a:ea typeface="Arial"/>
                <a:cs typeface="Arial"/>
              </a:defRPr>
            </a:lvl9pPr>
          </a:lstStyle>
          <a:p xmlns:a="http://schemas.openxmlformats.org/drawingml/2006/main">
            <a:pPr>
              <a:defRPr sz="2175" b="1">
                <a:solidFill>
                  <a:srgbClr val="17313D"/>
                </a:solidFill>
                <a:latin typeface="Arial"/>
                <a:ea typeface="Arial"/>
                <a:cs typeface="Arial"/>
              </a:defRPr>
            </a:pPr>
            <a:r>
              <a:rPr sz="2175" b="1">
                <a:solidFill>
                  <a:srgbClr val="17313D"/>
                </a:solidFill>
                <a:latin typeface="Arial"/>
                <a:ea typeface="Arial"/>
                <a:cs typeface="Arial"/>
              </a:rPr>
              <a:t>They cannot identify the effect of prefix attention.</a:t>
            </a:r>
          </a:p>
        </p:txBody>
      </p:sp>
    </p:spTree>
    <p:extLst>
      <p:ext uri="{BB962C8B-B14F-4D97-AF65-F5344CB8AC3E}">
        <p14:creationId xmlns:p14="http://schemas.microsoft.com/office/powerpoint/2010/main" val="3593331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B6D6B2-F449-4BAB-88F1-0804CAFBEEB1}"/>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Model ordering reverses with the masking pattern</a:t>
            </a:r>
          </a:p>
        </p:txBody>
      </p:sp>
      <p:sp>
        <p:nvSpPr>
          <p:cNvPr id="2" name="">
            <a:extLst xmlns:a="http://schemas.openxmlformats.org/drawingml/2006/main">
              <a:ext uri="{FF2B5EF4-FFF2-40B4-BE49-F238E27FC236}">
                <a16:creationId xmlns:a16="http://schemas.microsoft.com/office/drawing/2014/main" id="{BC8264ED-7649-4BD5-965A-09C1048A2F35}"/>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B82168F7-4D6F-4915-BD8A-9CC2FBD0057C}"/>
              </a:ext>
            </a:extLst>
          </p:cNvPr>
          <p:cNvSpPr>
            <a:spLocks xmlns:a="http://schemas.openxmlformats.org/drawingml/2006/main" noGrp="1"/>
          </p:cNvSpPr>
          <p:nvPr/>
        </p:nvSpPr>
        <p:spPr>
          <a:xfrm xmlns:a="http://schemas.openxmlformats.org/drawingml/2006/main">
            <a:off x="609600" y="14954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16A"/>
                </a:solidFill>
                <a:latin typeface="Arial"/>
                <a:ea typeface="Arial"/>
                <a:cs typeface="Arial"/>
              </a:defRPr>
            </a:defPPr>
            <a:lvl1pPr>
              <a:defRPr sz="1875" b="0">
                <a:solidFill>
                  <a:srgbClr val="52616A"/>
                </a:solidFill>
                <a:latin typeface="Arial"/>
                <a:ea typeface="Arial"/>
                <a:cs typeface="Arial"/>
              </a:defRPr>
            </a:lvl1pPr>
            <a:lvl2pPr>
              <a:defRPr sz="1875" b="0">
                <a:solidFill>
                  <a:srgbClr val="52616A"/>
                </a:solidFill>
                <a:latin typeface="Arial"/>
                <a:ea typeface="Arial"/>
                <a:cs typeface="Arial"/>
              </a:defRPr>
            </a:lvl2pPr>
            <a:lvl3pPr>
              <a:defRPr sz="1875" b="0">
                <a:solidFill>
                  <a:srgbClr val="52616A"/>
                </a:solidFill>
                <a:latin typeface="Arial"/>
                <a:ea typeface="Arial"/>
                <a:cs typeface="Arial"/>
              </a:defRPr>
            </a:lvl3pPr>
            <a:lvl4pPr>
              <a:defRPr sz="1875" b="0">
                <a:solidFill>
                  <a:srgbClr val="52616A"/>
                </a:solidFill>
                <a:latin typeface="Arial"/>
                <a:ea typeface="Arial"/>
                <a:cs typeface="Arial"/>
              </a:defRPr>
            </a:lvl4pPr>
            <a:lvl5pPr>
              <a:defRPr sz="1875" b="0">
                <a:solidFill>
                  <a:srgbClr val="52616A"/>
                </a:solidFill>
                <a:latin typeface="Arial"/>
                <a:ea typeface="Arial"/>
                <a:cs typeface="Arial"/>
              </a:defRPr>
            </a:lvl5pPr>
            <a:lvl6pPr>
              <a:defRPr sz="1875" b="0">
                <a:solidFill>
                  <a:srgbClr val="52616A"/>
                </a:solidFill>
                <a:latin typeface="Arial"/>
                <a:ea typeface="Arial"/>
                <a:cs typeface="Arial"/>
              </a:defRPr>
            </a:lvl6pPr>
            <a:lvl7pPr>
              <a:defRPr sz="1875" b="0">
                <a:solidFill>
                  <a:srgbClr val="52616A"/>
                </a:solidFill>
                <a:latin typeface="Arial"/>
                <a:ea typeface="Arial"/>
                <a:cs typeface="Arial"/>
              </a:defRPr>
            </a:lvl7pPr>
            <a:lvl8pPr>
              <a:defRPr sz="1875" b="0">
                <a:solidFill>
                  <a:srgbClr val="52616A"/>
                </a:solidFill>
                <a:latin typeface="Arial"/>
                <a:ea typeface="Arial"/>
                <a:cs typeface="Arial"/>
              </a:defRPr>
            </a:lvl8pPr>
            <a:lvl9pPr>
              <a:defRPr sz="1875" b="0">
                <a:solidFill>
                  <a:srgbClr val="52616A"/>
                </a:solidFill>
                <a:latin typeface="Arial"/>
                <a:ea typeface="Arial"/>
                <a:cs typeface="Arial"/>
              </a:defRPr>
            </a:lvl9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Gray fill, 25% visible image area, 740 new test images</a:t>
            </a:r>
          </a:p>
        </p:txBody>
      </p:sp>
      <p:graphicFrame>
        <p:nvGraphicFramePr>
          <p:cNvPr id="4" name="Chart">
            <a:extLst xmlns:a="http://schemas.openxmlformats.org/drawingml/2006/main">
              <a:ext uri="{FF2B5EF4-FFF2-40B4-BE49-F238E27FC236}">
                <a16:creationId xmlns:a16="http://schemas.microsoft.com/office/drawing/2014/main" id="{10551D05-69F7-46C1-9546-5F8D7AADAD29}"/>
              </a:ext>
            </a:extLst>
          </p:cNvPr>
          <p:cNvGraphicFramePr/>
          <p:nvPr/>
        </p:nvGraphicFramePr>
        <p:xfrm>
          <a:off xmlns:a="http://schemas.openxmlformats.org/drawingml/2006/main" x="609600" y="1981200"/>
          <a:ext xmlns:a="http://schemas.openxmlformats.org/drawingml/2006/main" cx="10972800" cy="3000375"/>
        </p:xfrm>
        <a:graphic xmlns:a="http://schemas.openxmlformats.org/drawingml/2006/main">
          <a:graphicData uri="http://schemas.openxmlformats.org/drawingml/2006/chart">
            <c:chart xmlns:r="http://schemas.openxmlformats.org/officeDocument/2006/relationships" xmlns:c="http://schemas.openxmlformats.org/drawingml/2006/chart" r:id="R40c917be06574e8d"/>
          </a:graphicData>
        </a:graphic>
      </p:graphicFrame>
      <p:graphicFrame>
        <p:nvGraphicFramePr>
          <p:cNvPr id="5" name="">
            <a:extLst xmlns:a="http://schemas.openxmlformats.org/drawingml/2006/main">
              <a:ext uri="{FF2B5EF4-FFF2-40B4-BE49-F238E27FC236}">
                <a16:creationId xmlns:a16="http://schemas.microsoft.com/office/drawing/2014/main" id="{F8678232-357A-4E65-8659-CF341B4157BB}"/>
              </a:ext>
            </a:extLst>
          </p:cNvPr>
          <p:cNvGraphicFramePr/>
          <p:nvPr/>
        </p:nvGraphicFramePr>
        <p:xfrm>
          <a:off xmlns:a="http://schemas.openxmlformats.org/drawingml/2006/main" x="609600" y="5143500"/>
          <a:ext xmlns:a="http://schemas.openxmlformats.org/drawingml/2006/main" cx="10972800" cy="1085850"/>
        </p:xfrm>
        <a:graphic xmlns:a="http://schemas.openxmlformats.org/drawingml/2006/main">
          <a:graphicData uri="http://schemas.openxmlformats.org/drawingml/2006/table">
            <a:tbl>
              <a:tblPr/>
              <a:tblGrid>
                <a:gridCol w="4857750"/>
                <a:gridCol w="6115050"/>
              </a:tblGrid>
              <a:tr h="361950">
                <a:tc>
                  <a:txBody>
                    <a:bodyPr/>
                    <a:lstStyle/>
                    <a:p>
                      <a:r>
                        <a:rPr sz="1725" b="1">
                          <a:solidFill>
                            <a:srgbClr val="007F7B"/>
                          </a:solidFill>
                          <a:latin typeface="Arial"/>
                          <a:ea typeface="Arial"/>
                          <a:cs typeface="Arial"/>
                        </a:rPr>
                        <a:t>Paired AIMv2 minus DINOv2</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Difference in pp [simultaneous 95% CI]</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361950">
                <a:tc>
                  <a:txBody>
                    <a:bodyPr/>
                    <a:lstStyle/>
                    <a:p>
                      <a:r>
                        <a:rPr sz="1725" b="0">
                          <a:solidFill>
                            <a:srgbClr val="17313D"/>
                          </a:solidFill>
                          <a:latin typeface="Arial"/>
                          <a:ea typeface="Arial"/>
                          <a:cs typeface="Arial"/>
                        </a:rPr>
                        <a:t>Center</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+23.9 [19.9, 28.2]</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361950">
                <a:tc>
                  <a:txBody>
                    <a:bodyPr/>
                    <a:lstStyle/>
                    <a:p>
                      <a:r>
                        <a:rPr sz="1725" b="0">
                          <a:solidFill>
                            <a:srgbClr val="17313D"/>
                          </a:solidFill>
                          <a:latin typeface="Arial"/>
                          <a:ea typeface="Arial"/>
                          <a:cs typeface="Arial"/>
                        </a:rPr>
                        <a:t>Random</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-36.1 [-39.9, -32.3]</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Tree>
    <p:extLst>
      <p:ext uri="{BB962C8B-B14F-4D97-AF65-F5344CB8AC3E}">
        <p14:creationId xmlns:p14="http://schemas.microsoft.com/office/powerpoint/2010/main" val="11621525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59F72F-4DFF-4775-859D-25E75024D42A}"/>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The ordering crossover repeats with black fill</a:t>
            </a:r>
          </a:p>
        </p:txBody>
      </p:sp>
      <p:sp>
        <p:nvSpPr>
          <p:cNvPr id="2" name="">
            <a:extLst xmlns:a="http://schemas.openxmlformats.org/drawingml/2006/main">
              <a:ext uri="{FF2B5EF4-FFF2-40B4-BE49-F238E27FC236}">
                <a16:creationId xmlns:a16="http://schemas.microsoft.com/office/drawing/2014/main" id="{52D35741-650D-481D-ACDE-AAAC40F7B425}"/>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3C6E83F2-CBAC-4ABC-8380-895D923814AE}"/>
              </a:ext>
            </a:extLst>
          </p:cNvPr>
          <p:cNvGraphicFramePr/>
          <p:nvPr/>
        </p:nvGraphicFramePr>
        <p:xfrm>
          <a:off xmlns:a="http://schemas.openxmlformats.org/drawingml/2006/main" x="609600" y="1714500"/>
          <a:ext xmlns:a="http://schemas.openxmlformats.org/drawingml/2006/main" cx="10972800" cy="2857500"/>
        </p:xfrm>
        <a:graphic xmlns:a="http://schemas.openxmlformats.org/drawingml/2006/main">
          <a:graphicData uri="http://schemas.openxmlformats.org/drawingml/2006/table">
            <a:tbl>
              <a:tblPr/>
              <a:tblGrid>
                <a:gridCol w="1333500"/>
                <a:gridCol w="1524000"/>
                <a:gridCol w="1619250"/>
                <a:gridCol w="1619250"/>
                <a:gridCol w="4876800"/>
              </a:tblGrid>
              <a:tr h="571500">
                <a:tc>
                  <a:txBody>
                    <a:bodyPr/>
                    <a:lstStyle/>
                    <a:p>
                      <a:r>
                        <a:rPr sz="1800" b="1">
                          <a:solidFill>
                            <a:srgbClr val="007F7B"/>
                          </a:solidFill>
                          <a:latin typeface="Arial"/>
                          <a:ea typeface="Arial"/>
                          <a:cs typeface="Arial"/>
                        </a:rPr>
                        <a:t>Fill</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800" b="1">
                          <a:solidFill>
                            <a:srgbClr val="007F7B"/>
                          </a:solidFill>
                          <a:latin typeface="Arial"/>
                          <a:ea typeface="Arial"/>
                          <a:cs typeface="Arial"/>
                        </a:rPr>
                        <a:t>Pattern</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800" b="1">
                          <a:solidFill>
                            <a:srgbClr val="007F7B"/>
                          </a:solidFill>
                          <a:latin typeface="Arial"/>
                          <a:ea typeface="Arial"/>
                          <a:cs typeface="Arial"/>
                        </a:rPr>
                        <a:t>AIMv2</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800" b="1">
                          <a:solidFill>
                            <a:srgbClr val="007F7B"/>
                          </a:solidFill>
                          <a:latin typeface="Arial"/>
                          <a:ea typeface="Arial"/>
                          <a:cs typeface="Arial"/>
                        </a:rPr>
                        <a:t>DINOv2</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800" b="1">
                          <a:solidFill>
                            <a:srgbClr val="007F7B"/>
                          </a:solidFill>
                          <a:latin typeface="Arial"/>
                          <a:ea typeface="Arial"/>
                          <a:cs typeface="Arial"/>
                        </a:rPr>
                        <a:t>AIM minus DINO, pp</a:t>
                      </a:r>
                    </a:p>
                    <a:p>
                      <a:r>
                        <a:rPr sz="1800" b="1">
                          <a:solidFill>
                            <a:srgbClr val="007F7B"/>
                          </a:solidFill>
                          <a:latin typeface="Arial"/>
                          <a:ea typeface="Arial"/>
                          <a:cs typeface="Arial"/>
                        </a:rPr>
                        <a:t>[simultaneous 95% CI]</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571500">
                <a:tc>
                  <a:txBody>
                    <a:bodyPr/>
                    <a:lstStyle/>
                    <a:p>
                      <a:r>
                        <a:rPr sz="1800" b="0">
                          <a:solidFill>
                            <a:srgbClr val="17313D"/>
                          </a:solidFill>
                          <a:latin typeface="Arial"/>
                          <a:ea typeface="Arial"/>
                          <a:cs typeface="Arial"/>
                        </a:rPr>
                        <a:t>Gray</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Center</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87.0%</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63.1%</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+23.9 [19.9, 28.2]</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71500">
                <a:tc>
                  <a:txBody>
                    <a:bodyPr/>
                    <a:lstStyle/>
                    <a:p>
                      <a:r>
                        <a:rPr sz="1800" b="0">
                          <a:solidFill>
                            <a:srgbClr val="17313D"/>
                          </a:solidFill>
                          <a:latin typeface="Arial"/>
                          <a:ea typeface="Arial"/>
                          <a:cs typeface="Arial"/>
                        </a:rPr>
                        <a:t>Gray</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Random</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33.6%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69.6%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-36.1 [-39.9, -32.3]</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71500">
                <a:tc>
                  <a:txBody>
                    <a:bodyPr/>
                    <a:lstStyle/>
                    <a:p>
                      <a:r>
                        <a:rPr sz="1800" b="0">
                          <a:solidFill>
                            <a:srgbClr val="17313D"/>
                          </a:solidFill>
                          <a:latin typeface="Arial"/>
                          <a:ea typeface="Arial"/>
                          <a:cs typeface="Arial"/>
                        </a:rPr>
                        <a:t>Black</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Center</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87.3%</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61.9%</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+25.4 [21.4, 29.3]</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71500">
                <a:tc>
                  <a:txBody>
                    <a:bodyPr/>
                    <a:lstStyle/>
                    <a:p>
                      <a:r>
                        <a:rPr sz="1800" b="0">
                          <a:solidFill>
                            <a:srgbClr val="17313D"/>
                          </a:solidFill>
                          <a:latin typeface="Arial"/>
                          <a:ea typeface="Arial"/>
                          <a:cs typeface="Arial"/>
                        </a:rPr>
                        <a:t>Black</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Random</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30.4%</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62.2%</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-31.8 [-35.7, -28.0]</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AC0AFC9-2522-4FC0-957C-EDA2FA8CD08B}"/>
              </a:ext>
            </a:extLst>
          </p:cNvPr>
          <p:cNvSpPr>
            <a:spLocks xmlns:a="http://schemas.openxmlformats.org/drawingml/2006/main" noGrp="1"/>
          </p:cNvSpPr>
          <p:nvPr/>
        </p:nvSpPr>
        <p:spPr>
          <a:xfrm xmlns:a="http://schemas.openxmlformats.org/drawingml/2006/main">
            <a:off x="609600" y="49053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Arial"/>
                <a:ea typeface="Arial"/>
                <a:cs typeface="Arial"/>
              </a:defRPr>
            </a:defPPr>
            <a:lvl1pPr>
              <a:defRPr sz="2100" b="1">
                <a:solidFill>
                  <a:srgbClr val="007F7B"/>
                </a:solidFill>
                <a:latin typeface="Arial"/>
                <a:ea typeface="Arial"/>
                <a:cs typeface="Arial"/>
              </a:defRPr>
            </a:lvl1pPr>
            <a:lvl2pPr>
              <a:defRPr sz="2100" b="1">
                <a:solidFill>
                  <a:srgbClr val="007F7B"/>
                </a:solidFill>
                <a:latin typeface="Arial"/>
                <a:ea typeface="Arial"/>
                <a:cs typeface="Arial"/>
              </a:defRPr>
            </a:lvl2pPr>
            <a:lvl3pPr>
              <a:defRPr sz="2100" b="1">
                <a:solidFill>
                  <a:srgbClr val="007F7B"/>
                </a:solidFill>
                <a:latin typeface="Arial"/>
                <a:ea typeface="Arial"/>
                <a:cs typeface="Arial"/>
              </a:defRPr>
            </a:lvl3pPr>
            <a:lvl4pPr>
              <a:defRPr sz="2100" b="1">
                <a:solidFill>
                  <a:srgbClr val="007F7B"/>
                </a:solidFill>
                <a:latin typeface="Arial"/>
                <a:ea typeface="Arial"/>
                <a:cs typeface="Arial"/>
              </a:defRPr>
            </a:lvl4pPr>
            <a:lvl5pPr>
              <a:defRPr sz="2100" b="1">
                <a:solidFill>
                  <a:srgbClr val="007F7B"/>
                </a:solidFill>
                <a:latin typeface="Arial"/>
                <a:ea typeface="Arial"/>
                <a:cs typeface="Arial"/>
              </a:defRPr>
            </a:lvl5pPr>
            <a:lvl6pPr>
              <a:defRPr sz="2100" b="1">
                <a:solidFill>
                  <a:srgbClr val="007F7B"/>
                </a:solidFill>
                <a:latin typeface="Arial"/>
                <a:ea typeface="Arial"/>
                <a:cs typeface="Arial"/>
              </a:defRPr>
            </a:lvl6pPr>
            <a:lvl7pPr>
              <a:defRPr sz="2100" b="1">
                <a:solidFill>
                  <a:srgbClr val="007F7B"/>
                </a:solidFill>
                <a:latin typeface="Arial"/>
                <a:ea typeface="Arial"/>
                <a:cs typeface="Arial"/>
              </a:defRPr>
            </a:lvl7pPr>
            <a:lvl8pPr>
              <a:defRPr sz="2100" b="1">
                <a:solidFill>
                  <a:srgbClr val="007F7B"/>
                </a:solidFill>
                <a:latin typeface="Arial"/>
                <a:ea typeface="Arial"/>
                <a:cs typeface="Arial"/>
              </a:defRPr>
            </a:lvl8pPr>
            <a:lvl9pPr>
              <a:defRPr sz="2100" b="1">
                <a:solidFill>
                  <a:srgbClr val="007F7B"/>
                </a:solidFill>
                <a:latin typeface="Arial"/>
                <a:ea typeface="Arial"/>
                <a:cs typeface="Arial"/>
              </a:defRPr>
            </a:lvl9pPr>
          </a:lstStyle>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Fill comparison keeps the visible pixels and mask locations identical.</a:t>
            </a:r>
          </a:p>
        </p:txBody>
      </p:sp>
      <p:sp>
        <p:nvSpPr>
          <p:cNvPr id="5" name="">
            <a:extLst xmlns:a="http://schemas.openxmlformats.org/drawingml/2006/main">
              <a:ext uri="{FF2B5EF4-FFF2-40B4-BE49-F238E27FC236}">
                <a16:creationId xmlns:a16="http://schemas.microsoft.com/office/drawing/2014/main" id="{27035A73-3135-4C3C-BBA0-6621ED2A51A9}"/>
              </a:ext>
            </a:extLst>
          </p:cNvPr>
          <p:cNvSpPr>
            <a:spLocks xmlns:a="http://schemas.openxmlformats.org/drawingml/2006/main" noGrp="1"/>
          </p:cNvSpPr>
          <p:nvPr/>
        </p:nvSpPr>
        <p:spPr>
          <a:xfrm xmlns:a="http://schemas.openxmlformats.org/drawingml/2006/main">
            <a:off x="609600" y="54864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13D"/>
                </a:solidFill>
                <a:latin typeface="Arial"/>
                <a:ea typeface="Arial"/>
                <a:cs typeface="Arial"/>
              </a:defRPr>
            </a:defPPr>
            <a:lvl1pPr>
              <a:defRPr sz="2025" b="0">
                <a:solidFill>
                  <a:srgbClr val="17313D"/>
                </a:solidFill>
                <a:latin typeface="Arial"/>
                <a:ea typeface="Arial"/>
                <a:cs typeface="Arial"/>
              </a:defRPr>
            </a:lvl1pPr>
            <a:lvl2pPr>
              <a:defRPr sz="2025" b="0">
                <a:solidFill>
                  <a:srgbClr val="17313D"/>
                </a:solidFill>
                <a:latin typeface="Arial"/>
                <a:ea typeface="Arial"/>
                <a:cs typeface="Arial"/>
              </a:defRPr>
            </a:lvl2pPr>
            <a:lvl3pPr>
              <a:defRPr sz="2025" b="0">
                <a:solidFill>
                  <a:srgbClr val="17313D"/>
                </a:solidFill>
                <a:latin typeface="Arial"/>
                <a:ea typeface="Arial"/>
                <a:cs typeface="Arial"/>
              </a:defRPr>
            </a:lvl3pPr>
            <a:lvl4pPr>
              <a:defRPr sz="2025" b="0">
                <a:solidFill>
                  <a:srgbClr val="17313D"/>
                </a:solidFill>
                <a:latin typeface="Arial"/>
                <a:ea typeface="Arial"/>
                <a:cs typeface="Arial"/>
              </a:defRPr>
            </a:lvl4pPr>
            <a:lvl5pPr>
              <a:defRPr sz="2025" b="0">
                <a:solidFill>
                  <a:srgbClr val="17313D"/>
                </a:solidFill>
                <a:latin typeface="Arial"/>
                <a:ea typeface="Arial"/>
                <a:cs typeface="Arial"/>
              </a:defRPr>
            </a:lvl5pPr>
            <a:lvl6pPr>
              <a:defRPr sz="2025" b="0">
                <a:solidFill>
                  <a:srgbClr val="17313D"/>
                </a:solidFill>
                <a:latin typeface="Arial"/>
                <a:ea typeface="Arial"/>
                <a:cs typeface="Arial"/>
              </a:defRPr>
            </a:lvl6pPr>
            <a:lvl7pPr>
              <a:defRPr sz="2025" b="0">
                <a:solidFill>
                  <a:srgbClr val="17313D"/>
                </a:solidFill>
                <a:latin typeface="Arial"/>
                <a:ea typeface="Arial"/>
                <a:cs typeface="Arial"/>
              </a:defRPr>
            </a:lvl7pPr>
            <a:lvl8pPr>
              <a:defRPr sz="2025" b="0">
                <a:solidFill>
                  <a:srgbClr val="17313D"/>
                </a:solidFill>
                <a:latin typeface="Arial"/>
                <a:ea typeface="Arial"/>
                <a:cs typeface="Arial"/>
              </a:defRPr>
            </a:lvl8pPr>
            <a:lvl9pPr>
              <a:defRPr sz="2025" b="0">
                <a:solidFill>
                  <a:srgbClr val="17313D"/>
                </a:solidFill>
                <a:latin typeface="Arial"/>
                <a:ea typeface="Arial"/>
                <a:cs typeface="Arial"/>
              </a:defRPr>
            </a:lvl9pPr>
          </a:lstStyle>
          <a:p xmlns:a="http://schemas.openxmlformats.org/drawingml/2006/main">
            <a:pPr>
              <a:defRPr sz="2025" b="0">
                <a:solidFill>
                  <a:srgbClr val="17313D"/>
                </a:solidFill>
                <a:latin typeface="Arial"/>
                <a:ea typeface="Arial"/>
                <a:cs typeface="Arial"/>
              </a:defRPr>
            </a:pPr>
            <a:r>
              <a:rPr sz="2025" b="0">
                <a:solidFill>
                  <a:srgbClr val="17313D"/>
                </a:solidFill>
                <a:latin typeface="Arial"/>
                <a:ea typeface="Arial"/>
                <a:cs typeface="Arial"/>
              </a:rPr>
              <a:t>Random accuracy, black minus gray: AIMv2 -3.2 pp / DINOv2 -7.4 pp</a:t>
            </a:r>
          </a:p>
        </p:txBody>
      </p:sp>
      <p:sp>
        <p:nvSpPr>
          <p:cNvPr id="6" name="">
            <a:extLst xmlns:a="http://schemas.openxmlformats.org/drawingml/2006/main">
              <a:ext uri="{FF2B5EF4-FFF2-40B4-BE49-F238E27FC236}">
                <a16:creationId xmlns:a16="http://schemas.microsoft.com/office/drawing/2014/main" id="{DC7F8EBE-4376-418D-B28B-B11CA35DBF02}"/>
              </a:ext>
            </a:extLst>
          </p:cNvPr>
          <p:cNvSpPr>
            <a:spLocks xmlns:a="http://schemas.openxmlformats.org/drawingml/2006/main" noGrp="1"/>
          </p:cNvSpPr>
          <p:nvPr/>
        </p:nvSpPr>
        <p:spPr>
          <a:xfrm xmlns:a="http://schemas.openxmlformats.org/drawingml/2006/main">
            <a:off x="609600" y="60102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Repeated ordering does not establish equivalent fills.</a:t>
            </a:r>
          </a:p>
        </p:txBody>
      </p:sp>
    </p:spTree>
    <p:extLst>
      <p:ext uri="{BB962C8B-B14F-4D97-AF65-F5344CB8AC3E}">
        <p14:creationId xmlns:p14="http://schemas.microsoft.com/office/powerpoint/2010/main" val="19810862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9EF129-E758-438B-A922-265EAF1EF6C3}"/>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Equal image area retains unequal foreground</a:t>
            </a:r>
          </a:p>
        </p:txBody>
      </p:sp>
      <p:sp>
        <p:nvSpPr>
          <p:cNvPr id="2" name="">
            <a:extLst xmlns:a="http://schemas.openxmlformats.org/drawingml/2006/main">
              <a:ext uri="{FF2B5EF4-FFF2-40B4-BE49-F238E27FC236}">
                <a16:creationId xmlns:a16="http://schemas.microsoft.com/office/drawing/2014/main" id="{77DBD28A-6083-4FE2-9E1E-D86435348354}"/>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40CDCE07-E142-4CE3-8545-1E3F2C77BF88}"/>
              </a:ext>
            </a:extLst>
          </p:cNvPr>
          <p:cNvSpPr>
            <a:spLocks xmlns:a="http://schemas.openxmlformats.org/drawingml/2006/main" noGrp="1"/>
          </p:cNvSpPr>
          <p:nvPr/>
        </p:nvSpPr>
        <p:spPr>
          <a:xfrm xmlns:a="http://schemas.openxmlformats.org/drawingml/2006/main">
            <a:off x="609600" y="15811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16A"/>
                </a:solidFill>
                <a:latin typeface="Arial"/>
                <a:ea typeface="Arial"/>
                <a:cs typeface="Arial"/>
              </a:defRPr>
            </a:defPPr>
            <a:lvl1pPr>
              <a:defRPr sz="1950" b="0">
                <a:solidFill>
                  <a:srgbClr val="52616A"/>
                </a:solidFill>
                <a:latin typeface="Arial"/>
                <a:ea typeface="Arial"/>
                <a:cs typeface="Arial"/>
              </a:defRPr>
            </a:lvl1pPr>
            <a:lvl2pPr>
              <a:defRPr sz="1950" b="0">
                <a:solidFill>
                  <a:srgbClr val="52616A"/>
                </a:solidFill>
                <a:latin typeface="Arial"/>
                <a:ea typeface="Arial"/>
                <a:cs typeface="Arial"/>
              </a:defRPr>
            </a:lvl2pPr>
            <a:lvl3pPr>
              <a:defRPr sz="1950" b="0">
                <a:solidFill>
                  <a:srgbClr val="52616A"/>
                </a:solidFill>
                <a:latin typeface="Arial"/>
                <a:ea typeface="Arial"/>
                <a:cs typeface="Arial"/>
              </a:defRPr>
            </a:lvl3pPr>
            <a:lvl4pPr>
              <a:defRPr sz="1950" b="0">
                <a:solidFill>
                  <a:srgbClr val="52616A"/>
                </a:solidFill>
                <a:latin typeface="Arial"/>
                <a:ea typeface="Arial"/>
                <a:cs typeface="Arial"/>
              </a:defRPr>
            </a:lvl4pPr>
            <a:lvl5pPr>
              <a:defRPr sz="1950" b="0">
                <a:solidFill>
                  <a:srgbClr val="52616A"/>
                </a:solidFill>
                <a:latin typeface="Arial"/>
                <a:ea typeface="Arial"/>
                <a:cs typeface="Arial"/>
              </a:defRPr>
            </a:lvl5pPr>
            <a:lvl6pPr>
              <a:defRPr sz="1950" b="0">
                <a:solidFill>
                  <a:srgbClr val="52616A"/>
                </a:solidFill>
                <a:latin typeface="Arial"/>
                <a:ea typeface="Arial"/>
                <a:cs typeface="Arial"/>
              </a:defRPr>
            </a:lvl6pPr>
            <a:lvl7pPr>
              <a:defRPr sz="1950" b="0">
                <a:solidFill>
                  <a:srgbClr val="52616A"/>
                </a:solidFill>
                <a:latin typeface="Arial"/>
                <a:ea typeface="Arial"/>
                <a:cs typeface="Arial"/>
              </a:defRPr>
            </a:lvl7pPr>
            <a:lvl8pPr>
              <a:defRPr sz="1950" b="0">
                <a:solidFill>
                  <a:srgbClr val="52616A"/>
                </a:solidFill>
                <a:latin typeface="Arial"/>
                <a:ea typeface="Arial"/>
                <a:cs typeface="Arial"/>
              </a:defRPr>
            </a:lvl8pPr>
            <a:lvl9pPr>
              <a:defRPr sz="1950" b="0">
                <a:solidFill>
                  <a:srgbClr val="52616A"/>
                </a:solidFill>
                <a:latin typeface="Arial"/>
                <a:ea typeface="Arial"/>
                <a:cs typeface="Arial"/>
              </a:defRPr>
            </a:lvl9pPr>
          </a:lstStyle>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Mean foreground retained at 25% visible image area, n = 740</a:t>
            </a:r>
          </a:p>
        </p:txBody>
      </p:sp>
      <p:graphicFrame>
        <p:nvGraphicFramePr>
          <p:cNvPr id="4" name="Chart">
            <a:extLst xmlns:a="http://schemas.openxmlformats.org/drawingml/2006/main">
              <a:ext uri="{FF2B5EF4-FFF2-40B4-BE49-F238E27FC236}">
                <a16:creationId xmlns:a16="http://schemas.microsoft.com/office/drawing/2014/main" id="{63698F5C-3D6D-44BC-B537-7253352775A6}"/>
              </a:ext>
            </a:extLst>
          </p:cNvPr>
          <p:cNvGraphicFramePr/>
          <p:nvPr/>
        </p:nvGraphicFramePr>
        <p:xfrm>
          <a:off xmlns:a="http://schemas.openxmlformats.org/drawingml/2006/main" x="609600" y="2114550"/>
          <a:ext xmlns:a="http://schemas.openxmlformats.org/drawingml/2006/main" cx="10972800" cy="3171825"/>
        </p:xfrm>
        <a:graphic xmlns:a="http://schemas.openxmlformats.org/drawingml/2006/main">
          <a:graphicData uri="http://schemas.openxmlformats.org/drawingml/2006/chart">
            <c:chart xmlns:r="http://schemas.openxmlformats.org/officeDocument/2006/relationships" xmlns:c="http://schemas.openxmlformats.org/drawingml/2006/chart" r:id="R2c2b284b9a894813"/>
          </a:graphicData>
        </a:graphic>
      </p:graphicFrame>
      <p:sp>
        <p:nvSpPr>
          <p:cNvPr id="5" name="">
            <a:extLst xmlns:a="http://schemas.openxmlformats.org/drawingml/2006/main">
              <a:ext uri="{FF2B5EF4-FFF2-40B4-BE49-F238E27FC236}">
                <a16:creationId xmlns:a16="http://schemas.microsoft.com/office/drawing/2014/main" id="{097EC364-44C1-4F6E-AA05-0D5EB682C331}"/>
              </a:ext>
            </a:extLst>
          </p:cNvPr>
          <p:cNvSpPr>
            <a:spLocks xmlns:a="http://schemas.openxmlformats.org/drawingml/2006/main" noGrp="1"/>
          </p:cNvSpPr>
          <p:nvPr/>
        </p:nvSpPr>
        <p:spPr>
          <a:xfrm xmlns:a="http://schemas.openxmlformats.org/drawingml/2006/main">
            <a:off x="609600" y="552450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13D"/>
                </a:solidFill>
                <a:latin typeface="Arial"/>
                <a:ea typeface="Arial"/>
                <a:cs typeface="Arial"/>
              </a:defRPr>
            </a:defPPr>
            <a:lvl1pPr>
              <a:defRPr sz="2250" b="1">
                <a:solidFill>
                  <a:srgbClr val="17313D"/>
                </a:solidFill>
                <a:latin typeface="Arial"/>
                <a:ea typeface="Arial"/>
                <a:cs typeface="Arial"/>
              </a:defRPr>
            </a:lvl1pPr>
            <a:lvl2pPr>
              <a:defRPr sz="2250" b="1">
                <a:solidFill>
                  <a:srgbClr val="17313D"/>
                </a:solidFill>
                <a:latin typeface="Arial"/>
                <a:ea typeface="Arial"/>
                <a:cs typeface="Arial"/>
              </a:defRPr>
            </a:lvl2pPr>
            <a:lvl3pPr>
              <a:defRPr sz="2250" b="1">
                <a:solidFill>
                  <a:srgbClr val="17313D"/>
                </a:solidFill>
                <a:latin typeface="Arial"/>
                <a:ea typeface="Arial"/>
                <a:cs typeface="Arial"/>
              </a:defRPr>
            </a:lvl3pPr>
            <a:lvl4pPr>
              <a:defRPr sz="2250" b="1">
                <a:solidFill>
                  <a:srgbClr val="17313D"/>
                </a:solidFill>
                <a:latin typeface="Arial"/>
                <a:ea typeface="Arial"/>
                <a:cs typeface="Arial"/>
              </a:defRPr>
            </a:lvl4pPr>
            <a:lvl5pPr>
              <a:defRPr sz="2250" b="1">
                <a:solidFill>
                  <a:srgbClr val="17313D"/>
                </a:solidFill>
                <a:latin typeface="Arial"/>
                <a:ea typeface="Arial"/>
                <a:cs typeface="Arial"/>
              </a:defRPr>
            </a:lvl5pPr>
            <a:lvl6pPr>
              <a:defRPr sz="2250" b="1">
                <a:solidFill>
                  <a:srgbClr val="17313D"/>
                </a:solidFill>
                <a:latin typeface="Arial"/>
                <a:ea typeface="Arial"/>
                <a:cs typeface="Arial"/>
              </a:defRPr>
            </a:lvl6pPr>
            <a:lvl7pPr>
              <a:defRPr sz="2250" b="1">
                <a:solidFill>
                  <a:srgbClr val="17313D"/>
                </a:solidFill>
                <a:latin typeface="Arial"/>
                <a:ea typeface="Arial"/>
                <a:cs typeface="Arial"/>
              </a:defRPr>
            </a:lvl7pPr>
            <a:lvl8pPr>
              <a:defRPr sz="2250" b="1">
                <a:solidFill>
                  <a:srgbClr val="17313D"/>
                </a:solidFill>
                <a:latin typeface="Arial"/>
                <a:ea typeface="Arial"/>
                <a:cs typeface="Arial"/>
              </a:defRPr>
            </a:lvl8pPr>
            <a:lvl9pPr>
              <a:defRPr sz="2250" b="1">
                <a:solidFill>
                  <a:srgbClr val="17313D"/>
                </a:solidFill>
                <a:latin typeface="Arial"/>
                <a:ea typeface="Arial"/>
                <a:cs typeface="Arial"/>
              </a:defRPr>
            </a:lvl9pPr>
          </a:lstStyle>
          <a:p xmlns:a="http://schemas.openxmlformats.org/drawingml/2006/main">
            <a:pPr>
              <a:defRPr sz="2250" b="1">
                <a:solidFill>
                  <a:srgbClr val="17313D"/>
                </a:solidFill>
                <a:latin typeface="Arial"/>
                <a:ea typeface="Arial"/>
                <a:cs typeface="Arial"/>
              </a:defRPr>
            </a:pPr>
            <a:r>
              <a:rPr sz="2250" b="1">
                <a:solidFill>
                  <a:srgbClr val="17313D"/>
                </a:solidFill>
                <a:latin typeface="Arial"/>
                <a:ea typeface="Arial"/>
                <a:cs typeface="Arial"/>
              </a:rPr>
              <a:t>Standard masks change content distribution as well as position.</a:t>
            </a:r>
          </a:p>
        </p:txBody>
      </p:sp>
      <p:sp>
        <p:nvSpPr>
          <p:cNvPr id="6" name="">
            <a:extLst xmlns:a="http://schemas.openxmlformats.org/drawingml/2006/main">
              <a:ext uri="{FF2B5EF4-FFF2-40B4-BE49-F238E27FC236}">
                <a16:creationId xmlns:a16="http://schemas.microsoft.com/office/drawing/2014/main" id="{5A1F1D26-E3A6-44F5-B90B-6ED0C1F61E55}"/>
              </a:ext>
            </a:extLst>
          </p:cNvPr>
          <p:cNvSpPr>
            <a:spLocks xmlns:a="http://schemas.openxmlformats.org/drawingml/2006/main" noGrp="1"/>
          </p:cNvSpPr>
          <p:nvPr/>
        </p:nvSpPr>
        <p:spPr>
          <a:xfrm xmlns:a="http://schemas.openxmlformats.org/drawingml/2006/main">
            <a:off x="609600" y="6067425"/>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Foreground coverage does not quantify how much of the score gap it explains.</a:t>
            </a:r>
          </a:p>
        </p:txBody>
      </p:sp>
    </p:spTree>
    <p:extLst>
      <p:ext uri="{BB962C8B-B14F-4D97-AF65-F5344CB8AC3E}">
        <p14:creationId xmlns:p14="http://schemas.microsoft.com/office/powerpoint/2010/main" val="10164823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0FEA71-6DA4-4D88-A6A4-FA62EEBB9D9F}"/>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Same-image diagnostics fix occluder area and shape</a:t>
            </a:r>
          </a:p>
        </p:txBody>
      </p:sp>
      <p:sp>
        <p:nvSpPr>
          <p:cNvPr id="2" name="">
            <a:extLst xmlns:a="http://schemas.openxmlformats.org/drawingml/2006/main">
              <a:ext uri="{FF2B5EF4-FFF2-40B4-BE49-F238E27FC236}">
                <a16:creationId xmlns:a16="http://schemas.microsoft.com/office/drawing/2014/main" id="{AFA6B53B-FF68-4BD7-8E3C-EDA827FB1826}"/>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ECF5BD98-3B1A-4174-A182-11EC1210756A}"/>
              </a:ext>
            </a:extLst>
          </p:cNvPr>
          <p:cNvSpPr>
            <a:spLocks xmlns:a="http://schemas.openxmlformats.org/drawingml/2006/main" noGrp="1"/>
          </p:cNvSpPr>
          <p:nvPr/>
        </p:nvSpPr>
        <p:spPr>
          <a:xfrm xmlns:a="http://schemas.openxmlformats.org/drawingml/2006/main">
            <a:off x="609600" y="15716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Arial"/>
                <a:ea typeface="Arial"/>
                <a:cs typeface="Arial"/>
              </a:defRPr>
            </a:defPPr>
            <a:lvl1pPr>
              <a:defRPr sz="2175" b="1">
                <a:solidFill>
                  <a:srgbClr val="007F7B"/>
                </a:solidFill>
                <a:latin typeface="Arial"/>
                <a:ea typeface="Arial"/>
                <a:cs typeface="Arial"/>
              </a:defRPr>
            </a:lvl1pPr>
            <a:lvl2pPr>
              <a:defRPr sz="2175" b="1">
                <a:solidFill>
                  <a:srgbClr val="007F7B"/>
                </a:solidFill>
                <a:latin typeface="Arial"/>
                <a:ea typeface="Arial"/>
                <a:cs typeface="Arial"/>
              </a:defRPr>
            </a:lvl2pPr>
            <a:lvl3pPr>
              <a:defRPr sz="2175" b="1">
                <a:solidFill>
                  <a:srgbClr val="007F7B"/>
                </a:solidFill>
                <a:latin typeface="Arial"/>
                <a:ea typeface="Arial"/>
                <a:cs typeface="Arial"/>
              </a:defRPr>
            </a:lvl3pPr>
            <a:lvl4pPr>
              <a:defRPr sz="2175" b="1">
                <a:solidFill>
                  <a:srgbClr val="007F7B"/>
                </a:solidFill>
                <a:latin typeface="Arial"/>
                <a:ea typeface="Arial"/>
                <a:cs typeface="Arial"/>
              </a:defRPr>
            </a:lvl4pPr>
            <a:lvl5pPr>
              <a:defRPr sz="2175" b="1">
                <a:solidFill>
                  <a:srgbClr val="007F7B"/>
                </a:solidFill>
                <a:latin typeface="Arial"/>
                <a:ea typeface="Arial"/>
                <a:cs typeface="Arial"/>
              </a:defRPr>
            </a:lvl5pPr>
            <a:lvl6pPr>
              <a:defRPr sz="2175" b="1">
                <a:solidFill>
                  <a:srgbClr val="007F7B"/>
                </a:solidFill>
                <a:latin typeface="Arial"/>
                <a:ea typeface="Arial"/>
                <a:cs typeface="Arial"/>
              </a:defRPr>
            </a:lvl6pPr>
            <a:lvl7pPr>
              <a:defRPr sz="2175" b="1">
                <a:solidFill>
                  <a:srgbClr val="007F7B"/>
                </a:solidFill>
                <a:latin typeface="Arial"/>
                <a:ea typeface="Arial"/>
                <a:cs typeface="Arial"/>
              </a:defRPr>
            </a:lvl7pPr>
            <a:lvl8pPr>
              <a:defRPr sz="2175" b="1">
                <a:solidFill>
                  <a:srgbClr val="007F7B"/>
                </a:solidFill>
                <a:latin typeface="Arial"/>
                <a:ea typeface="Arial"/>
                <a:cs typeface="Arial"/>
              </a:defRPr>
            </a:lvl8pPr>
            <a:lvl9pPr>
              <a:defRPr sz="2175" b="1">
                <a:solidFill>
                  <a:srgbClr val="007F7B"/>
                </a:solidFill>
                <a:latin typeface="Arial"/>
                <a:ea typeface="Arial"/>
                <a:cs typeface="Arial"/>
              </a:defRPr>
            </a:lvl9pPr>
          </a:lstStyle>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These squares hide 25% of the image, leaving 75% visible.</a:t>
            </a:r>
          </a:p>
        </p:txBody>
      </p:sp>
      <p:sp>
        <p:nvSpPr>
          <p:cNvPr id="4" name="">
            <a:extLst xmlns:a="http://schemas.openxmlformats.org/drawingml/2006/main">
              <a:ext uri="{FF2B5EF4-FFF2-40B4-BE49-F238E27FC236}">
                <a16:creationId xmlns:a16="http://schemas.microsoft.com/office/drawing/2014/main" id="{F9B61AFD-AA34-41E6-BCC1-681C20D49DA7}"/>
              </a:ext>
            </a:extLst>
          </p:cNvPr>
          <p:cNvSpPr>
            <a:spLocks xmlns:a="http://schemas.openxmlformats.org/drawingml/2006/main" noGrp="1"/>
          </p:cNvSpPr>
          <p:nvPr/>
        </p:nvSpPr>
        <p:spPr>
          <a:xfrm xmlns:a="http://schemas.openxmlformats.org/drawingml/2006/main">
            <a:off x="609600" y="2133600"/>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13D"/>
                </a:solidFill>
                <a:latin typeface="Arial"/>
                <a:ea typeface="Arial"/>
                <a:cs typeface="Arial"/>
              </a:defRPr>
            </a:defPPr>
            <a:lvl1pPr>
              <a:defRPr sz="2025" b="0">
                <a:solidFill>
                  <a:srgbClr val="17313D"/>
                </a:solidFill>
                <a:latin typeface="Arial"/>
                <a:ea typeface="Arial"/>
                <a:cs typeface="Arial"/>
              </a:defRPr>
            </a:lvl1pPr>
            <a:lvl2pPr>
              <a:defRPr sz="2025" b="0">
                <a:solidFill>
                  <a:srgbClr val="17313D"/>
                </a:solidFill>
                <a:latin typeface="Arial"/>
                <a:ea typeface="Arial"/>
                <a:cs typeface="Arial"/>
              </a:defRPr>
            </a:lvl2pPr>
            <a:lvl3pPr>
              <a:defRPr sz="2025" b="0">
                <a:solidFill>
                  <a:srgbClr val="17313D"/>
                </a:solidFill>
                <a:latin typeface="Arial"/>
                <a:ea typeface="Arial"/>
                <a:cs typeface="Arial"/>
              </a:defRPr>
            </a:lvl3pPr>
            <a:lvl4pPr>
              <a:defRPr sz="2025" b="0">
                <a:solidFill>
                  <a:srgbClr val="17313D"/>
                </a:solidFill>
                <a:latin typeface="Arial"/>
                <a:ea typeface="Arial"/>
                <a:cs typeface="Arial"/>
              </a:defRPr>
            </a:lvl4pPr>
            <a:lvl5pPr>
              <a:defRPr sz="2025" b="0">
                <a:solidFill>
                  <a:srgbClr val="17313D"/>
                </a:solidFill>
                <a:latin typeface="Arial"/>
                <a:ea typeface="Arial"/>
                <a:cs typeface="Arial"/>
              </a:defRPr>
            </a:lvl5pPr>
            <a:lvl6pPr>
              <a:defRPr sz="2025" b="0">
                <a:solidFill>
                  <a:srgbClr val="17313D"/>
                </a:solidFill>
                <a:latin typeface="Arial"/>
                <a:ea typeface="Arial"/>
                <a:cs typeface="Arial"/>
              </a:defRPr>
            </a:lvl6pPr>
            <a:lvl7pPr>
              <a:defRPr sz="2025" b="0">
                <a:solidFill>
                  <a:srgbClr val="17313D"/>
                </a:solidFill>
                <a:latin typeface="Arial"/>
                <a:ea typeface="Arial"/>
                <a:cs typeface="Arial"/>
              </a:defRPr>
            </a:lvl7pPr>
            <a:lvl8pPr>
              <a:defRPr sz="2025" b="0">
                <a:solidFill>
                  <a:srgbClr val="17313D"/>
                </a:solidFill>
                <a:latin typeface="Arial"/>
                <a:ea typeface="Arial"/>
                <a:cs typeface="Arial"/>
              </a:defRPr>
            </a:lvl8pPr>
            <a:lvl9pPr>
              <a:defRPr sz="2025" b="0">
                <a:solidFill>
                  <a:srgbClr val="17313D"/>
                </a:solidFill>
                <a:latin typeface="Arial"/>
                <a:ea typeface="Arial"/>
                <a:cs typeface="Arial"/>
              </a:defRPr>
            </a:lvl9pPr>
          </a:lstStyle>
          <a:p xmlns:a="http://schemas.openxmlformats.org/drawingml/2006/main">
            <a:pPr>
              <a:defRPr sz="2025" b="0">
                <a:solidFill>
                  <a:srgbClr val="17313D"/>
                </a:solidFill>
                <a:latin typeface="Arial"/>
                <a:ea typeface="Arial"/>
                <a:cs typeface="Arial"/>
              </a:defRPr>
            </a:pPr>
            <a:r>
              <a:rPr sz="2025" b="0">
                <a:solidFill>
                  <a:srgbClr val="17313D"/>
                </a:solidFill>
                <a:latin typeface="Arial"/>
                <a:ea typeface="Arial"/>
                <a:cs typeface="Arial"/>
              </a:rPr>
              <a:t>Foreground contrast: most versus least retained foreground.</a:t>
            </a:r>
          </a:p>
          <a:p xmlns:a="http://schemas.openxmlformats.org/drawingml/2006/main">
            <a:pPr>
              <a:defRPr sz="2025" b="0">
                <a:solidFill>
                  <a:srgbClr val="17313D"/>
                </a:solidFill>
                <a:latin typeface="Arial"/>
                <a:ea typeface="Arial"/>
                <a:cs typeface="Arial"/>
              </a:defRPr>
            </a:pPr>
            <a:r>
              <a:rPr sz="2025" b="0">
                <a:solidFill>
                  <a:srgbClr val="17313D"/>
                </a:solidFill>
                <a:latin typeface="Arial"/>
                <a:ea typeface="Arial"/>
                <a:cs typeface="Arial"/>
              </a:rPr>
              <a:t>Foreground-matched: gap &lt;= 3 pp, separated occluder locations.</a:t>
            </a:r>
          </a:p>
        </p:txBody>
      </p:sp>
      <p:graphicFrame>
        <p:nvGraphicFramePr>
          <p:cNvPr id="5" name="">
            <a:extLst xmlns:a="http://schemas.openxmlformats.org/drawingml/2006/main">
              <a:ext uri="{FF2B5EF4-FFF2-40B4-BE49-F238E27FC236}">
                <a16:creationId xmlns:a16="http://schemas.microsoft.com/office/drawing/2014/main" id="{9861A3E0-6698-4D55-AE53-1933A21123B3}"/>
              </a:ext>
            </a:extLst>
          </p:cNvPr>
          <p:cNvGraphicFramePr/>
          <p:nvPr/>
        </p:nvGraphicFramePr>
        <p:xfrm>
          <a:off xmlns:a="http://schemas.openxmlformats.org/drawingml/2006/main" x="609600" y="3181350"/>
          <a:ext xmlns:a="http://schemas.openxmlformats.org/drawingml/2006/main" cx="10972800" cy="1628775"/>
        </p:xfrm>
        <a:graphic xmlns:a="http://schemas.openxmlformats.org/drawingml/2006/main">
          <a:graphicData uri="http://schemas.openxmlformats.org/drawingml/2006/table">
            <a:tbl>
              <a:tblPr/>
              <a:tblGrid>
                <a:gridCol w="2762250"/>
                <a:gridCol w="2190750"/>
                <a:gridCol w="2190750"/>
                <a:gridCol w="3829050"/>
              </a:tblGrid>
              <a:tr h="542925">
                <a:tc>
                  <a:txBody>
                    <a:bodyPr/>
                    <a:lstStyle/>
                    <a:p>
                      <a:r>
                        <a:rPr sz="1800" b="1">
                          <a:solidFill>
                            <a:srgbClr val="007F7B"/>
                          </a:solidFill>
                          <a:latin typeface="Arial"/>
                          <a:ea typeface="Arial"/>
                          <a:cs typeface="Arial"/>
                        </a:rPr>
                        <a:t>Gray fill, n = 740</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800" b="1">
                          <a:solidFill>
                            <a:srgbClr val="007F7B"/>
                          </a:solidFill>
                          <a:latin typeface="Arial"/>
                          <a:ea typeface="Arial"/>
                          <a:cs typeface="Arial"/>
                        </a:rPr>
                        <a:t>More foreground</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800" b="1">
                          <a:solidFill>
                            <a:srgbClr val="007F7B"/>
                          </a:solidFill>
                          <a:latin typeface="Arial"/>
                          <a:ea typeface="Arial"/>
                          <a:cs typeface="Arial"/>
                        </a:rPr>
                        <a:t>Less foreground</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800" b="1">
                          <a:solidFill>
                            <a:srgbClr val="007F7B"/>
                          </a:solidFill>
                          <a:latin typeface="Arial"/>
                          <a:ea typeface="Arial"/>
                          <a:cs typeface="Arial"/>
                        </a:rPr>
                        <a:t>Paired gap, pp [95% CI]</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542925">
                <a:tc>
                  <a:txBody>
                    <a:bodyPr/>
                    <a:lstStyle/>
                    <a:p>
                      <a:r>
                        <a:rPr sz="1800" b="0">
                          <a:solidFill>
                            <a:srgbClr val="17313D"/>
                          </a:solidFill>
                          <a:latin typeface="Arial"/>
                          <a:ea typeface="Arial"/>
                          <a:cs typeface="Arial"/>
                        </a:rPr>
                        <a:t>AIMv2</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92.8%</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67.2%</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25.7 [22.7, 28.8]</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42925">
                <a:tc>
                  <a:txBody>
                    <a:bodyPr/>
                    <a:lstStyle/>
                    <a:p>
                      <a:r>
                        <a:rPr sz="1800" b="0">
                          <a:solidFill>
                            <a:srgbClr val="17313D"/>
                          </a:solidFill>
                          <a:latin typeface="Arial"/>
                          <a:ea typeface="Arial"/>
                          <a:cs typeface="Arial"/>
                        </a:rPr>
                        <a:t>DINOv2</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82.6%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67.2%</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800" b="0">
                          <a:solidFill>
                            <a:srgbClr val="17313D"/>
                          </a:solidFill>
                          <a:latin typeface="Arial"/>
                          <a:ea typeface="Arial"/>
                          <a:cs typeface="Arial"/>
                        </a:rPr>
                        <a:t>15.4 [12.6, 18.2]</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A9BEE6E-DA5C-4AC9-A661-87341AC3E750}"/>
              </a:ext>
            </a:extLst>
          </p:cNvPr>
          <p:cNvSpPr>
            <a:spLocks xmlns:a="http://schemas.openxmlformats.org/drawingml/2006/main" noGrp="1"/>
          </p:cNvSpPr>
          <p:nvPr/>
        </p:nvSpPr>
        <p:spPr>
          <a:xfrm xmlns:a="http://schemas.openxmlformats.org/drawingml/2006/main">
            <a:off x="609600" y="5162550"/>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Arial"/>
                <a:ea typeface="Arial"/>
                <a:cs typeface="Arial"/>
              </a:defRPr>
            </a:defPPr>
            <a:lvl1pPr>
              <a:defRPr sz="2100" b="1">
                <a:solidFill>
                  <a:srgbClr val="007F7B"/>
                </a:solidFill>
                <a:latin typeface="Arial"/>
                <a:ea typeface="Arial"/>
                <a:cs typeface="Arial"/>
              </a:defRPr>
            </a:lvl1pPr>
            <a:lvl2pPr>
              <a:defRPr sz="2100" b="1">
                <a:solidFill>
                  <a:srgbClr val="007F7B"/>
                </a:solidFill>
                <a:latin typeface="Arial"/>
                <a:ea typeface="Arial"/>
                <a:cs typeface="Arial"/>
              </a:defRPr>
            </a:lvl2pPr>
            <a:lvl3pPr>
              <a:defRPr sz="2100" b="1">
                <a:solidFill>
                  <a:srgbClr val="007F7B"/>
                </a:solidFill>
                <a:latin typeface="Arial"/>
                <a:ea typeface="Arial"/>
                <a:cs typeface="Arial"/>
              </a:defRPr>
            </a:lvl3pPr>
            <a:lvl4pPr>
              <a:defRPr sz="2100" b="1">
                <a:solidFill>
                  <a:srgbClr val="007F7B"/>
                </a:solidFill>
                <a:latin typeface="Arial"/>
                <a:ea typeface="Arial"/>
                <a:cs typeface="Arial"/>
              </a:defRPr>
            </a:lvl4pPr>
            <a:lvl5pPr>
              <a:defRPr sz="2100" b="1">
                <a:solidFill>
                  <a:srgbClr val="007F7B"/>
                </a:solidFill>
                <a:latin typeface="Arial"/>
                <a:ea typeface="Arial"/>
                <a:cs typeface="Arial"/>
              </a:defRPr>
            </a:lvl5pPr>
            <a:lvl6pPr>
              <a:defRPr sz="2100" b="1">
                <a:solidFill>
                  <a:srgbClr val="007F7B"/>
                </a:solidFill>
                <a:latin typeface="Arial"/>
                <a:ea typeface="Arial"/>
                <a:cs typeface="Arial"/>
              </a:defRPr>
            </a:lvl6pPr>
            <a:lvl7pPr>
              <a:defRPr sz="2100" b="1">
                <a:solidFill>
                  <a:srgbClr val="007F7B"/>
                </a:solidFill>
                <a:latin typeface="Arial"/>
                <a:ea typeface="Arial"/>
                <a:cs typeface="Arial"/>
              </a:defRPr>
            </a:lvl7pPr>
            <a:lvl8pPr>
              <a:defRPr sz="2100" b="1">
                <a:solidFill>
                  <a:srgbClr val="007F7B"/>
                </a:solidFill>
                <a:latin typeface="Arial"/>
                <a:ea typeface="Arial"/>
                <a:cs typeface="Arial"/>
              </a:defRPr>
            </a:lvl8pPr>
            <a:lvl9pPr>
              <a:defRPr sz="2100" b="1">
                <a:solidFill>
                  <a:srgbClr val="007F7B"/>
                </a:solidFill>
                <a:latin typeface="Arial"/>
                <a:ea typeface="Arial"/>
                <a:cs typeface="Arial"/>
              </a:defRPr>
            </a:lvl9pPr>
          </a:lstStyle>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Foreground-matched pairs: correct / wrong flips</a:t>
            </a:r>
          </a:p>
        </p:txBody>
      </p:sp>
      <p:sp>
        <p:nvSpPr>
          <p:cNvPr id="7" name="">
            <a:extLst xmlns:a="http://schemas.openxmlformats.org/drawingml/2006/main">
              <a:ext uri="{FF2B5EF4-FFF2-40B4-BE49-F238E27FC236}">
                <a16:creationId xmlns:a16="http://schemas.microsoft.com/office/drawing/2014/main" id="{B08ED24A-7B78-4182-A920-995E650F02C0}"/>
              </a:ext>
            </a:extLst>
          </p:cNvPr>
          <p:cNvSpPr>
            <a:spLocks xmlns:a="http://schemas.openxmlformats.org/drawingml/2006/main" noGrp="1"/>
          </p:cNvSpPr>
          <p:nvPr/>
        </p:nvSpPr>
        <p:spPr>
          <a:xfrm xmlns:a="http://schemas.openxmlformats.org/drawingml/2006/main">
            <a:off x="609600" y="570547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313D"/>
                </a:solidFill>
                <a:latin typeface="Arial"/>
                <a:ea typeface="Arial"/>
                <a:cs typeface="Arial"/>
              </a:defRPr>
            </a:defPPr>
            <a:lvl1pPr>
              <a:defRPr sz="1950" b="0">
                <a:solidFill>
                  <a:srgbClr val="17313D"/>
                </a:solidFill>
                <a:latin typeface="Arial"/>
                <a:ea typeface="Arial"/>
                <a:cs typeface="Arial"/>
              </a:defRPr>
            </a:lvl1pPr>
            <a:lvl2pPr>
              <a:defRPr sz="1950" b="0">
                <a:solidFill>
                  <a:srgbClr val="17313D"/>
                </a:solidFill>
                <a:latin typeface="Arial"/>
                <a:ea typeface="Arial"/>
                <a:cs typeface="Arial"/>
              </a:defRPr>
            </a:lvl2pPr>
            <a:lvl3pPr>
              <a:defRPr sz="1950" b="0">
                <a:solidFill>
                  <a:srgbClr val="17313D"/>
                </a:solidFill>
                <a:latin typeface="Arial"/>
                <a:ea typeface="Arial"/>
                <a:cs typeface="Arial"/>
              </a:defRPr>
            </a:lvl3pPr>
            <a:lvl4pPr>
              <a:defRPr sz="1950" b="0">
                <a:solidFill>
                  <a:srgbClr val="17313D"/>
                </a:solidFill>
                <a:latin typeface="Arial"/>
                <a:ea typeface="Arial"/>
                <a:cs typeface="Arial"/>
              </a:defRPr>
            </a:lvl4pPr>
            <a:lvl5pPr>
              <a:defRPr sz="1950" b="0">
                <a:solidFill>
                  <a:srgbClr val="17313D"/>
                </a:solidFill>
                <a:latin typeface="Arial"/>
                <a:ea typeface="Arial"/>
                <a:cs typeface="Arial"/>
              </a:defRPr>
            </a:lvl5pPr>
            <a:lvl6pPr>
              <a:defRPr sz="1950" b="0">
                <a:solidFill>
                  <a:srgbClr val="17313D"/>
                </a:solidFill>
                <a:latin typeface="Arial"/>
                <a:ea typeface="Arial"/>
                <a:cs typeface="Arial"/>
              </a:defRPr>
            </a:lvl6pPr>
            <a:lvl7pPr>
              <a:defRPr sz="1950" b="0">
                <a:solidFill>
                  <a:srgbClr val="17313D"/>
                </a:solidFill>
                <a:latin typeface="Arial"/>
                <a:ea typeface="Arial"/>
                <a:cs typeface="Arial"/>
              </a:defRPr>
            </a:lvl7pPr>
            <a:lvl8pPr>
              <a:defRPr sz="1950" b="0">
                <a:solidFill>
                  <a:srgbClr val="17313D"/>
                </a:solidFill>
                <a:latin typeface="Arial"/>
                <a:ea typeface="Arial"/>
                <a:cs typeface="Arial"/>
              </a:defRPr>
            </a:lvl8pPr>
            <a:lvl9pPr>
              <a:defRPr sz="1950" b="0">
                <a:solidFill>
                  <a:srgbClr val="17313D"/>
                </a:solidFill>
                <a:latin typeface="Arial"/>
                <a:ea typeface="Arial"/>
                <a:cs typeface="Arial"/>
              </a:defRPr>
            </a:lvl9pPr>
          </a:lstStyle>
          <a:p xmlns:a="http://schemas.openxmlformats.org/drawingml/2006/main">
            <a:pPr>
              <a:defRPr sz="1950" b="0">
                <a:solidFill>
                  <a:srgbClr val="17313D"/>
                </a:solidFill>
                <a:latin typeface="Arial"/>
                <a:ea typeface="Arial"/>
                <a:cs typeface="Arial"/>
              </a:defRPr>
            </a:pPr>
            <a:r>
              <a:rPr sz="1950" b="0">
                <a:solidFill>
                  <a:srgbClr val="17313D"/>
                </a:solidFill>
                <a:latin typeface="Arial"/>
                <a:ea typeface="Arial"/>
                <a:cs typeface="Arial"/>
              </a:rPr>
              <a:t>AIMv2 10.7% / DINOv2 8.5%. Lower flips alone do not mean higher robustness.</a:t>
            </a:r>
          </a:p>
        </p:txBody>
      </p:sp>
    </p:spTree>
    <p:extLst>
      <p:ext uri="{BB962C8B-B14F-4D97-AF65-F5344CB8AC3E}">
        <p14:creationId xmlns:p14="http://schemas.microsoft.com/office/powerpoint/2010/main" val="6931245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76AF007-3F82-4DE2-B830-5F24571BA383}"/>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Similar foreground area can retain different parts</a:t>
            </a:r>
          </a:p>
        </p:txBody>
      </p:sp>
      <p:sp>
        <p:nvSpPr>
          <p:cNvPr id="2" name="">
            <a:extLst xmlns:a="http://schemas.openxmlformats.org/drawingml/2006/main">
              <a:ext uri="{FF2B5EF4-FFF2-40B4-BE49-F238E27FC236}">
                <a16:creationId xmlns:a16="http://schemas.microsoft.com/office/drawing/2014/main" id="{05F12008-7A30-419D-AF90-5479EBCD75D4}"/>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7A6A7739-D5E2-4A30-A6B0-2D8B7A58CFD5}"/>
              </a:ext>
            </a:extLst>
          </p:cNvPr>
          <p:cNvSpPr>
            <a:spLocks xmlns:a="http://schemas.openxmlformats.org/drawingml/2006/main" noGrp="1"/>
          </p:cNvSpPr>
          <p:nvPr/>
        </p:nvSpPr>
        <p:spPr>
          <a:xfrm xmlns:a="http://schemas.openxmlformats.org/drawingml/2006/main">
            <a:off x="609600" y="14954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16A"/>
                </a:solidFill>
                <a:latin typeface="Arial"/>
                <a:ea typeface="Arial"/>
                <a:cs typeface="Arial"/>
              </a:defRPr>
            </a:defPPr>
            <a:lvl1pPr>
              <a:defRPr sz="1875" b="0">
                <a:solidFill>
                  <a:srgbClr val="52616A"/>
                </a:solidFill>
                <a:latin typeface="Arial"/>
                <a:ea typeface="Arial"/>
                <a:cs typeface="Arial"/>
              </a:defRPr>
            </a:lvl1pPr>
            <a:lvl2pPr>
              <a:defRPr sz="1875" b="0">
                <a:solidFill>
                  <a:srgbClr val="52616A"/>
                </a:solidFill>
                <a:latin typeface="Arial"/>
                <a:ea typeface="Arial"/>
                <a:cs typeface="Arial"/>
              </a:defRPr>
            </a:lvl2pPr>
            <a:lvl3pPr>
              <a:defRPr sz="1875" b="0">
                <a:solidFill>
                  <a:srgbClr val="52616A"/>
                </a:solidFill>
                <a:latin typeface="Arial"/>
                <a:ea typeface="Arial"/>
                <a:cs typeface="Arial"/>
              </a:defRPr>
            </a:lvl3pPr>
            <a:lvl4pPr>
              <a:defRPr sz="1875" b="0">
                <a:solidFill>
                  <a:srgbClr val="52616A"/>
                </a:solidFill>
                <a:latin typeface="Arial"/>
                <a:ea typeface="Arial"/>
                <a:cs typeface="Arial"/>
              </a:defRPr>
            </a:lvl4pPr>
            <a:lvl5pPr>
              <a:defRPr sz="1875" b="0">
                <a:solidFill>
                  <a:srgbClr val="52616A"/>
                </a:solidFill>
                <a:latin typeface="Arial"/>
                <a:ea typeface="Arial"/>
                <a:cs typeface="Arial"/>
              </a:defRPr>
            </a:lvl5pPr>
            <a:lvl6pPr>
              <a:defRPr sz="1875" b="0">
                <a:solidFill>
                  <a:srgbClr val="52616A"/>
                </a:solidFill>
                <a:latin typeface="Arial"/>
                <a:ea typeface="Arial"/>
                <a:cs typeface="Arial"/>
              </a:defRPr>
            </a:lvl6pPr>
            <a:lvl7pPr>
              <a:defRPr sz="1875" b="0">
                <a:solidFill>
                  <a:srgbClr val="52616A"/>
                </a:solidFill>
                <a:latin typeface="Arial"/>
                <a:ea typeface="Arial"/>
                <a:cs typeface="Arial"/>
              </a:defRPr>
            </a:lvl7pPr>
            <a:lvl8pPr>
              <a:defRPr sz="1875" b="0">
                <a:solidFill>
                  <a:srgbClr val="52616A"/>
                </a:solidFill>
                <a:latin typeface="Arial"/>
                <a:ea typeface="Arial"/>
                <a:cs typeface="Arial"/>
              </a:defRPr>
            </a:lvl8pPr>
            <a:lvl9pPr>
              <a:defRPr sz="1875" b="0">
                <a:solidFill>
                  <a:srgbClr val="52616A"/>
                </a:solidFill>
                <a:latin typeface="Arial"/>
                <a:ea typeface="Arial"/>
                <a:cs typeface="Arial"/>
              </a:defRPr>
            </a:lvl9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Auxiliary trainval cohort: 159 / 185 images meet fixed pairing rules</a:t>
            </a:r>
          </a:p>
        </p:txBody>
      </p:sp>
      <p:sp>
        <p:nvSpPr>
          <p:cNvPr id="4" name="">
            <a:extLst xmlns:a="http://schemas.openxmlformats.org/drawingml/2006/main">
              <a:ext uri="{FF2B5EF4-FFF2-40B4-BE49-F238E27FC236}">
                <a16:creationId xmlns:a16="http://schemas.microsoft.com/office/drawing/2014/main" id="{496E68BC-DCE3-4F6D-A8E8-4C4866668FFA}"/>
              </a:ext>
            </a:extLst>
          </p:cNvPr>
          <p:cNvSpPr>
            <a:spLocks xmlns:a="http://schemas.openxmlformats.org/drawingml/2006/main" noGrp="1"/>
          </p:cNvSpPr>
          <p:nvPr/>
        </p:nvSpPr>
        <p:spPr>
          <a:xfrm xmlns:a="http://schemas.openxmlformats.org/drawingml/2006/main">
            <a:off x="609600" y="2085975"/>
            <a:ext cx="2305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313D"/>
                </a:solidFill>
                <a:latin typeface="Arial"/>
                <a:ea typeface="Arial"/>
                <a:cs typeface="Arial"/>
              </a:defRPr>
            </a:defPPr>
            <a:lvl1pPr>
              <a:defRPr sz="1725" b="1">
                <a:solidFill>
                  <a:srgbClr val="17313D"/>
                </a:solidFill>
                <a:latin typeface="Arial"/>
                <a:ea typeface="Arial"/>
                <a:cs typeface="Arial"/>
              </a:defRPr>
            </a:lvl1pPr>
            <a:lvl2pPr>
              <a:defRPr sz="1725" b="1">
                <a:solidFill>
                  <a:srgbClr val="17313D"/>
                </a:solidFill>
                <a:latin typeface="Arial"/>
                <a:ea typeface="Arial"/>
                <a:cs typeface="Arial"/>
              </a:defRPr>
            </a:lvl2pPr>
            <a:lvl3pPr>
              <a:defRPr sz="1725" b="1">
                <a:solidFill>
                  <a:srgbClr val="17313D"/>
                </a:solidFill>
                <a:latin typeface="Arial"/>
                <a:ea typeface="Arial"/>
                <a:cs typeface="Arial"/>
              </a:defRPr>
            </a:lvl3pPr>
            <a:lvl4pPr>
              <a:defRPr sz="1725" b="1">
                <a:solidFill>
                  <a:srgbClr val="17313D"/>
                </a:solidFill>
                <a:latin typeface="Arial"/>
                <a:ea typeface="Arial"/>
                <a:cs typeface="Arial"/>
              </a:defRPr>
            </a:lvl4pPr>
            <a:lvl5pPr>
              <a:defRPr sz="1725" b="1">
                <a:solidFill>
                  <a:srgbClr val="17313D"/>
                </a:solidFill>
                <a:latin typeface="Arial"/>
                <a:ea typeface="Arial"/>
                <a:cs typeface="Arial"/>
              </a:defRPr>
            </a:lvl5pPr>
            <a:lvl6pPr>
              <a:defRPr sz="1725" b="1">
                <a:solidFill>
                  <a:srgbClr val="17313D"/>
                </a:solidFill>
                <a:latin typeface="Arial"/>
                <a:ea typeface="Arial"/>
                <a:cs typeface="Arial"/>
              </a:defRPr>
            </a:lvl6pPr>
            <a:lvl7pPr>
              <a:defRPr sz="1725" b="1">
                <a:solidFill>
                  <a:srgbClr val="17313D"/>
                </a:solidFill>
                <a:latin typeface="Arial"/>
                <a:ea typeface="Arial"/>
                <a:cs typeface="Arial"/>
              </a:defRPr>
            </a:lvl7pPr>
            <a:lvl8pPr>
              <a:defRPr sz="1725" b="1">
                <a:solidFill>
                  <a:srgbClr val="17313D"/>
                </a:solidFill>
                <a:latin typeface="Arial"/>
                <a:ea typeface="Arial"/>
                <a:cs typeface="Arial"/>
              </a:defRPr>
            </a:lvl8pPr>
            <a:lvl9pPr>
              <a:defRPr sz="1725" b="1">
                <a:solidFill>
                  <a:srgbClr val="17313D"/>
                </a:solidFill>
                <a:latin typeface="Arial"/>
                <a:ea typeface="Arial"/>
                <a:cs typeface="Arial"/>
              </a:defRPr>
            </a:lvl9pPr>
          </a:lstStyle>
          <a:p xmlns:a="http://schemas.openxmlformats.org/drawingml/2006/main">
            <a:pPr>
              <a:defRPr sz="1725" b="1">
                <a:solidFill>
                  <a:srgbClr val="17313D"/>
                </a:solidFill>
                <a:latin typeface="Arial"/>
                <a:ea typeface="Arial"/>
                <a:cs typeface="Arial"/>
              </a:defRPr>
            </a:pPr>
            <a:r>
              <a:rPr sz="1725" b="1">
                <a:solidFill>
                  <a:srgbClr val="17313D"/>
                </a:solidFill>
                <a:latin typeface="Arial"/>
                <a:ea typeface="Arial"/>
                <a:cs typeface="Arial"/>
              </a:rPr>
              <a:t>Higher head visibility</a:t>
            </a:r>
          </a:p>
        </p:txBody>
      </p:sp>
      <p:pic>
        <p:nvPicPr>
          <p:cNvPr id="5" name="">
            <a:extLst xmlns:a="http://schemas.openxmlformats.org/drawingml/2006/main">
              <a:ext uri="{FF2B5EF4-FFF2-40B4-BE49-F238E27FC236}">
                <a16:creationId xmlns:a16="http://schemas.microsoft.com/office/drawing/2014/main" id="{546C6395-2210-40F4-A43E-FDFD25C5F69D}"/>
              </a:ext>
            </a:extLst>
          </p:cNvPr>
          <p:cNvPicPr>
            <a:picLocks xmlns:a="http://schemas.openxmlformats.org/drawingml/2006/main" noChangeAspect="1"/>
          </p:cNvPicPr>
          <p:nvPr/>
        </p:nvPicPr>
        <p:blipFill>
          <a:blip xmlns:r="http://schemas.openxmlformats.org/officeDocument/2006/relationships" xmlns:a="http://schemas.openxmlformats.org/drawingml/2006/main" r:embed="R0c2c89ab488245e7"/>
          <a:srcRect xmlns:a="http://schemas.openxmlformats.org/drawingml/2006/main" l="20500" t="60400" r="60400" b="1100"/>
          <a:stretch xmlns:a="http://schemas.openxmlformats.org/drawingml/2006/main"/>
        </p:blipFill>
        <p:spPr>
          <a:xfrm xmlns:a="http://schemas.openxmlformats.org/drawingml/2006/main">
            <a:off x="609600" y="2590800"/>
            <a:ext cx="2133600" cy="21336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2C60EBF-7780-4C60-BEB3-F326FB38DF57}"/>
              </a:ext>
            </a:extLst>
          </p:cNvPr>
          <p:cNvSpPr>
            <a:spLocks xmlns:a="http://schemas.openxmlformats.org/drawingml/2006/main" noGrp="1"/>
          </p:cNvSpPr>
          <p:nvPr/>
        </p:nvSpPr>
        <p:spPr>
          <a:xfrm xmlns:a="http://schemas.openxmlformats.org/drawingml/2006/main">
            <a:off x="3019425" y="2085975"/>
            <a:ext cx="2305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313D"/>
                </a:solidFill>
                <a:latin typeface="Arial"/>
                <a:ea typeface="Arial"/>
                <a:cs typeface="Arial"/>
              </a:defRPr>
            </a:defPPr>
            <a:lvl1pPr>
              <a:defRPr sz="1725" b="1">
                <a:solidFill>
                  <a:srgbClr val="17313D"/>
                </a:solidFill>
                <a:latin typeface="Arial"/>
                <a:ea typeface="Arial"/>
                <a:cs typeface="Arial"/>
              </a:defRPr>
            </a:lvl1pPr>
            <a:lvl2pPr>
              <a:defRPr sz="1725" b="1">
                <a:solidFill>
                  <a:srgbClr val="17313D"/>
                </a:solidFill>
                <a:latin typeface="Arial"/>
                <a:ea typeface="Arial"/>
                <a:cs typeface="Arial"/>
              </a:defRPr>
            </a:lvl2pPr>
            <a:lvl3pPr>
              <a:defRPr sz="1725" b="1">
                <a:solidFill>
                  <a:srgbClr val="17313D"/>
                </a:solidFill>
                <a:latin typeface="Arial"/>
                <a:ea typeface="Arial"/>
                <a:cs typeface="Arial"/>
              </a:defRPr>
            </a:lvl3pPr>
            <a:lvl4pPr>
              <a:defRPr sz="1725" b="1">
                <a:solidFill>
                  <a:srgbClr val="17313D"/>
                </a:solidFill>
                <a:latin typeface="Arial"/>
                <a:ea typeface="Arial"/>
                <a:cs typeface="Arial"/>
              </a:defRPr>
            </a:lvl4pPr>
            <a:lvl5pPr>
              <a:defRPr sz="1725" b="1">
                <a:solidFill>
                  <a:srgbClr val="17313D"/>
                </a:solidFill>
                <a:latin typeface="Arial"/>
                <a:ea typeface="Arial"/>
                <a:cs typeface="Arial"/>
              </a:defRPr>
            </a:lvl5pPr>
            <a:lvl6pPr>
              <a:defRPr sz="1725" b="1">
                <a:solidFill>
                  <a:srgbClr val="17313D"/>
                </a:solidFill>
                <a:latin typeface="Arial"/>
                <a:ea typeface="Arial"/>
                <a:cs typeface="Arial"/>
              </a:defRPr>
            </a:lvl6pPr>
            <a:lvl7pPr>
              <a:defRPr sz="1725" b="1">
                <a:solidFill>
                  <a:srgbClr val="17313D"/>
                </a:solidFill>
                <a:latin typeface="Arial"/>
                <a:ea typeface="Arial"/>
                <a:cs typeface="Arial"/>
              </a:defRPr>
            </a:lvl7pPr>
            <a:lvl8pPr>
              <a:defRPr sz="1725" b="1">
                <a:solidFill>
                  <a:srgbClr val="17313D"/>
                </a:solidFill>
                <a:latin typeface="Arial"/>
                <a:ea typeface="Arial"/>
                <a:cs typeface="Arial"/>
              </a:defRPr>
            </a:lvl8pPr>
            <a:lvl9pPr>
              <a:defRPr sz="1725" b="1">
                <a:solidFill>
                  <a:srgbClr val="17313D"/>
                </a:solidFill>
                <a:latin typeface="Arial"/>
                <a:ea typeface="Arial"/>
                <a:cs typeface="Arial"/>
              </a:defRPr>
            </a:lvl9pPr>
          </a:lstStyle>
          <a:p xmlns:a="http://schemas.openxmlformats.org/drawingml/2006/main">
            <a:pPr>
              <a:defRPr sz="1725" b="1">
                <a:solidFill>
                  <a:srgbClr val="17313D"/>
                </a:solidFill>
                <a:latin typeface="Arial"/>
                <a:ea typeface="Arial"/>
                <a:cs typeface="Arial"/>
              </a:defRPr>
            </a:pPr>
            <a:r>
              <a:rPr sz="1725" b="1">
                <a:solidFill>
                  <a:srgbClr val="17313D"/>
                </a:solidFill>
                <a:latin typeface="Arial"/>
                <a:ea typeface="Arial"/>
                <a:cs typeface="Arial"/>
              </a:rPr>
              <a:t>Lower head visibility</a:t>
            </a:r>
          </a:p>
        </p:txBody>
      </p:sp>
      <p:pic>
        <p:nvPicPr>
          <p:cNvPr id="7" name="">
            <a:extLst xmlns:a="http://schemas.openxmlformats.org/drawingml/2006/main">
              <a:ext uri="{FF2B5EF4-FFF2-40B4-BE49-F238E27FC236}">
                <a16:creationId xmlns:a16="http://schemas.microsoft.com/office/drawing/2014/main" id="{E41D761C-3926-493A-812C-DCCBEAD6AFD2}"/>
              </a:ext>
            </a:extLst>
          </p:cNvPr>
          <p:cNvPicPr>
            <a:picLocks xmlns:a="http://schemas.openxmlformats.org/drawingml/2006/main" noChangeAspect="1"/>
          </p:cNvPicPr>
          <p:nvPr/>
        </p:nvPicPr>
        <p:blipFill>
          <a:blip xmlns:r="http://schemas.openxmlformats.org/officeDocument/2006/relationships" xmlns:a="http://schemas.openxmlformats.org/drawingml/2006/main" r:embed="Rd94205cabec94d79"/>
          <a:srcRect xmlns:a="http://schemas.openxmlformats.org/drawingml/2006/main" l="40500" t="60400" r="40400" b="1100"/>
          <a:stretch xmlns:a="http://schemas.openxmlformats.org/drawingml/2006/main"/>
        </p:blipFill>
        <p:spPr>
          <a:xfrm xmlns:a="http://schemas.openxmlformats.org/drawingml/2006/main">
            <a:off x="3019425" y="2590800"/>
            <a:ext cx="2133600" cy="2133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FD68FF2-CD74-4048-BBCA-79F962587732}"/>
              </a:ext>
            </a:extLst>
          </p:cNvPr>
          <p:cNvSpPr>
            <a:spLocks xmlns:a="http://schemas.openxmlformats.org/drawingml/2006/main" noGrp="1"/>
          </p:cNvSpPr>
          <p:nvPr/>
        </p:nvSpPr>
        <p:spPr>
          <a:xfrm xmlns:a="http://schemas.openxmlformats.org/drawingml/2006/main">
            <a:off x="609600" y="4924425"/>
            <a:ext cx="4714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16A"/>
                </a:solidFill>
                <a:latin typeface="Arial"/>
                <a:ea typeface="Arial"/>
                <a:cs typeface="Arial"/>
              </a:defRPr>
            </a:defPPr>
            <a:lvl1pPr>
              <a:defRPr sz="1800" b="0">
                <a:solidFill>
                  <a:srgbClr val="52616A"/>
                </a:solidFill>
                <a:latin typeface="Arial"/>
                <a:ea typeface="Arial"/>
                <a:cs typeface="Arial"/>
              </a:defRPr>
            </a:lvl1pPr>
            <a:lvl2pPr>
              <a:defRPr sz="1800" b="0">
                <a:solidFill>
                  <a:srgbClr val="52616A"/>
                </a:solidFill>
                <a:latin typeface="Arial"/>
                <a:ea typeface="Arial"/>
                <a:cs typeface="Arial"/>
              </a:defRPr>
            </a:lvl2pPr>
            <a:lvl3pPr>
              <a:defRPr sz="1800" b="0">
                <a:solidFill>
                  <a:srgbClr val="52616A"/>
                </a:solidFill>
                <a:latin typeface="Arial"/>
                <a:ea typeface="Arial"/>
                <a:cs typeface="Arial"/>
              </a:defRPr>
            </a:lvl3pPr>
            <a:lvl4pPr>
              <a:defRPr sz="1800" b="0">
                <a:solidFill>
                  <a:srgbClr val="52616A"/>
                </a:solidFill>
                <a:latin typeface="Arial"/>
                <a:ea typeface="Arial"/>
                <a:cs typeface="Arial"/>
              </a:defRPr>
            </a:lvl4pPr>
            <a:lvl5pPr>
              <a:defRPr sz="1800" b="0">
                <a:solidFill>
                  <a:srgbClr val="52616A"/>
                </a:solidFill>
                <a:latin typeface="Arial"/>
                <a:ea typeface="Arial"/>
                <a:cs typeface="Arial"/>
              </a:defRPr>
            </a:lvl5pPr>
            <a:lvl6pPr>
              <a:defRPr sz="1800" b="0">
                <a:solidFill>
                  <a:srgbClr val="52616A"/>
                </a:solidFill>
                <a:latin typeface="Arial"/>
                <a:ea typeface="Arial"/>
                <a:cs typeface="Arial"/>
              </a:defRPr>
            </a:lvl6pPr>
            <a:lvl7pPr>
              <a:defRPr sz="1800" b="0">
                <a:solidFill>
                  <a:srgbClr val="52616A"/>
                </a:solidFill>
                <a:latin typeface="Arial"/>
                <a:ea typeface="Arial"/>
                <a:cs typeface="Arial"/>
              </a:defRPr>
            </a:lvl7pPr>
            <a:lvl8pPr>
              <a:defRPr sz="1800" b="0">
                <a:solidFill>
                  <a:srgbClr val="52616A"/>
                </a:solidFill>
                <a:latin typeface="Arial"/>
                <a:ea typeface="Arial"/>
                <a:cs typeface="Arial"/>
              </a:defRPr>
            </a:lvl8pPr>
            <a:lvl9pPr>
              <a:defRPr sz="1800" b="0">
                <a:solidFill>
                  <a:srgbClr val="52616A"/>
                </a:solidFill>
                <a:latin typeface="Arial"/>
                <a:ea typeface="Arial"/>
                <a:cs typeface="Arial"/>
              </a:defRPr>
            </a:lvl9pPr>
          </a:lstStyle>
          <a:p xmlns:a="http://schemas.openxmlformats.org/drawingml/2006/main">
            <a:pPr>
              <a:defRPr sz="1800" b="0">
                <a:solidFill>
                  <a:srgbClr val="52616A"/>
                </a:solidFill>
                <a:latin typeface="Arial"/>
                <a:ea typeface="Arial"/>
                <a:cs typeface="Arial"/>
              </a:defRPr>
            </a:pPr>
            <a:r>
              <a:rPr sz="1800" b="0">
                <a:solidFill>
                  <a:srgbClr val="52616A"/>
                </a:solidFill>
                <a:latin typeface="Arial"/>
                <a:ea typeface="Arial"/>
                <a:cs typeface="Arial"/>
              </a:rPr>
              <a:t>Example pair, same square area</a:t>
            </a:r>
          </a:p>
          <a:p xmlns:a="http://schemas.openxmlformats.org/drawingml/2006/main">
            <a:pPr>
              <a:defRPr sz="1800" b="0">
                <a:solidFill>
                  <a:srgbClr val="52616A"/>
                </a:solidFill>
                <a:latin typeface="Arial"/>
                <a:ea typeface="Arial"/>
                <a:cs typeface="Arial"/>
              </a:defRPr>
            </a:pPr>
            <a:r>
              <a:rPr sz="1800" b="0">
                <a:solidFill>
                  <a:srgbClr val="52616A"/>
                </a:solidFill>
                <a:latin typeface="Arial"/>
                <a:ea typeface="Arial"/>
                <a:cs typeface="Arial"/>
              </a:rPr>
              <a:t>75% image visible</a:t>
            </a:r>
          </a:p>
        </p:txBody>
      </p:sp>
      <p:graphicFrame>
        <p:nvGraphicFramePr>
          <p:cNvPr id="9" name="">
            <a:extLst xmlns:a="http://schemas.openxmlformats.org/drawingml/2006/main">
              <a:ext uri="{FF2B5EF4-FFF2-40B4-BE49-F238E27FC236}">
                <a16:creationId xmlns:a16="http://schemas.microsoft.com/office/drawing/2014/main" id="{7502FD8C-02EB-4E16-AA2B-DB4BACF524B1}"/>
              </a:ext>
            </a:extLst>
          </p:cNvPr>
          <p:cNvGraphicFramePr/>
          <p:nvPr/>
        </p:nvGraphicFramePr>
        <p:xfrm>
          <a:off xmlns:a="http://schemas.openxmlformats.org/drawingml/2006/main" x="5600700" y="2190750"/>
          <a:ext xmlns:a="http://schemas.openxmlformats.org/drawingml/2006/main" cx="5981700" cy="1657350"/>
        </p:xfrm>
        <a:graphic xmlns:a="http://schemas.openxmlformats.org/drawingml/2006/main">
          <a:graphicData uri="http://schemas.openxmlformats.org/drawingml/2006/table">
            <a:tbl>
              <a:tblPr/>
              <a:tblGrid>
                <a:gridCol w="1381125"/>
                <a:gridCol w="1562100"/>
                <a:gridCol w="1562100"/>
                <a:gridCol w="1476375"/>
              </a:tblGrid>
              <a:tr h="552450">
                <a:tc>
                  <a:txBody>
                    <a:bodyPr/>
                    <a:lstStyle/>
                    <a:p>
                      <a:r>
                        <a:rPr sz="1725" b="1">
                          <a:solidFill>
                            <a:srgbClr val="007F7B"/>
                          </a:solidFill>
                          <a:latin typeface="Arial"/>
                          <a:ea typeface="Arial"/>
                          <a:cs typeface="Arial"/>
                        </a:rPr>
                        <a:t>Gray fill</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Higher head</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Lower head</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Gap (pp)</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552450">
                <a:tc>
                  <a:txBody>
                    <a:bodyPr/>
                    <a:lstStyle/>
                    <a:p>
                      <a:r>
                        <a:rPr sz="1725" b="0">
                          <a:solidFill>
                            <a:srgbClr val="17313D"/>
                          </a:solidFill>
                          <a:latin typeface="Arial"/>
                          <a:ea typeface="Arial"/>
                          <a:cs typeface="Arial"/>
                        </a:rPr>
                        <a:t>AIMv2</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92.4%</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73.2%</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19.2</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52450">
                <a:tc>
                  <a:txBody>
                    <a:bodyPr/>
                    <a:lstStyle/>
                    <a:p>
                      <a:r>
                        <a:rPr sz="1725" b="0">
                          <a:solidFill>
                            <a:srgbClr val="17313D"/>
                          </a:solidFill>
                          <a:latin typeface="Arial"/>
                          <a:ea typeface="Arial"/>
                          <a:cs typeface="Arial"/>
                        </a:rPr>
                        <a:t>DINOv2</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82.9%</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72.4%</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10.5</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B1A575A-0F4D-4658-91C8-BE2832FA2A2D}"/>
              </a:ext>
            </a:extLst>
          </p:cNvPr>
          <p:cNvSpPr>
            <a:spLocks xmlns:a="http://schemas.openxmlformats.org/drawingml/2006/main" noGrp="1"/>
          </p:cNvSpPr>
          <p:nvPr/>
        </p:nvSpPr>
        <p:spPr>
          <a:xfrm xmlns:a="http://schemas.openxmlformats.org/drawingml/2006/main">
            <a:off x="5600700" y="4162425"/>
            <a:ext cx="5981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Arial"/>
                <a:ea typeface="Arial"/>
                <a:cs typeface="Arial"/>
              </a:defRPr>
            </a:defPPr>
            <a:lvl1pPr>
              <a:defRPr sz="1950" b="1">
                <a:solidFill>
                  <a:srgbClr val="007F7B"/>
                </a:solidFill>
                <a:latin typeface="Arial"/>
                <a:ea typeface="Arial"/>
                <a:cs typeface="Arial"/>
              </a:defRPr>
            </a:lvl1pPr>
            <a:lvl2pPr>
              <a:defRPr sz="1950" b="1">
                <a:solidFill>
                  <a:srgbClr val="007F7B"/>
                </a:solidFill>
                <a:latin typeface="Arial"/>
                <a:ea typeface="Arial"/>
                <a:cs typeface="Arial"/>
              </a:defRPr>
            </a:lvl2pPr>
            <a:lvl3pPr>
              <a:defRPr sz="1950" b="1">
                <a:solidFill>
                  <a:srgbClr val="007F7B"/>
                </a:solidFill>
                <a:latin typeface="Arial"/>
                <a:ea typeface="Arial"/>
                <a:cs typeface="Arial"/>
              </a:defRPr>
            </a:lvl3pPr>
            <a:lvl4pPr>
              <a:defRPr sz="1950" b="1">
                <a:solidFill>
                  <a:srgbClr val="007F7B"/>
                </a:solidFill>
                <a:latin typeface="Arial"/>
                <a:ea typeface="Arial"/>
                <a:cs typeface="Arial"/>
              </a:defRPr>
            </a:lvl4pPr>
            <a:lvl5pPr>
              <a:defRPr sz="1950" b="1">
                <a:solidFill>
                  <a:srgbClr val="007F7B"/>
                </a:solidFill>
                <a:latin typeface="Arial"/>
                <a:ea typeface="Arial"/>
                <a:cs typeface="Arial"/>
              </a:defRPr>
            </a:lvl5pPr>
            <a:lvl6pPr>
              <a:defRPr sz="1950" b="1">
                <a:solidFill>
                  <a:srgbClr val="007F7B"/>
                </a:solidFill>
                <a:latin typeface="Arial"/>
                <a:ea typeface="Arial"/>
                <a:cs typeface="Arial"/>
              </a:defRPr>
            </a:lvl6pPr>
            <a:lvl7pPr>
              <a:defRPr sz="1950" b="1">
                <a:solidFill>
                  <a:srgbClr val="007F7B"/>
                </a:solidFill>
                <a:latin typeface="Arial"/>
                <a:ea typeface="Arial"/>
                <a:cs typeface="Arial"/>
              </a:defRPr>
            </a:lvl7pPr>
            <a:lvl8pPr>
              <a:defRPr sz="1950" b="1">
                <a:solidFill>
                  <a:srgbClr val="007F7B"/>
                </a:solidFill>
                <a:latin typeface="Arial"/>
                <a:ea typeface="Arial"/>
                <a:cs typeface="Arial"/>
              </a:defRPr>
            </a:lvl8pPr>
            <a:lvl9pPr>
              <a:defRPr sz="1950" b="1">
                <a:solidFill>
                  <a:srgbClr val="007F7B"/>
                </a:solidFill>
                <a:latin typeface="Arial"/>
                <a:ea typeface="Arial"/>
                <a:cs typeface="Arial"/>
              </a:defRPr>
            </a:lvl9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Mean foreground visible: 55.9% / 55.4%</a:t>
            </a:r>
          </a:p>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Mean head region visible: 83.0% / 12.7%</a:t>
            </a:r>
          </a:p>
        </p:txBody>
      </p:sp>
      <p:sp>
        <p:nvSpPr>
          <p:cNvPr id="11" name="">
            <a:extLst xmlns:a="http://schemas.openxmlformats.org/drawingml/2006/main">
              <a:ext uri="{FF2B5EF4-FFF2-40B4-BE49-F238E27FC236}">
                <a16:creationId xmlns:a16="http://schemas.microsoft.com/office/drawing/2014/main" id="{687B4E40-EF04-4421-8530-90CFCC45A911}"/>
              </a:ext>
            </a:extLst>
          </p:cNvPr>
          <p:cNvSpPr>
            <a:spLocks xmlns:a="http://schemas.openxmlformats.org/drawingml/2006/main" noGrp="1"/>
          </p:cNvSpPr>
          <p:nvPr/>
        </p:nvSpPr>
        <p:spPr>
          <a:xfrm xmlns:a="http://schemas.openxmlformats.org/drawingml/2006/main">
            <a:off x="609600" y="58102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13D"/>
                </a:solidFill>
                <a:latin typeface="Arial"/>
                <a:ea typeface="Arial"/>
                <a:cs typeface="Arial"/>
              </a:defRPr>
            </a:defPPr>
            <a:lvl1pPr>
              <a:defRPr sz="1875" b="0">
                <a:solidFill>
                  <a:srgbClr val="17313D"/>
                </a:solidFill>
                <a:latin typeface="Arial"/>
                <a:ea typeface="Arial"/>
                <a:cs typeface="Arial"/>
              </a:defRPr>
            </a:lvl1pPr>
            <a:lvl2pPr>
              <a:defRPr sz="1875" b="0">
                <a:solidFill>
                  <a:srgbClr val="17313D"/>
                </a:solidFill>
                <a:latin typeface="Arial"/>
                <a:ea typeface="Arial"/>
                <a:cs typeface="Arial"/>
              </a:defRPr>
            </a:lvl2pPr>
            <a:lvl3pPr>
              <a:defRPr sz="1875" b="0">
                <a:solidFill>
                  <a:srgbClr val="17313D"/>
                </a:solidFill>
                <a:latin typeface="Arial"/>
                <a:ea typeface="Arial"/>
                <a:cs typeface="Arial"/>
              </a:defRPr>
            </a:lvl3pPr>
            <a:lvl4pPr>
              <a:defRPr sz="1875" b="0">
                <a:solidFill>
                  <a:srgbClr val="17313D"/>
                </a:solidFill>
                <a:latin typeface="Arial"/>
                <a:ea typeface="Arial"/>
                <a:cs typeface="Arial"/>
              </a:defRPr>
            </a:lvl4pPr>
            <a:lvl5pPr>
              <a:defRPr sz="1875" b="0">
                <a:solidFill>
                  <a:srgbClr val="17313D"/>
                </a:solidFill>
                <a:latin typeface="Arial"/>
                <a:ea typeface="Arial"/>
                <a:cs typeface="Arial"/>
              </a:defRPr>
            </a:lvl5pPr>
            <a:lvl6pPr>
              <a:defRPr sz="1875" b="0">
                <a:solidFill>
                  <a:srgbClr val="17313D"/>
                </a:solidFill>
                <a:latin typeface="Arial"/>
                <a:ea typeface="Arial"/>
                <a:cs typeface="Arial"/>
              </a:defRPr>
            </a:lvl6pPr>
            <a:lvl7pPr>
              <a:defRPr sz="1875" b="0">
                <a:solidFill>
                  <a:srgbClr val="17313D"/>
                </a:solidFill>
                <a:latin typeface="Arial"/>
                <a:ea typeface="Arial"/>
                <a:cs typeface="Arial"/>
              </a:defRPr>
            </a:lvl7pPr>
            <a:lvl8pPr>
              <a:defRPr sz="1875" b="0">
                <a:solidFill>
                  <a:srgbClr val="17313D"/>
                </a:solidFill>
                <a:latin typeface="Arial"/>
                <a:ea typeface="Arial"/>
                <a:cs typeface="Arial"/>
              </a:defRPr>
            </a:lvl8pPr>
            <a:lvl9pPr>
              <a:defRPr sz="1875" b="0">
                <a:solidFill>
                  <a:srgbClr val="17313D"/>
                </a:solidFill>
                <a:latin typeface="Arial"/>
                <a:ea typeface="Arial"/>
                <a:cs typeface="Arial"/>
              </a:defRPr>
            </a:lvl9pPr>
          </a:lstStyle>
          <a:p xmlns:a="http://schemas.openxmlformats.org/drawingml/2006/main">
            <a:pPr>
              <a:defRPr sz="1875" b="0">
                <a:solidFill>
                  <a:srgbClr val="17313D"/>
                </a:solidFill>
                <a:latin typeface="Arial"/>
                <a:ea typeface="Arial"/>
                <a:cs typeface="Arial"/>
              </a:defRPr>
            </a:pPr>
            <a:r>
              <a:rPr sz="1875" b="0">
                <a:solidFill>
                  <a:srgbClr val="17313D"/>
                </a:solidFill>
                <a:latin typeface="Arial"/>
                <a:ea typeface="Arial"/>
                <a:cs typeface="Arial"/>
              </a:rPr>
              <a:t>Parts and background change together. This does not isolate a head effect</a:t>
            </a:r>
          </a:p>
          <a:p xmlns:a="http://schemas.openxmlformats.org/drawingml/2006/main">
            <a:pPr>
              <a:defRPr sz="1875" b="0">
                <a:solidFill>
                  <a:srgbClr val="17313D"/>
                </a:solidFill>
                <a:latin typeface="Arial"/>
                <a:ea typeface="Arial"/>
                <a:cs typeface="Arial"/>
              </a:defRPr>
            </a:pPr>
            <a:r>
              <a:rPr sz="1875" b="0">
                <a:solidFill>
                  <a:srgbClr val="17313D"/>
                </a:solidFill>
                <a:latin typeface="Arial"/>
                <a:ea typeface="Arial"/>
                <a:cs typeface="Arial"/>
              </a:rPr>
              <a:t>or explain the main crossover in another cohort.</a:t>
            </a:r>
          </a:p>
        </p:txBody>
      </p:sp>
    </p:spTree>
    <p:extLst>
      <p:ext uri="{BB962C8B-B14F-4D97-AF65-F5344CB8AC3E}">
        <p14:creationId xmlns:p14="http://schemas.microsoft.com/office/powerpoint/2010/main" val="15375067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B46E10-FCB1-4F77-8919-8A178A5417C4}"/>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Conclusions and limits</a:t>
            </a:r>
          </a:p>
        </p:txBody>
      </p:sp>
      <p:sp>
        <p:nvSpPr>
          <p:cNvPr id="2" name="">
            <a:extLst xmlns:a="http://schemas.openxmlformats.org/drawingml/2006/main">
              <a:ext uri="{FF2B5EF4-FFF2-40B4-BE49-F238E27FC236}">
                <a16:creationId xmlns:a16="http://schemas.microsoft.com/office/drawing/2014/main" id="{42B26953-467E-4062-A9D1-F66F08793966}"/>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D197E6DC-519D-4E7A-8B9C-CDA367429470}"/>
              </a:ext>
            </a:extLst>
          </p:cNvPr>
          <p:cNvSpPr>
            <a:spLocks xmlns:a="http://schemas.openxmlformats.org/drawingml/2006/main" noGrp="1"/>
          </p:cNvSpPr>
          <p:nvPr/>
        </p:nvSpPr>
        <p:spPr>
          <a:xfrm xmlns:a="http://schemas.openxmlformats.org/drawingml/2006/main">
            <a:off x="609600" y="169545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Arial"/>
                <a:ea typeface="Arial"/>
                <a:cs typeface="Arial"/>
              </a:defRPr>
            </a:defPPr>
            <a:lvl1pPr>
              <a:defRPr sz="2175" b="1">
                <a:solidFill>
                  <a:srgbClr val="007F7B"/>
                </a:solidFill>
                <a:latin typeface="Arial"/>
                <a:ea typeface="Arial"/>
                <a:cs typeface="Arial"/>
              </a:defRPr>
            </a:lvl1pPr>
            <a:lvl2pPr>
              <a:defRPr sz="2175" b="1">
                <a:solidFill>
                  <a:srgbClr val="007F7B"/>
                </a:solidFill>
                <a:latin typeface="Arial"/>
                <a:ea typeface="Arial"/>
                <a:cs typeface="Arial"/>
              </a:defRPr>
            </a:lvl2pPr>
            <a:lvl3pPr>
              <a:defRPr sz="2175" b="1">
                <a:solidFill>
                  <a:srgbClr val="007F7B"/>
                </a:solidFill>
                <a:latin typeface="Arial"/>
                <a:ea typeface="Arial"/>
                <a:cs typeface="Arial"/>
              </a:defRPr>
            </a:lvl3pPr>
            <a:lvl4pPr>
              <a:defRPr sz="2175" b="1">
                <a:solidFill>
                  <a:srgbClr val="007F7B"/>
                </a:solidFill>
                <a:latin typeface="Arial"/>
                <a:ea typeface="Arial"/>
                <a:cs typeface="Arial"/>
              </a:defRPr>
            </a:lvl4pPr>
            <a:lvl5pPr>
              <a:defRPr sz="2175" b="1">
                <a:solidFill>
                  <a:srgbClr val="007F7B"/>
                </a:solidFill>
                <a:latin typeface="Arial"/>
                <a:ea typeface="Arial"/>
                <a:cs typeface="Arial"/>
              </a:defRPr>
            </a:lvl5pPr>
            <a:lvl6pPr>
              <a:defRPr sz="2175" b="1">
                <a:solidFill>
                  <a:srgbClr val="007F7B"/>
                </a:solidFill>
                <a:latin typeface="Arial"/>
                <a:ea typeface="Arial"/>
                <a:cs typeface="Arial"/>
              </a:defRPr>
            </a:lvl6pPr>
            <a:lvl7pPr>
              <a:defRPr sz="2175" b="1">
                <a:solidFill>
                  <a:srgbClr val="007F7B"/>
                </a:solidFill>
                <a:latin typeface="Arial"/>
                <a:ea typeface="Arial"/>
                <a:cs typeface="Arial"/>
              </a:defRPr>
            </a:lvl7pPr>
            <a:lvl8pPr>
              <a:defRPr sz="2175" b="1">
                <a:solidFill>
                  <a:srgbClr val="007F7B"/>
                </a:solidFill>
                <a:latin typeface="Arial"/>
                <a:ea typeface="Arial"/>
                <a:cs typeface="Arial"/>
              </a:defRPr>
            </a:lvl8pPr>
            <a:lvl9pPr>
              <a:defRPr sz="2175" b="1">
                <a:solidFill>
                  <a:srgbClr val="007F7B"/>
                </a:solidFill>
                <a:latin typeface="Arial"/>
                <a:ea typeface="Arial"/>
                <a:cs typeface="Arial"/>
              </a:defRPr>
            </a:lvl9pPr>
          </a:lstStyle>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Supported findings</a:t>
            </a:r>
          </a:p>
        </p:txBody>
      </p:sp>
      <p:sp>
        <p:nvSpPr>
          <p:cNvPr id="4" name="">
            <a:extLst xmlns:a="http://schemas.openxmlformats.org/drawingml/2006/main">
              <a:ext uri="{FF2B5EF4-FFF2-40B4-BE49-F238E27FC236}">
                <a16:creationId xmlns:a16="http://schemas.microsoft.com/office/drawing/2014/main" id="{2288744E-379D-4FDE-8C54-D6851C2FF8F3}"/>
              </a:ext>
            </a:extLst>
          </p:cNvPr>
          <p:cNvSpPr>
            <a:spLocks xmlns:a="http://schemas.openxmlformats.org/drawingml/2006/main" noGrp="1"/>
          </p:cNvSpPr>
          <p:nvPr/>
        </p:nvSpPr>
        <p:spPr>
          <a:xfrm xmlns:a="http://schemas.openxmlformats.org/drawingml/2006/main">
            <a:off x="609600" y="2343150"/>
            <a:ext cx="5267325" cy="2990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13D"/>
                </a:solidFill>
                <a:latin typeface="Arial"/>
                <a:ea typeface="Arial"/>
                <a:cs typeface="Arial"/>
              </a:defRPr>
            </a:defPPr>
            <a:lvl1pPr>
              <a:defRPr sz="2100" b="0">
                <a:solidFill>
                  <a:srgbClr val="17313D"/>
                </a:solidFill>
                <a:latin typeface="Arial"/>
                <a:ea typeface="Arial"/>
                <a:cs typeface="Arial"/>
              </a:defRPr>
            </a:lvl1pPr>
            <a:lvl2pPr>
              <a:defRPr sz="2100" b="0">
                <a:solidFill>
                  <a:srgbClr val="17313D"/>
                </a:solidFill>
                <a:latin typeface="Arial"/>
                <a:ea typeface="Arial"/>
                <a:cs typeface="Arial"/>
              </a:defRPr>
            </a:lvl2pPr>
            <a:lvl3pPr>
              <a:defRPr sz="2100" b="0">
                <a:solidFill>
                  <a:srgbClr val="17313D"/>
                </a:solidFill>
                <a:latin typeface="Arial"/>
                <a:ea typeface="Arial"/>
                <a:cs typeface="Arial"/>
              </a:defRPr>
            </a:lvl3pPr>
            <a:lvl4pPr>
              <a:defRPr sz="2100" b="0">
                <a:solidFill>
                  <a:srgbClr val="17313D"/>
                </a:solidFill>
                <a:latin typeface="Arial"/>
                <a:ea typeface="Arial"/>
                <a:cs typeface="Arial"/>
              </a:defRPr>
            </a:lvl4pPr>
            <a:lvl5pPr>
              <a:defRPr sz="2100" b="0">
                <a:solidFill>
                  <a:srgbClr val="17313D"/>
                </a:solidFill>
                <a:latin typeface="Arial"/>
                <a:ea typeface="Arial"/>
                <a:cs typeface="Arial"/>
              </a:defRPr>
            </a:lvl5pPr>
            <a:lvl6pPr>
              <a:defRPr sz="2100" b="0">
                <a:solidFill>
                  <a:srgbClr val="17313D"/>
                </a:solidFill>
                <a:latin typeface="Arial"/>
                <a:ea typeface="Arial"/>
                <a:cs typeface="Arial"/>
              </a:defRPr>
            </a:lvl6pPr>
            <a:lvl7pPr>
              <a:defRPr sz="2100" b="0">
                <a:solidFill>
                  <a:srgbClr val="17313D"/>
                </a:solidFill>
                <a:latin typeface="Arial"/>
                <a:ea typeface="Arial"/>
                <a:cs typeface="Arial"/>
              </a:defRPr>
            </a:lvl7pPr>
            <a:lvl8pPr>
              <a:defRPr sz="2100" b="0">
                <a:solidFill>
                  <a:srgbClr val="17313D"/>
                </a:solidFill>
                <a:latin typeface="Arial"/>
                <a:ea typeface="Arial"/>
                <a:cs typeface="Arial"/>
              </a:defRPr>
            </a:lvl8pPr>
            <a:lvl9pPr>
              <a:defRPr sz="2100" b="0">
                <a:solidFill>
                  <a:srgbClr val="17313D"/>
                </a:solidFill>
                <a:latin typeface="Arial"/>
                <a:ea typeface="Arial"/>
                <a:cs typeface="Arial"/>
              </a:defRPr>
            </a:lvl9pPr>
          </a:lstStyle>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Ordering changes with the condition</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and repeats on new images / two fills</a:t>
            </a:r>
          </a:p>
          <a:p xmlns:a="http://schemas.openxmlformats.org/drawingml/2006/main">
            <a:r>
              <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Equal image area retains unequal</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foreground</a:t>
            </a:r>
          </a:p>
          <a:p xmlns:a="http://schemas.openxmlformats.org/drawingml/2006/main">
            <a:r>
              <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Similar foreground area still retains</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different parts and background</a:t>
            </a:r>
          </a:p>
        </p:txBody>
      </p:sp>
      <p:sp>
        <p:nvSpPr>
          <p:cNvPr id="5" name="">
            <a:extLst xmlns:a="http://schemas.openxmlformats.org/drawingml/2006/main">
              <a:ext uri="{FF2B5EF4-FFF2-40B4-BE49-F238E27FC236}">
                <a16:creationId xmlns:a16="http://schemas.microsoft.com/office/drawing/2014/main" id="{568FABC1-E730-4D71-8B81-36511713E840}"/>
              </a:ext>
            </a:extLst>
          </p:cNvPr>
          <p:cNvSpPr>
            <a:spLocks xmlns:a="http://schemas.openxmlformats.org/drawingml/2006/main" noGrp="1"/>
          </p:cNvSpPr>
          <p:nvPr/>
        </p:nvSpPr>
        <p:spPr>
          <a:xfrm xmlns:a="http://schemas.openxmlformats.org/drawingml/2006/main">
            <a:off x="6553200" y="1695450"/>
            <a:ext cx="5029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Arial"/>
                <a:ea typeface="Arial"/>
                <a:cs typeface="Arial"/>
              </a:defRPr>
            </a:defPPr>
            <a:lvl1pPr>
              <a:defRPr sz="2175" b="1">
                <a:solidFill>
                  <a:srgbClr val="007F7B"/>
                </a:solidFill>
                <a:latin typeface="Arial"/>
                <a:ea typeface="Arial"/>
                <a:cs typeface="Arial"/>
              </a:defRPr>
            </a:lvl1pPr>
            <a:lvl2pPr>
              <a:defRPr sz="2175" b="1">
                <a:solidFill>
                  <a:srgbClr val="007F7B"/>
                </a:solidFill>
                <a:latin typeface="Arial"/>
                <a:ea typeface="Arial"/>
                <a:cs typeface="Arial"/>
              </a:defRPr>
            </a:lvl2pPr>
            <a:lvl3pPr>
              <a:defRPr sz="2175" b="1">
                <a:solidFill>
                  <a:srgbClr val="007F7B"/>
                </a:solidFill>
                <a:latin typeface="Arial"/>
                <a:ea typeface="Arial"/>
                <a:cs typeface="Arial"/>
              </a:defRPr>
            </a:lvl3pPr>
            <a:lvl4pPr>
              <a:defRPr sz="2175" b="1">
                <a:solidFill>
                  <a:srgbClr val="007F7B"/>
                </a:solidFill>
                <a:latin typeface="Arial"/>
                <a:ea typeface="Arial"/>
                <a:cs typeface="Arial"/>
              </a:defRPr>
            </a:lvl4pPr>
            <a:lvl5pPr>
              <a:defRPr sz="2175" b="1">
                <a:solidFill>
                  <a:srgbClr val="007F7B"/>
                </a:solidFill>
                <a:latin typeface="Arial"/>
                <a:ea typeface="Arial"/>
                <a:cs typeface="Arial"/>
              </a:defRPr>
            </a:lvl5pPr>
            <a:lvl6pPr>
              <a:defRPr sz="2175" b="1">
                <a:solidFill>
                  <a:srgbClr val="007F7B"/>
                </a:solidFill>
                <a:latin typeface="Arial"/>
                <a:ea typeface="Arial"/>
                <a:cs typeface="Arial"/>
              </a:defRPr>
            </a:lvl6pPr>
            <a:lvl7pPr>
              <a:defRPr sz="2175" b="1">
                <a:solidFill>
                  <a:srgbClr val="007F7B"/>
                </a:solidFill>
                <a:latin typeface="Arial"/>
                <a:ea typeface="Arial"/>
                <a:cs typeface="Arial"/>
              </a:defRPr>
            </a:lvl7pPr>
            <a:lvl8pPr>
              <a:defRPr sz="2175" b="1">
                <a:solidFill>
                  <a:srgbClr val="007F7B"/>
                </a:solidFill>
                <a:latin typeface="Arial"/>
                <a:ea typeface="Arial"/>
                <a:cs typeface="Arial"/>
              </a:defRPr>
            </a:lvl8pPr>
            <a:lvl9pPr>
              <a:defRPr sz="2175" b="1">
                <a:solidFill>
                  <a:srgbClr val="007F7B"/>
                </a:solidFill>
                <a:latin typeface="Arial"/>
                <a:ea typeface="Arial"/>
                <a:cs typeface="Arial"/>
              </a:defRPr>
            </a:lvl9pPr>
          </a:lstStyle>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Remaining limits</a:t>
            </a:r>
          </a:p>
        </p:txBody>
      </p:sp>
      <p:sp>
        <p:nvSpPr>
          <p:cNvPr id="6" name="">
            <a:extLst xmlns:a="http://schemas.openxmlformats.org/drawingml/2006/main">
              <a:ext uri="{FF2B5EF4-FFF2-40B4-BE49-F238E27FC236}">
                <a16:creationId xmlns:a16="http://schemas.microsoft.com/office/drawing/2014/main" id="{4BCACDB7-68D9-4401-98D5-5AA8118A9B38}"/>
              </a:ext>
            </a:extLst>
          </p:cNvPr>
          <p:cNvSpPr>
            <a:spLocks xmlns:a="http://schemas.openxmlformats.org/drawingml/2006/main" noGrp="1"/>
          </p:cNvSpPr>
          <p:nvPr/>
        </p:nvSpPr>
        <p:spPr>
          <a:xfrm xmlns:a="http://schemas.openxmlformats.org/drawingml/2006/main">
            <a:off x="6553200" y="2343150"/>
            <a:ext cx="5029200" cy="2990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13D"/>
                </a:solidFill>
                <a:latin typeface="Arial"/>
                <a:ea typeface="Arial"/>
                <a:cs typeface="Arial"/>
              </a:defRPr>
            </a:defPPr>
            <a:lvl1pPr>
              <a:defRPr sz="2100" b="0">
                <a:solidFill>
                  <a:srgbClr val="17313D"/>
                </a:solidFill>
                <a:latin typeface="Arial"/>
                <a:ea typeface="Arial"/>
                <a:cs typeface="Arial"/>
              </a:defRPr>
            </a:lvl1pPr>
            <a:lvl2pPr>
              <a:defRPr sz="2100" b="0">
                <a:solidFill>
                  <a:srgbClr val="17313D"/>
                </a:solidFill>
                <a:latin typeface="Arial"/>
                <a:ea typeface="Arial"/>
                <a:cs typeface="Arial"/>
              </a:defRPr>
            </a:lvl2pPr>
            <a:lvl3pPr>
              <a:defRPr sz="2100" b="0">
                <a:solidFill>
                  <a:srgbClr val="17313D"/>
                </a:solidFill>
                <a:latin typeface="Arial"/>
                <a:ea typeface="Arial"/>
                <a:cs typeface="Arial"/>
              </a:defRPr>
            </a:lvl3pPr>
            <a:lvl4pPr>
              <a:defRPr sz="2100" b="0">
                <a:solidFill>
                  <a:srgbClr val="17313D"/>
                </a:solidFill>
                <a:latin typeface="Arial"/>
                <a:ea typeface="Arial"/>
                <a:cs typeface="Arial"/>
              </a:defRPr>
            </a:lvl4pPr>
            <a:lvl5pPr>
              <a:defRPr sz="2100" b="0">
                <a:solidFill>
                  <a:srgbClr val="17313D"/>
                </a:solidFill>
                <a:latin typeface="Arial"/>
                <a:ea typeface="Arial"/>
                <a:cs typeface="Arial"/>
              </a:defRPr>
            </a:lvl5pPr>
            <a:lvl6pPr>
              <a:defRPr sz="2100" b="0">
                <a:solidFill>
                  <a:srgbClr val="17313D"/>
                </a:solidFill>
                <a:latin typeface="Arial"/>
                <a:ea typeface="Arial"/>
                <a:cs typeface="Arial"/>
              </a:defRPr>
            </a:lvl6pPr>
            <a:lvl7pPr>
              <a:defRPr sz="2100" b="0">
                <a:solidFill>
                  <a:srgbClr val="17313D"/>
                </a:solidFill>
                <a:latin typeface="Arial"/>
                <a:ea typeface="Arial"/>
                <a:cs typeface="Arial"/>
              </a:defRPr>
            </a:lvl7pPr>
            <a:lvl8pPr>
              <a:defRPr sz="2100" b="0">
                <a:solidFill>
                  <a:srgbClr val="17313D"/>
                </a:solidFill>
                <a:latin typeface="Arial"/>
                <a:ea typeface="Arial"/>
                <a:cs typeface="Arial"/>
              </a:defRPr>
            </a:lvl8pPr>
            <a:lvl9pPr>
              <a:defRPr sz="2100" b="0">
                <a:solidFill>
                  <a:srgbClr val="17313D"/>
                </a:solidFill>
                <a:latin typeface="Arial"/>
                <a:ea typeface="Arial"/>
                <a:cs typeface="Arial"/>
              </a:defRPr>
            </a:lvl9pPr>
          </a:lstStyle>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Uncontrolled model pretraining</a:t>
            </a:r>
          </a:p>
          <a:p xmlns:a="http://schemas.openxmlformats.org/drawingml/2006/main">
            <a:r>
              <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Content and position still mixed</a:t>
            </a:r>
          </a:p>
          <a:p xmlns:a="http://schemas.openxmlformats.org/drawingml/2006/main">
            <a:r>
              <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One dataset and one pooling recipe</a:t>
            </a:r>
          </a:p>
          <a:p xmlns:a="http://schemas.openxmlformats.org/drawingml/2006/main">
            <a:r>
              <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Synthetic constant-fill occlusion</a:t>
            </a:r>
          </a:p>
        </p:txBody>
      </p:sp>
      <p:sp>
        <p:nvSpPr>
          <p:cNvPr id="7" name="">
            <a:extLst xmlns:a="http://schemas.openxmlformats.org/drawingml/2006/main">
              <a:ext uri="{FF2B5EF4-FFF2-40B4-BE49-F238E27FC236}">
                <a16:creationId xmlns:a16="http://schemas.microsoft.com/office/drawing/2014/main" id="{1D9A6583-0C97-4790-98A2-A500B792BABA}"/>
              </a:ext>
            </a:extLst>
          </p:cNvPr>
          <p:cNvSpPr>
            <a:spLocks xmlns:a="http://schemas.openxmlformats.org/drawingml/2006/main" noGrp="1"/>
          </p:cNvSpPr>
          <p:nvPr/>
        </p:nvSpPr>
        <p:spPr>
          <a:xfrm xmlns:a="http://schemas.openxmlformats.org/drawingml/2006/main">
            <a:off x="609600" y="57816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13D"/>
                </a:solidFill>
                <a:latin typeface="Arial"/>
                <a:ea typeface="Arial"/>
                <a:cs typeface="Arial"/>
              </a:defRPr>
            </a:defPPr>
            <a:lvl1pPr>
              <a:defRPr sz="2175" b="1">
                <a:solidFill>
                  <a:srgbClr val="17313D"/>
                </a:solidFill>
                <a:latin typeface="Arial"/>
                <a:ea typeface="Arial"/>
                <a:cs typeface="Arial"/>
              </a:defRPr>
            </a:lvl1pPr>
            <a:lvl2pPr>
              <a:defRPr sz="2175" b="1">
                <a:solidFill>
                  <a:srgbClr val="17313D"/>
                </a:solidFill>
                <a:latin typeface="Arial"/>
                <a:ea typeface="Arial"/>
                <a:cs typeface="Arial"/>
              </a:defRPr>
            </a:lvl2pPr>
            <a:lvl3pPr>
              <a:defRPr sz="2175" b="1">
                <a:solidFill>
                  <a:srgbClr val="17313D"/>
                </a:solidFill>
                <a:latin typeface="Arial"/>
                <a:ea typeface="Arial"/>
                <a:cs typeface="Arial"/>
              </a:defRPr>
            </a:lvl3pPr>
            <a:lvl4pPr>
              <a:defRPr sz="2175" b="1">
                <a:solidFill>
                  <a:srgbClr val="17313D"/>
                </a:solidFill>
                <a:latin typeface="Arial"/>
                <a:ea typeface="Arial"/>
                <a:cs typeface="Arial"/>
              </a:defRPr>
            </a:lvl4pPr>
            <a:lvl5pPr>
              <a:defRPr sz="2175" b="1">
                <a:solidFill>
                  <a:srgbClr val="17313D"/>
                </a:solidFill>
                <a:latin typeface="Arial"/>
                <a:ea typeface="Arial"/>
                <a:cs typeface="Arial"/>
              </a:defRPr>
            </a:lvl5pPr>
            <a:lvl6pPr>
              <a:defRPr sz="2175" b="1">
                <a:solidFill>
                  <a:srgbClr val="17313D"/>
                </a:solidFill>
                <a:latin typeface="Arial"/>
                <a:ea typeface="Arial"/>
                <a:cs typeface="Arial"/>
              </a:defRPr>
            </a:lvl6pPr>
            <a:lvl7pPr>
              <a:defRPr sz="2175" b="1">
                <a:solidFill>
                  <a:srgbClr val="17313D"/>
                </a:solidFill>
                <a:latin typeface="Arial"/>
                <a:ea typeface="Arial"/>
                <a:cs typeface="Arial"/>
              </a:defRPr>
            </a:lvl7pPr>
            <a:lvl8pPr>
              <a:defRPr sz="2175" b="1">
                <a:solidFill>
                  <a:srgbClr val="17313D"/>
                </a:solidFill>
                <a:latin typeface="Arial"/>
                <a:ea typeface="Arial"/>
                <a:cs typeface="Arial"/>
              </a:defRPr>
            </a:lvl8pPr>
            <a:lvl9pPr>
              <a:defRPr sz="2175" b="1">
                <a:solidFill>
                  <a:srgbClr val="17313D"/>
                </a:solidFill>
                <a:latin typeface="Arial"/>
                <a:ea typeface="Arial"/>
                <a:cs typeface="Arial"/>
              </a:defRPr>
            </a:lvl9pPr>
          </a:lstStyle>
          <a:p xmlns:a="http://schemas.openxmlformats.org/drawingml/2006/main">
            <a:pPr>
              <a:defRPr sz="2175" b="1">
                <a:solidFill>
                  <a:srgbClr val="17313D"/>
                </a:solidFill>
                <a:latin typeface="Arial"/>
                <a:ea typeface="Arial"/>
                <a:cs typeface="Arial"/>
              </a:defRPr>
            </a:pPr>
            <a:r>
              <a:rPr sz="2175" b="1">
                <a:solidFill>
                  <a:srgbClr val="17313D"/>
                </a:solidFill>
                <a:latin typeface="Arial"/>
                <a:ea typeface="Arial"/>
                <a:cs typeface="Arial"/>
              </a:rPr>
              <a:t>Contribution: measured evaluation behavior with explicit diagnostic limits.</a:t>
            </a:r>
          </a:p>
        </p:txBody>
      </p:sp>
    </p:spTree>
    <p:extLst>
      <p:ext uri="{BB962C8B-B14F-4D97-AF65-F5344CB8AC3E}">
        <p14:creationId xmlns:p14="http://schemas.microsoft.com/office/powerpoint/2010/main" val="21078474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19B2F2-2100-44FE-A37F-6B26E2D9B2A9}"/>
              </a:ext>
            </a:extLst>
          </p:cNvPr>
          <p:cNvSpPr>
            <a:spLocks xmlns:a="http://schemas.openxmlformats.org/drawingml/2006/main" noGrp="1"/>
          </p:cNvSpPr>
          <p:nvPr/>
        </p:nvSpPr>
        <p:spPr>
          <a:xfrm xmlns:a="http://schemas.openxmlformats.org/drawingml/2006/main">
            <a:off x="609600" y="40957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Next experiments, code and AI use</a:t>
            </a:r>
          </a:p>
        </p:txBody>
      </p:sp>
      <p:sp>
        <p:nvSpPr>
          <p:cNvPr id="2" name="">
            <a:extLst xmlns:a="http://schemas.openxmlformats.org/drawingml/2006/main">
              <a:ext uri="{FF2B5EF4-FFF2-40B4-BE49-F238E27FC236}">
                <a16:creationId xmlns:a16="http://schemas.microsoft.com/office/drawing/2014/main" id="{850FDE90-7BCC-482A-B205-1C035FE9AD7F}"/>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BA4EB433-E3A6-40C1-BB57-904FA149A535}"/>
              </a:ext>
            </a:extLst>
          </p:cNvPr>
          <p:cNvSpPr>
            <a:spLocks xmlns:a="http://schemas.openxmlformats.org/drawingml/2006/main" noGrp="1"/>
          </p:cNvSpPr>
          <p:nvPr/>
        </p:nvSpPr>
        <p:spPr>
          <a:xfrm xmlns:a="http://schemas.openxmlformats.org/drawingml/2006/main">
            <a:off x="609600" y="161925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07F7B"/>
                </a:solidFill>
                <a:latin typeface="Arial"/>
                <a:ea typeface="Arial"/>
                <a:cs typeface="Arial"/>
              </a:defRPr>
            </a:defPPr>
            <a:lvl1pPr>
              <a:defRPr sz="2400" b="1">
                <a:solidFill>
                  <a:srgbClr val="007F7B"/>
                </a:solidFill>
                <a:latin typeface="Arial"/>
                <a:ea typeface="Arial"/>
                <a:cs typeface="Arial"/>
              </a:defRPr>
            </a:lvl1pPr>
            <a:lvl2pPr>
              <a:defRPr sz="2400" b="1">
                <a:solidFill>
                  <a:srgbClr val="007F7B"/>
                </a:solidFill>
                <a:latin typeface="Arial"/>
                <a:ea typeface="Arial"/>
                <a:cs typeface="Arial"/>
              </a:defRPr>
            </a:lvl2pPr>
            <a:lvl3pPr>
              <a:defRPr sz="2400" b="1">
                <a:solidFill>
                  <a:srgbClr val="007F7B"/>
                </a:solidFill>
                <a:latin typeface="Arial"/>
                <a:ea typeface="Arial"/>
                <a:cs typeface="Arial"/>
              </a:defRPr>
            </a:lvl3pPr>
            <a:lvl4pPr>
              <a:defRPr sz="2400" b="1">
                <a:solidFill>
                  <a:srgbClr val="007F7B"/>
                </a:solidFill>
                <a:latin typeface="Arial"/>
                <a:ea typeface="Arial"/>
                <a:cs typeface="Arial"/>
              </a:defRPr>
            </a:lvl4pPr>
            <a:lvl5pPr>
              <a:defRPr sz="2400" b="1">
                <a:solidFill>
                  <a:srgbClr val="007F7B"/>
                </a:solidFill>
                <a:latin typeface="Arial"/>
                <a:ea typeface="Arial"/>
                <a:cs typeface="Arial"/>
              </a:defRPr>
            </a:lvl5pPr>
            <a:lvl6pPr>
              <a:defRPr sz="2400" b="1">
                <a:solidFill>
                  <a:srgbClr val="007F7B"/>
                </a:solidFill>
                <a:latin typeface="Arial"/>
                <a:ea typeface="Arial"/>
                <a:cs typeface="Arial"/>
              </a:defRPr>
            </a:lvl6pPr>
            <a:lvl7pPr>
              <a:defRPr sz="2400" b="1">
                <a:solidFill>
                  <a:srgbClr val="007F7B"/>
                </a:solidFill>
                <a:latin typeface="Arial"/>
                <a:ea typeface="Arial"/>
                <a:cs typeface="Arial"/>
              </a:defRPr>
            </a:lvl7pPr>
            <a:lvl8pPr>
              <a:defRPr sz="2400" b="1">
                <a:solidFill>
                  <a:srgbClr val="007F7B"/>
                </a:solidFill>
                <a:latin typeface="Arial"/>
                <a:ea typeface="Arial"/>
                <a:cs typeface="Arial"/>
              </a:defRPr>
            </a:lvl8pPr>
            <a:lvl9pPr>
              <a:defRPr sz="2400" b="1">
                <a:solidFill>
                  <a:srgbClr val="007F7B"/>
                </a:solidFill>
                <a:latin typeface="Arial"/>
                <a:ea typeface="Arial"/>
                <a:cs typeface="Arial"/>
              </a:defRPr>
            </a:lvl9pPr>
          </a:lstStyle>
          <a:p xmlns:a="http://schemas.openxmlformats.org/drawingml/2006/main">
            <a:pPr>
              <a:defRPr sz="2400" b="1">
                <a:solidFill>
                  <a:srgbClr val="007F7B"/>
                </a:solidFill>
                <a:latin typeface="Arial"/>
                <a:ea typeface="Arial"/>
                <a:cs typeface="Arial"/>
              </a:defRPr>
            </a:pPr>
            <a:r>
              <a:rPr sz="2400" b="1">
                <a:solidFill>
                  <a:srgbClr val="007F7B"/>
                </a:solidFill>
                <a:latin typeface="Arial"/>
                <a:ea typeface="Arial"/>
                <a:cs typeface="Arial"/>
              </a:rPr>
              <a:t>Next: feature-readout / pooling sensitivity</a:t>
            </a:r>
          </a:p>
        </p:txBody>
      </p:sp>
      <p:sp>
        <p:nvSpPr>
          <p:cNvPr id="4" name="">
            <a:extLst xmlns:a="http://schemas.openxmlformats.org/drawingml/2006/main">
              <a:ext uri="{FF2B5EF4-FFF2-40B4-BE49-F238E27FC236}">
                <a16:creationId xmlns:a16="http://schemas.microsoft.com/office/drawing/2014/main" id="{4315BD2A-6786-4E4D-AFD2-7D202C73A372}"/>
              </a:ext>
            </a:extLst>
          </p:cNvPr>
          <p:cNvSpPr>
            <a:spLocks xmlns:a="http://schemas.openxmlformats.org/drawingml/2006/main" noGrp="1"/>
          </p:cNvSpPr>
          <p:nvPr/>
        </p:nvSpPr>
        <p:spPr>
          <a:xfrm xmlns:a="http://schemas.openxmlformats.org/drawingml/2006/main">
            <a:off x="609600" y="2286000"/>
            <a:ext cx="108585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13D"/>
                </a:solidFill>
                <a:latin typeface="Arial"/>
                <a:ea typeface="Arial"/>
                <a:cs typeface="Arial"/>
              </a:defRPr>
            </a:defPPr>
            <a:lvl1pPr>
              <a:defRPr sz="2100" b="0">
                <a:solidFill>
                  <a:srgbClr val="17313D"/>
                </a:solidFill>
                <a:latin typeface="Arial"/>
                <a:ea typeface="Arial"/>
                <a:cs typeface="Arial"/>
              </a:defRPr>
            </a:lvl1pPr>
            <a:lvl2pPr>
              <a:defRPr sz="2100" b="0">
                <a:solidFill>
                  <a:srgbClr val="17313D"/>
                </a:solidFill>
                <a:latin typeface="Arial"/>
                <a:ea typeface="Arial"/>
                <a:cs typeface="Arial"/>
              </a:defRPr>
            </a:lvl2pPr>
            <a:lvl3pPr>
              <a:defRPr sz="2100" b="0">
                <a:solidFill>
                  <a:srgbClr val="17313D"/>
                </a:solidFill>
                <a:latin typeface="Arial"/>
                <a:ea typeface="Arial"/>
                <a:cs typeface="Arial"/>
              </a:defRPr>
            </a:lvl3pPr>
            <a:lvl4pPr>
              <a:defRPr sz="2100" b="0">
                <a:solidFill>
                  <a:srgbClr val="17313D"/>
                </a:solidFill>
                <a:latin typeface="Arial"/>
                <a:ea typeface="Arial"/>
                <a:cs typeface="Arial"/>
              </a:defRPr>
            </a:lvl4pPr>
            <a:lvl5pPr>
              <a:defRPr sz="2100" b="0">
                <a:solidFill>
                  <a:srgbClr val="17313D"/>
                </a:solidFill>
                <a:latin typeface="Arial"/>
                <a:ea typeface="Arial"/>
                <a:cs typeface="Arial"/>
              </a:defRPr>
            </a:lvl5pPr>
            <a:lvl6pPr>
              <a:defRPr sz="2100" b="0">
                <a:solidFill>
                  <a:srgbClr val="17313D"/>
                </a:solidFill>
                <a:latin typeface="Arial"/>
                <a:ea typeface="Arial"/>
                <a:cs typeface="Arial"/>
              </a:defRPr>
            </a:lvl6pPr>
            <a:lvl7pPr>
              <a:defRPr sz="2100" b="0">
                <a:solidFill>
                  <a:srgbClr val="17313D"/>
                </a:solidFill>
                <a:latin typeface="Arial"/>
                <a:ea typeface="Arial"/>
                <a:cs typeface="Arial"/>
              </a:defRPr>
            </a:lvl7pPr>
            <a:lvl8pPr>
              <a:defRPr sz="2100" b="0">
                <a:solidFill>
                  <a:srgbClr val="17313D"/>
                </a:solidFill>
                <a:latin typeface="Arial"/>
                <a:ea typeface="Arial"/>
                <a:cs typeface="Arial"/>
              </a:defRPr>
            </a:lvl8pPr>
            <a:lvl9pPr>
              <a:defRPr sz="2100" b="0">
                <a:solidFill>
                  <a:srgbClr val="17313D"/>
                </a:solidFill>
                <a:latin typeface="Arial"/>
                <a:ea typeface="Arial"/>
                <a:cs typeface="Arial"/>
              </a:defRPr>
            </a:lvl9pPr>
          </a:lstStyle>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Fix a new protocol. Fit on clean train, select on clean validation.</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Label reuse of evaluated images as sensitivity analysis.</a:t>
            </a:r>
          </a:p>
          <a:p xmlns:a="http://schemas.openxmlformats.org/drawingml/2006/main">
            <a:pPr>
              <a:defRPr sz="2100" b="0">
                <a:solidFill>
                  <a:srgbClr val="17313D"/>
                </a:solidFill>
                <a:latin typeface="Arial"/>
                <a:ea typeface="Arial"/>
                <a:cs typeface="Arial"/>
              </a:defRPr>
            </a:pPr>
            <a:r>
              <a:rPr sz="2100" b="0">
                <a:solidFill>
                  <a:srgbClr val="17313D"/>
                </a:solidFill>
                <a:latin typeface="Arial"/>
                <a:ea typeface="Arial"/>
                <a:cs typeface="Arial"/>
              </a:rPr>
              <a:t>Later: another dataset or natural occluders.</a:t>
            </a:r>
          </a:p>
        </p:txBody>
      </p:sp>
      <p:sp>
        <p:nvSpPr>
          <p:cNvPr id="5" name="">
            <a:extLst xmlns:a="http://schemas.openxmlformats.org/drawingml/2006/main">
              <a:ext uri="{FF2B5EF4-FFF2-40B4-BE49-F238E27FC236}">
                <a16:creationId xmlns:a16="http://schemas.microsoft.com/office/drawing/2014/main" id="{6531EDA1-8EB8-400C-853C-C4311FC7C471}"/>
              </a:ext>
            </a:extLst>
          </p:cNvPr>
          <p:cNvSpPr>
            <a:spLocks xmlns:a="http://schemas.openxmlformats.org/drawingml/2006/main" noGrp="1"/>
          </p:cNvSpPr>
          <p:nvPr/>
        </p:nvSpPr>
        <p:spPr>
          <a:xfrm xmlns:a="http://schemas.openxmlformats.org/drawingml/2006/main">
            <a:off x="609600" y="40290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Arial"/>
                <a:ea typeface="Arial"/>
                <a:cs typeface="Arial"/>
              </a:defRPr>
            </a:defPPr>
            <a:lvl1pPr>
              <a:defRPr sz="2175" b="1">
                <a:solidFill>
                  <a:srgbClr val="007F7B"/>
                </a:solidFill>
                <a:latin typeface="Arial"/>
                <a:ea typeface="Arial"/>
                <a:cs typeface="Arial"/>
              </a:defRPr>
            </a:lvl1pPr>
            <a:lvl2pPr>
              <a:defRPr sz="2175" b="1">
                <a:solidFill>
                  <a:srgbClr val="007F7B"/>
                </a:solidFill>
                <a:latin typeface="Arial"/>
                <a:ea typeface="Arial"/>
                <a:cs typeface="Arial"/>
              </a:defRPr>
            </a:lvl2pPr>
            <a:lvl3pPr>
              <a:defRPr sz="2175" b="1">
                <a:solidFill>
                  <a:srgbClr val="007F7B"/>
                </a:solidFill>
                <a:latin typeface="Arial"/>
                <a:ea typeface="Arial"/>
                <a:cs typeface="Arial"/>
              </a:defRPr>
            </a:lvl3pPr>
            <a:lvl4pPr>
              <a:defRPr sz="2175" b="1">
                <a:solidFill>
                  <a:srgbClr val="007F7B"/>
                </a:solidFill>
                <a:latin typeface="Arial"/>
                <a:ea typeface="Arial"/>
                <a:cs typeface="Arial"/>
              </a:defRPr>
            </a:lvl4pPr>
            <a:lvl5pPr>
              <a:defRPr sz="2175" b="1">
                <a:solidFill>
                  <a:srgbClr val="007F7B"/>
                </a:solidFill>
                <a:latin typeface="Arial"/>
                <a:ea typeface="Arial"/>
                <a:cs typeface="Arial"/>
              </a:defRPr>
            </a:lvl5pPr>
            <a:lvl6pPr>
              <a:defRPr sz="2175" b="1">
                <a:solidFill>
                  <a:srgbClr val="007F7B"/>
                </a:solidFill>
                <a:latin typeface="Arial"/>
                <a:ea typeface="Arial"/>
                <a:cs typeface="Arial"/>
              </a:defRPr>
            </a:lvl6pPr>
            <a:lvl7pPr>
              <a:defRPr sz="2175" b="1">
                <a:solidFill>
                  <a:srgbClr val="007F7B"/>
                </a:solidFill>
                <a:latin typeface="Arial"/>
                <a:ea typeface="Arial"/>
                <a:cs typeface="Arial"/>
              </a:defRPr>
            </a:lvl7pPr>
            <a:lvl8pPr>
              <a:defRPr sz="2175" b="1">
                <a:solidFill>
                  <a:srgbClr val="007F7B"/>
                </a:solidFill>
                <a:latin typeface="Arial"/>
                <a:ea typeface="Arial"/>
                <a:cs typeface="Arial"/>
              </a:defRPr>
            </a:lvl8pPr>
            <a:lvl9pPr>
              <a:defRPr sz="2175" b="1">
                <a:solidFill>
                  <a:srgbClr val="007F7B"/>
                </a:solidFill>
                <a:latin typeface="Arial"/>
                <a:ea typeface="Arial"/>
                <a:cs typeface="Arial"/>
              </a:defRPr>
            </a:lvl9pPr>
          </a:lstStyle>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hlinkClick xmlns:r="http://schemas.openxmlformats.org/officeDocument/2006/relationships" r:id="R0c0c817427d14ac3"/>
              </a:rPr>
              <a:t>github.com/Bensssonxx/comp669-object-visibility</a:t>
            </a:r>
          </a:p>
        </p:txBody>
      </p:sp>
      <p:sp>
        <p:nvSpPr>
          <p:cNvPr id="6" name="">
            <a:extLst xmlns:a="http://schemas.openxmlformats.org/drawingml/2006/main">
              <a:ext uri="{FF2B5EF4-FFF2-40B4-BE49-F238E27FC236}">
                <a16:creationId xmlns:a16="http://schemas.microsoft.com/office/drawing/2014/main" id="{3C678429-571C-4C57-B11B-506D73F0B0C7}"/>
              </a:ext>
            </a:extLst>
          </p:cNvPr>
          <p:cNvSpPr>
            <a:spLocks xmlns:a="http://schemas.openxmlformats.org/drawingml/2006/main" noGrp="1"/>
          </p:cNvSpPr>
          <p:nvPr/>
        </p:nvSpPr>
        <p:spPr>
          <a:xfrm xmlns:a="http://schemas.openxmlformats.org/drawingml/2006/main">
            <a:off x="609600" y="4552950"/>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Private repository. Instructor access needs arranging before submission.</a:t>
            </a:r>
          </a:p>
        </p:txBody>
      </p:sp>
      <p:sp>
        <p:nvSpPr>
          <p:cNvPr id="7" name="">
            <a:extLst xmlns:a="http://schemas.openxmlformats.org/drawingml/2006/main">
              <a:ext uri="{FF2B5EF4-FFF2-40B4-BE49-F238E27FC236}">
                <a16:creationId xmlns:a16="http://schemas.microsoft.com/office/drawing/2014/main" id="{AAA00EFE-E2C8-4FE7-95BE-B15E090025FC}"/>
              </a:ext>
            </a:extLst>
          </p:cNvPr>
          <p:cNvSpPr>
            <a:spLocks xmlns:a="http://schemas.openxmlformats.org/drawingml/2006/main" noGrp="1"/>
          </p:cNvSpPr>
          <p:nvPr/>
        </p:nvSpPr>
        <p:spPr>
          <a:xfrm xmlns:a="http://schemas.openxmlformats.org/drawingml/2006/main">
            <a:off x="609600" y="5267325"/>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313D"/>
                </a:solidFill>
                <a:latin typeface="Arial"/>
                <a:ea typeface="Arial"/>
                <a:cs typeface="Arial"/>
              </a:defRPr>
            </a:defPPr>
            <a:lvl1pPr>
              <a:defRPr sz="1950" b="0">
                <a:solidFill>
                  <a:srgbClr val="17313D"/>
                </a:solidFill>
                <a:latin typeface="Arial"/>
                <a:ea typeface="Arial"/>
                <a:cs typeface="Arial"/>
              </a:defRPr>
            </a:lvl1pPr>
            <a:lvl2pPr>
              <a:defRPr sz="1950" b="0">
                <a:solidFill>
                  <a:srgbClr val="17313D"/>
                </a:solidFill>
                <a:latin typeface="Arial"/>
                <a:ea typeface="Arial"/>
                <a:cs typeface="Arial"/>
              </a:defRPr>
            </a:lvl2pPr>
            <a:lvl3pPr>
              <a:defRPr sz="1950" b="0">
                <a:solidFill>
                  <a:srgbClr val="17313D"/>
                </a:solidFill>
                <a:latin typeface="Arial"/>
                <a:ea typeface="Arial"/>
                <a:cs typeface="Arial"/>
              </a:defRPr>
            </a:lvl3pPr>
            <a:lvl4pPr>
              <a:defRPr sz="1950" b="0">
                <a:solidFill>
                  <a:srgbClr val="17313D"/>
                </a:solidFill>
                <a:latin typeface="Arial"/>
                <a:ea typeface="Arial"/>
                <a:cs typeface="Arial"/>
              </a:defRPr>
            </a:lvl4pPr>
            <a:lvl5pPr>
              <a:defRPr sz="1950" b="0">
                <a:solidFill>
                  <a:srgbClr val="17313D"/>
                </a:solidFill>
                <a:latin typeface="Arial"/>
                <a:ea typeface="Arial"/>
                <a:cs typeface="Arial"/>
              </a:defRPr>
            </a:lvl5pPr>
            <a:lvl6pPr>
              <a:defRPr sz="1950" b="0">
                <a:solidFill>
                  <a:srgbClr val="17313D"/>
                </a:solidFill>
                <a:latin typeface="Arial"/>
                <a:ea typeface="Arial"/>
                <a:cs typeface="Arial"/>
              </a:defRPr>
            </a:lvl6pPr>
            <a:lvl7pPr>
              <a:defRPr sz="1950" b="0">
                <a:solidFill>
                  <a:srgbClr val="17313D"/>
                </a:solidFill>
                <a:latin typeface="Arial"/>
                <a:ea typeface="Arial"/>
                <a:cs typeface="Arial"/>
              </a:defRPr>
            </a:lvl7pPr>
            <a:lvl8pPr>
              <a:defRPr sz="1950" b="0">
                <a:solidFill>
                  <a:srgbClr val="17313D"/>
                </a:solidFill>
                <a:latin typeface="Arial"/>
                <a:ea typeface="Arial"/>
                <a:cs typeface="Arial"/>
              </a:defRPr>
            </a:lvl8pPr>
            <a:lvl9pPr>
              <a:defRPr sz="1950" b="0">
                <a:solidFill>
                  <a:srgbClr val="17313D"/>
                </a:solidFill>
                <a:latin typeface="Arial"/>
                <a:ea typeface="Arial"/>
                <a:cs typeface="Arial"/>
              </a:defRPr>
            </a:lvl9pPr>
          </a:lstStyle>
          <a:p xmlns:a="http://schemas.openxmlformats.org/drawingml/2006/main">
            <a:pPr>
              <a:defRPr sz="1950" b="0">
                <a:solidFill>
                  <a:srgbClr val="17313D"/>
                </a:solidFill>
                <a:latin typeface="Arial"/>
                <a:ea typeface="Arial"/>
                <a:cs typeface="Arial"/>
              </a:defRPr>
            </a:pPr>
            <a:r>
              <a:rPr sz="1950" b="0">
                <a:solidFill>
                  <a:srgbClr val="17313D"/>
                </a:solidFill>
                <a:latin typeface="Arial"/>
                <a:ea typeface="Arial"/>
                <a:cs typeface="Arial"/>
              </a:rPr>
              <a:t>AI use: OpenAI Codex assisted source review, code, debugging,</a:t>
            </a:r>
          </a:p>
          <a:p xmlns:a="http://schemas.openxmlformats.org/drawingml/2006/main">
            <a:pPr>
              <a:defRPr sz="1950" b="0">
                <a:solidFill>
                  <a:srgbClr val="17313D"/>
                </a:solidFill>
                <a:latin typeface="Arial"/>
                <a:ea typeface="Arial"/>
                <a:cs typeface="Arial"/>
              </a:defRPr>
            </a:pPr>
            <a:r>
              <a:rPr sz="1950" b="0">
                <a:solidFill>
                  <a:srgbClr val="17313D"/>
                </a:solidFill>
                <a:latin typeface="Arial"/>
                <a:ea typeface="Arial"/>
                <a:cs typeface="Arial"/>
              </a:rPr>
              <a:t>execution, analysis, slides and speaker-note drafting.</a:t>
            </a:r>
          </a:p>
        </p:txBody>
      </p:sp>
    </p:spTree>
    <p:extLst>
      <p:ext uri="{BB962C8B-B14F-4D97-AF65-F5344CB8AC3E}">
        <p14:creationId xmlns:p14="http://schemas.microsoft.com/office/powerpoint/2010/main" val="1332106962"/>
      </p:ext>
    </p:extLst>
  </p:cSld>
</p:sld>
</file>

<file path=ppt/slides/slide1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C1F2BD8-05A7-409F-A449-8D2E4B6C9786}"/>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13D"/>
                </a:solidFill>
                <a:latin typeface="Arial"/>
                <a:ea typeface="Arial"/>
                <a:cs typeface="Arial"/>
              </a:defRPr>
            </a:defPPr>
            <a:lvl1pPr>
              <a:defRPr sz="3150" b="1">
                <a:solidFill>
                  <a:srgbClr val="17313D"/>
                </a:solidFill>
                <a:latin typeface="Arial"/>
                <a:ea typeface="Arial"/>
                <a:cs typeface="Arial"/>
              </a:defRPr>
            </a:lvl1pPr>
            <a:lvl2pPr>
              <a:defRPr sz="3150" b="1">
                <a:solidFill>
                  <a:srgbClr val="17313D"/>
                </a:solidFill>
                <a:latin typeface="Arial"/>
                <a:ea typeface="Arial"/>
                <a:cs typeface="Arial"/>
              </a:defRPr>
            </a:lvl2pPr>
            <a:lvl3pPr>
              <a:defRPr sz="3150" b="1">
                <a:solidFill>
                  <a:srgbClr val="17313D"/>
                </a:solidFill>
                <a:latin typeface="Arial"/>
                <a:ea typeface="Arial"/>
                <a:cs typeface="Arial"/>
              </a:defRPr>
            </a:lvl3pPr>
            <a:lvl4pPr>
              <a:defRPr sz="3150" b="1">
                <a:solidFill>
                  <a:srgbClr val="17313D"/>
                </a:solidFill>
                <a:latin typeface="Arial"/>
                <a:ea typeface="Arial"/>
                <a:cs typeface="Arial"/>
              </a:defRPr>
            </a:lvl4pPr>
            <a:lvl5pPr>
              <a:defRPr sz="3150" b="1">
                <a:solidFill>
                  <a:srgbClr val="17313D"/>
                </a:solidFill>
                <a:latin typeface="Arial"/>
                <a:ea typeface="Arial"/>
                <a:cs typeface="Arial"/>
              </a:defRPr>
            </a:lvl5pPr>
            <a:lvl6pPr>
              <a:defRPr sz="3150" b="1">
                <a:solidFill>
                  <a:srgbClr val="17313D"/>
                </a:solidFill>
                <a:latin typeface="Arial"/>
                <a:ea typeface="Arial"/>
                <a:cs typeface="Arial"/>
              </a:defRPr>
            </a:lvl6pPr>
            <a:lvl7pPr>
              <a:defRPr sz="3150" b="1">
                <a:solidFill>
                  <a:srgbClr val="17313D"/>
                </a:solidFill>
                <a:latin typeface="Arial"/>
                <a:ea typeface="Arial"/>
                <a:cs typeface="Arial"/>
              </a:defRPr>
            </a:lvl7pPr>
            <a:lvl8pPr>
              <a:defRPr sz="3150" b="1">
                <a:solidFill>
                  <a:srgbClr val="17313D"/>
                </a:solidFill>
                <a:latin typeface="Arial"/>
                <a:ea typeface="Arial"/>
                <a:cs typeface="Arial"/>
              </a:defRPr>
            </a:lvl8pPr>
            <a:lvl9pPr>
              <a:defRPr sz="3150" b="1">
                <a:solidFill>
                  <a:srgbClr val="17313D"/>
                </a:solidFill>
                <a:latin typeface="Arial"/>
                <a:ea typeface="Arial"/>
                <a:cs typeface="Arial"/>
              </a:defRPr>
            </a:lvl9pPr>
          </a:lstStyle>
          <a:p xmlns:a="http://schemas.openxmlformats.org/drawingml/2006/main">
            <a:pPr>
              <a:defRPr sz="3150" b="1">
                <a:solidFill>
                  <a:srgbClr val="17313D"/>
                </a:solidFill>
                <a:latin typeface="Arial"/>
                <a:ea typeface="Arial"/>
                <a:cs typeface="Arial"/>
              </a:defRPr>
            </a:pPr>
            <a:r>
              <a:rPr sz="3150" b="1">
                <a:solidFill>
                  <a:srgbClr val="17313D"/>
                </a:solidFill>
                <a:latin typeface="Arial"/>
                <a:ea typeface="Arial"/>
                <a:cs typeface="Arial"/>
              </a:rPr>
              <a:t>Backup: full accuracy table and uncertainty</a:t>
            </a:r>
          </a:p>
        </p:txBody>
      </p:sp>
      <p:graphicFrame>
        <p:nvGraphicFramePr>
          <p:cNvPr id="2" name="">
            <a:extLst xmlns:a="http://schemas.openxmlformats.org/drawingml/2006/main">
              <a:ext uri="{FF2B5EF4-FFF2-40B4-BE49-F238E27FC236}">
                <a16:creationId xmlns:a16="http://schemas.microsoft.com/office/drawing/2014/main" id="{37889CE1-3ABE-4F93-8E17-9D18B4CAA50F}"/>
              </a:ext>
            </a:extLst>
          </p:cNvPr>
          <p:cNvGraphicFramePr/>
          <p:nvPr/>
        </p:nvGraphicFramePr>
        <p:xfrm>
          <a:off xmlns:a="http://schemas.openxmlformats.org/drawingml/2006/main" x="609600" y="1685925"/>
          <a:ext xmlns:a="http://schemas.openxmlformats.org/drawingml/2006/main" cx="10972800" cy="2524125"/>
        </p:xfrm>
        <a:graphic xmlns:a="http://schemas.openxmlformats.org/drawingml/2006/main">
          <a:graphicData uri="http://schemas.openxmlformats.org/drawingml/2006/table">
            <a:tbl>
              <a:tblPr/>
              <a:tblGrid>
                <a:gridCol w="2809875"/>
                <a:gridCol w="1628775"/>
                <a:gridCol w="1628775"/>
                <a:gridCol w="1628775"/>
                <a:gridCol w="1638300"/>
                <a:gridCol w="1638300"/>
              </a:tblGrid>
              <a:tr h="504825">
                <a:tc>
                  <a:txBody>
                    <a:bodyPr/>
                    <a:lstStyle/>
                    <a:p>
                      <a:r>
                        <a:rPr sz="1725" b="1">
                          <a:solidFill>
                            <a:srgbClr val="007F7B"/>
                          </a:solidFill>
                          <a:latin typeface="Arial"/>
                          <a:ea typeface="Arial"/>
                          <a:cs typeface="Arial"/>
                        </a:rPr>
                        <a:t>Model / fill</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Clean</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Prefix</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Suffix</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Center</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Random</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504825">
                <a:tc>
                  <a:txBody>
                    <a:bodyPr/>
                    <a:lstStyle/>
                    <a:p>
                      <a:r>
                        <a:rPr sz="1725" b="0">
                          <a:solidFill>
                            <a:srgbClr val="17313D"/>
                          </a:solidFill>
                          <a:latin typeface="Arial"/>
                          <a:ea typeface="Arial"/>
                          <a:cs typeface="Arial"/>
                        </a:rPr>
                        <a:t>AIMv2 / gray</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93.5%</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46.6%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28.6%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87.0%</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33.6%</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04825">
                <a:tc>
                  <a:txBody>
                    <a:bodyPr/>
                    <a:lstStyle/>
                    <a:p>
                      <a:r>
                        <a:rPr sz="1725" b="0">
                          <a:solidFill>
                            <a:srgbClr val="17313D"/>
                          </a:solidFill>
                          <a:latin typeface="Arial"/>
                          <a:ea typeface="Arial"/>
                          <a:cs typeface="Arial"/>
                        </a:rPr>
                        <a:t>DINOv2 / gray</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84.6%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26.6%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26.5%</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63.1%</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69.6%</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04825">
                <a:tc>
                  <a:txBody>
                    <a:bodyPr/>
                    <a:lstStyle/>
                    <a:p>
                      <a:r>
                        <a:rPr sz="1725" b="0">
                          <a:solidFill>
                            <a:srgbClr val="17313D"/>
                          </a:solidFill>
                          <a:latin typeface="Arial"/>
                          <a:ea typeface="Arial"/>
                          <a:cs typeface="Arial"/>
                        </a:rPr>
                        <a:t>AIMv2 / black</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93.5%</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44.5%</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28.5%</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87.3%</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30.4%</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04825">
                <a:tc>
                  <a:txBody>
                    <a:bodyPr/>
                    <a:lstStyle/>
                    <a:p>
                      <a:r>
                        <a:rPr sz="1725" b="0">
                          <a:solidFill>
                            <a:srgbClr val="17313D"/>
                          </a:solidFill>
                          <a:latin typeface="Arial"/>
                          <a:ea typeface="Arial"/>
                          <a:cs typeface="Arial"/>
                        </a:rPr>
                        <a:t>DINOv2 / black</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84.6%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28.8%</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29.3%</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61.9%</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62.2%</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874D698-7139-4B19-8F87-B807D5F4E028}"/>
              </a:ext>
            </a:extLst>
          </p:cNvPr>
          <p:cNvSpPr>
            <a:spLocks xmlns:a="http://schemas.openxmlformats.org/drawingml/2006/main" noGrp="1"/>
          </p:cNvSpPr>
          <p:nvPr/>
        </p:nvSpPr>
        <p:spPr>
          <a:xfrm xmlns:a="http://schemas.openxmlformats.org/drawingml/2006/main">
            <a:off x="609600" y="4667250"/>
            <a:ext cx="10858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13D"/>
                </a:solidFill>
                <a:latin typeface="Arial"/>
                <a:ea typeface="Arial"/>
                <a:cs typeface="Arial"/>
              </a:defRPr>
            </a:defPPr>
            <a:lvl1pPr>
              <a:defRPr sz="1875" b="0">
                <a:solidFill>
                  <a:srgbClr val="17313D"/>
                </a:solidFill>
                <a:latin typeface="Arial"/>
                <a:ea typeface="Arial"/>
                <a:cs typeface="Arial"/>
              </a:defRPr>
            </a:lvl1pPr>
            <a:lvl2pPr>
              <a:defRPr sz="1875" b="0">
                <a:solidFill>
                  <a:srgbClr val="17313D"/>
                </a:solidFill>
                <a:latin typeface="Arial"/>
                <a:ea typeface="Arial"/>
                <a:cs typeface="Arial"/>
              </a:defRPr>
            </a:lvl2pPr>
            <a:lvl3pPr>
              <a:defRPr sz="1875" b="0">
                <a:solidFill>
                  <a:srgbClr val="17313D"/>
                </a:solidFill>
                <a:latin typeface="Arial"/>
                <a:ea typeface="Arial"/>
                <a:cs typeface="Arial"/>
              </a:defRPr>
            </a:lvl3pPr>
            <a:lvl4pPr>
              <a:defRPr sz="1875" b="0">
                <a:solidFill>
                  <a:srgbClr val="17313D"/>
                </a:solidFill>
                <a:latin typeface="Arial"/>
                <a:ea typeface="Arial"/>
                <a:cs typeface="Arial"/>
              </a:defRPr>
            </a:lvl4pPr>
            <a:lvl5pPr>
              <a:defRPr sz="1875" b="0">
                <a:solidFill>
                  <a:srgbClr val="17313D"/>
                </a:solidFill>
                <a:latin typeface="Arial"/>
                <a:ea typeface="Arial"/>
                <a:cs typeface="Arial"/>
              </a:defRPr>
            </a:lvl5pPr>
            <a:lvl6pPr>
              <a:defRPr sz="1875" b="0">
                <a:solidFill>
                  <a:srgbClr val="17313D"/>
                </a:solidFill>
                <a:latin typeface="Arial"/>
                <a:ea typeface="Arial"/>
                <a:cs typeface="Arial"/>
              </a:defRPr>
            </a:lvl6pPr>
            <a:lvl7pPr>
              <a:defRPr sz="1875" b="0">
                <a:solidFill>
                  <a:srgbClr val="17313D"/>
                </a:solidFill>
                <a:latin typeface="Arial"/>
                <a:ea typeface="Arial"/>
                <a:cs typeface="Arial"/>
              </a:defRPr>
            </a:lvl7pPr>
            <a:lvl8pPr>
              <a:defRPr sz="1875" b="0">
                <a:solidFill>
                  <a:srgbClr val="17313D"/>
                </a:solidFill>
                <a:latin typeface="Arial"/>
                <a:ea typeface="Arial"/>
                <a:cs typeface="Arial"/>
              </a:defRPr>
            </a:lvl8pPr>
            <a:lvl9pPr>
              <a:defRPr sz="1875" b="0">
                <a:solidFill>
                  <a:srgbClr val="17313D"/>
                </a:solidFill>
                <a:latin typeface="Arial"/>
                <a:ea typeface="Arial"/>
                <a:cs typeface="Arial"/>
              </a:defRPr>
            </a:lvl9pPr>
          </a:lstStyle>
          <a:p xmlns:a="http://schemas.openxmlformats.org/drawingml/2006/main">
            <a:pPr>
              <a:defRPr sz="1875" b="0">
                <a:solidFill>
                  <a:srgbClr val="17313D"/>
                </a:solidFill>
                <a:latin typeface="Arial"/>
                <a:ea typeface="Arial"/>
                <a:cs typeface="Arial"/>
              </a:defRPr>
            </a:pPr>
            <a:r>
              <a:rPr sz="1875" b="0">
                <a:solidFill>
                  <a:srgbClr val="17313D"/>
                </a:solidFill>
                <a:latin typeface="Arial"/>
                <a:ea typeface="Arial"/>
                <a:cs typeface="Arial"/>
              </a:rPr>
              <a:t>Clean = 100% image visible. All other columns = 25% image visible.</a:t>
            </a:r>
          </a:p>
          <a:p xmlns:a="http://schemas.openxmlformats.org/drawingml/2006/main">
            <a:pPr>
              <a:defRPr sz="1875" b="0">
                <a:solidFill>
                  <a:srgbClr val="17313D"/>
                </a:solidFill>
                <a:latin typeface="Arial"/>
                <a:ea typeface="Arial"/>
                <a:cs typeface="Arial"/>
              </a:defRPr>
            </a:pPr>
            <a:r>
              <a:rPr sz="1875" b="0">
                <a:solidFill>
                  <a:srgbClr val="17313D"/>
                </a:solidFill>
                <a:latin typeface="Arial"/>
                <a:ea typeface="Arial"/>
                <a:cs typeface="Arial"/>
              </a:rPr>
              <a:t>10,000 breed-stratified image bootstrap resamples, repeated masks kept together.</a:t>
            </a:r>
          </a:p>
          <a:p xmlns:a="http://schemas.openxmlformats.org/drawingml/2006/main">
            <a:pPr>
              <a:defRPr sz="1875" b="0">
                <a:solidFill>
                  <a:srgbClr val="17313D"/>
                </a:solidFill>
                <a:latin typeface="Arial"/>
                <a:ea typeface="Arial"/>
                <a:cs typeface="Arial"/>
              </a:defRPr>
            </a:pPr>
            <a:r>
              <a:rPr sz="1875" b="0">
                <a:solidFill>
                  <a:srgbClr val="17313D"/>
                </a:solidFill>
                <a:latin typeface="Arial"/>
                <a:ea typeface="Arial"/>
                <a:cs typeface="Arial"/>
              </a:rPr>
              <a:t>Seven planned contrasts receive Bonferroni simultaneous 95% intervals.</a:t>
            </a:r>
          </a:p>
          <a:p xmlns:a="http://schemas.openxmlformats.org/drawingml/2006/main">
            <a:pPr>
              <a:defRPr sz="1875" b="0">
                <a:solidFill>
                  <a:srgbClr val="17313D"/>
                </a:solidFill>
                <a:latin typeface="Arial"/>
                <a:ea typeface="Arial"/>
                <a:cs typeface="Arial"/>
              </a:defRPr>
            </a:pPr>
            <a:r>
              <a:rPr sz="1875" b="0">
                <a:solidFill>
                  <a:srgbClr val="17313D"/>
                </a:solidFill>
                <a:latin typeface="Arial"/>
                <a:ea typeface="Arial"/>
                <a:cs typeface="Arial"/>
              </a:rPr>
              <a:t>Intervals condition on the fixed encoders and classifiers.</a:t>
            </a:r>
          </a:p>
        </p:txBody>
      </p:sp>
    </p:spTree>
    <p:extLst>
      <p:ext uri="{BB962C8B-B14F-4D97-AF65-F5344CB8AC3E}">
        <p14:creationId xmlns:p14="http://schemas.microsoft.com/office/powerpoint/2010/main" val="1038236844"/>
      </p:ext>
    </p:extLst>
  </p:cSld>
</p:sld>
</file>

<file path=ppt/slides/slide1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A07760-899A-48A2-AF7B-4FFA463DCEAD}"/>
              </a:ext>
            </a:extLst>
          </p:cNvPr>
          <p:cNvSpPr>
            <a:spLocks xmlns:a="http://schemas.openxmlformats.org/drawingml/2006/main" noGrp="1"/>
          </p:cNvSpPr>
          <p:nvPr/>
        </p:nvSpPr>
        <p:spPr>
          <a:xfrm xmlns:a="http://schemas.openxmlformats.org/drawingml/2006/main">
            <a:off x="609600" y="409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313D"/>
                </a:solidFill>
                <a:latin typeface="Arial"/>
                <a:ea typeface="Arial"/>
                <a:cs typeface="Arial"/>
              </a:defRPr>
            </a:defPPr>
            <a:lvl1pPr>
              <a:defRPr sz="3150" b="1">
                <a:solidFill>
                  <a:srgbClr val="17313D"/>
                </a:solidFill>
                <a:latin typeface="Arial"/>
                <a:ea typeface="Arial"/>
                <a:cs typeface="Arial"/>
              </a:defRPr>
            </a:lvl1pPr>
            <a:lvl2pPr>
              <a:defRPr sz="3150" b="1">
                <a:solidFill>
                  <a:srgbClr val="17313D"/>
                </a:solidFill>
                <a:latin typeface="Arial"/>
                <a:ea typeface="Arial"/>
                <a:cs typeface="Arial"/>
              </a:defRPr>
            </a:lvl2pPr>
            <a:lvl3pPr>
              <a:defRPr sz="3150" b="1">
                <a:solidFill>
                  <a:srgbClr val="17313D"/>
                </a:solidFill>
                <a:latin typeface="Arial"/>
                <a:ea typeface="Arial"/>
                <a:cs typeface="Arial"/>
              </a:defRPr>
            </a:lvl3pPr>
            <a:lvl4pPr>
              <a:defRPr sz="3150" b="1">
                <a:solidFill>
                  <a:srgbClr val="17313D"/>
                </a:solidFill>
                <a:latin typeface="Arial"/>
                <a:ea typeface="Arial"/>
                <a:cs typeface="Arial"/>
              </a:defRPr>
            </a:lvl4pPr>
            <a:lvl5pPr>
              <a:defRPr sz="3150" b="1">
                <a:solidFill>
                  <a:srgbClr val="17313D"/>
                </a:solidFill>
                <a:latin typeface="Arial"/>
                <a:ea typeface="Arial"/>
                <a:cs typeface="Arial"/>
              </a:defRPr>
            </a:lvl5pPr>
            <a:lvl6pPr>
              <a:defRPr sz="3150" b="1">
                <a:solidFill>
                  <a:srgbClr val="17313D"/>
                </a:solidFill>
                <a:latin typeface="Arial"/>
                <a:ea typeface="Arial"/>
                <a:cs typeface="Arial"/>
              </a:defRPr>
            </a:lvl6pPr>
            <a:lvl7pPr>
              <a:defRPr sz="3150" b="1">
                <a:solidFill>
                  <a:srgbClr val="17313D"/>
                </a:solidFill>
                <a:latin typeface="Arial"/>
                <a:ea typeface="Arial"/>
                <a:cs typeface="Arial"/>
              </a:defRPr>
            </a:lvl7pPr>
            <a:lvl8pPr>
              <a:defRPr sz="3150" b="1">
                <a:solidFill>
                  <a:srgbClr val="17313D"/>
                </a:solidFill>
                <a:latin typeface="Arial"/>
                <a:ea typeface="Arial"/>
                <a:cs typeface="Arial"/>
              </a:defRPr>
            </a:lvl8pPr>
            <a:lvl9pPr>
              <a:defRPr sz="3150" b="1">
                <a:solidFill>
                  <a:srgbClr val="17313D"/>
                </a:solidFill>
                <a:latin typeface="Arial"/>
                <a:ea typeface="Arial"/>
                <a:cs typeface="Arial"/>
              </a:defRPr>
            </a:lvl9pPr>
          </a:lstStyle>
          <a:p xmlns:a="http://schemas.openxmlformats.org/drawingml/2006/main">
            <a:pPr>
              <a:defRPr sz="3150" b="1">
                <a:solidFill>
                  <a:srgbClr val="17313D"/>
                </a:solidFill>
                <a:latin typeface="Arial"/>
                <a:ea typeface="Arial"/>
                <a:cs typeface="Arial"/>
              </a:defRPr>
            </a:pPr>
            <a:r>
              <a:rPr sz="3150" b="1">
                <a:solidFill>
                  <a:srgbClr val="17313D"/>
                </a:solidFill>
                <a:latin typeface="Arial"/>
                <a:ea typeface="Arial"/>
                <a:cs typeface="Arial"/>
              </a:rPr>
              <a:t>Backup: sources and reproducible evidence</a:t>
            </a:r>
          </a:p>
        </p:txBody>
      </p:sp>
      <p:sp>
        <p:nvSpPr>
          <p:cNvPr id="2" name="">
            <a:extLst xmlns:a="http://schemas.openxmlformats.org/drawingml/2006/main">
              <a:ext uri="{FF2B5EF4-FFF2-40B4-BE49-F238E27FC236}">
                <a16:creationId xmlns:a16="http://schemas.microsoft.com/office/drawing/2014/main" id="{C375AB37-B79E-47BF-B625-24EF22023146}"/>
              </a:ext>
            </a:extLst>
          </p:cNvPr>
          <p:cNvSpPr>
            <a:spLocks xmlns:a="http://schemas.openxmlformats.org/drawingml/2006/main" noGrp="1"/>
          </p:cNvSpPr>
          <p:nvPr/>
        </p:nvSpPr>
        <p:spPr>
          <a:xfrm xmlns:a="http://schemas.openxmlformats.org/drawingml/2006/main">
            <a:off x="609600" y="16954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Arial"/>
                <a:ea typeface="Arial"/>
                <a:cs typeface="Arial"/>
              </a:defRPr>
            </a:defPPr>
            <a:lvl1pPr>
              <a:defRPr sz="1950" b="1">
                <a:solidFill>
                  <a:srgbClr val="007F7B"/>
                </a:solidFill>
                <a:latin typeface="Arial"/>
                <a:ea typeface="Arial"/>
                <a:cs typeface="Arial"/>
              </a:defRPr>
            </a:lvl1pPr>
            <a:lvl2pPr>
              <a:defRPr sz="1950" b="1">
                <a:solidFill>
                  <a:srgbClr val="007F7B"/>
                </a:solidFill>
                <a:latin typeface="Arial"/>
                <a:ea typeface="Arial"/>
                <a:cs typeface="Arial"/>
              </a:defRPr>
            </a:lvl2pPr>
            <a:lvl3pPr>
              <a:defRPr sz="1950" b="1">
                <a:solidFill>
                  <a:srgbClr val="007F7B"/>
                </a:solidFill>
                <a:latin typeface="Arial"/>
                <a:ea typeface="Arial"/>
                <a:cs typeface="Arial"/>
              </a:defRPr>
            </a:lvl3pPr>
            <a:lvl4pPr>
              <a:defRPr sz="1950" b="1">
                <a:solidFill>
                  <a:srgbClr val="007F7B"/>
                </a:solidFill>
                <a:latin typeface="Arial"/>
                <a:ea typeface="Arial"/>
                <a:cs typeface="Arial"/>
              </a:defRPr>
            </a:lvl4pPr>
            <a:lvl5pPr>
              <a:defRPr sz="1950" b="1">
                <a:solidFill>
                  <a:srgbClr val="007F7B"/>
                </a:solidFill>
                <a:latin typeface="Arial"/>
                <a:ea typeface="Arial"/>
                <a:cs typeface="Arial"/>
              </a:defRPr>
            </a:lvl5pPr>
            <a:lvl6pPr>
              <a:defRPr sz="1950" b="1">
                <a:solidFill>
                  <a:srgbClr val="007F7B"/>
                </a:solidFill>
                <a:latin typeface="Arial"/>
                <a:ea typeface="Arial"/>
                <a:cs typeface="Arial"/>
              </a:defRPr>
            </a:lvl6pPr>
            <a:lvl7pPr>
              <a:defRPr sz="1950" b="1">
                <a:solidFill>
                  <a:srgbClr val="007F7B"/>
                </a:solidFill>
                <a:latin typeface="Arial"/>
                <a:ea typeface="Arial"/>
                <a:cs typeface="Arial"/>
              </a:defRPr>
            </a:lvl7pPr>
            <a:lvl8pPr>
              <a:defRPr sz="1950" b="1">
                <a:solidFill>
                  <a:srgbClr val="007F7B"/>
                </a:solidFill>
                <a:latin typeface="Arial"/>
                <a:ea typeface="Arial"/>
                <a:cs typeface="Arial"/>
              </a:defRPr>
            </a:lvl8pPr>
            <a:lvl9pPr>
              <a:defRPr sz="1950" b="1">
                <a:solidFill>
                  <a:srgbClr val="007F7B"/>
                </a:solidFill>
                <a:latin typeface="Arial"/>
                <a:ea typeface="Arial"/>
                <a:cs typeface="Arial"/>
              </a:defRPr>
            </a:lvl9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hlinkClick xmlns:r="http://schemas.openxmlformats.org/officeDocument/2006/relationships" r:id="R6f3dab641cd2489f"/>
              </a:rPr>
              <a:t>Oxford-IIIT Pet, Parkhi et al. (2012)</a:t>
            </a:r>
          </a:p>
        </p:txBody>
      </p:sp>
      <p:sp>
        <p:nvSpPr>
          <p:cNvPr id="3" name="">
            <a:extLst xmlns:a="http://schemas.openxmlformats.org/drawingml/2006/main">
              <a:ext uri="{FF2B5EF4-FFF2-40B4-BE49-F238E27FC236}">
                <a16:creationId xmlns:a16="http://schemas.microsoft.com/office/drawing/2014/main" id="{0D4F083B-E676-4ED6-A4ED-26A923C82EF7}"/>
              </a:ext>
            </a:extLst>
          </p:cNvPr>
          <p:cNvSpPr>
            <a:spLocks xmlns:a="http://schemas.openxmlformats.org/drawingml/2006/main" noGrp="1"/>
          </p:cNvSpPr>
          <p:nvPr/>
        </p:nvSpPr>
        <p:spPr>
          <a:xfrm xmlns:a="http://schemas.openxmlformats.org/drawingml/2006/main">
            <a:off x="609600" y="23145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Arial"/>
                <a:ea typeface="Arial"/>
                <a:cs typeface="Arial"/>
              </a:defRPr>
            </a:defPPr>
            <a:lvl1pPr>
              <a:defRPr sz="1950" b="1">
                <a:solidFill>
                  <a:srgbClr val="007F7B"/>
                </a:solidFill>
                <a:latin typeface="Arial"/>
                <a:ea typeface="Arial"/>
                <a:cs typeface="Arial"/>
              </a:defRPr>
            </a:lvl1pPr>
            <a:lvl2pPr>
              <a:defRPr sz="1950" b="1">
                <a:solidFill>
                  <a:srgbClr val="007F7B"/>
                </a:solidFill>
                <a:latin typeface="Arial"/>
                <a:ea typeface="Arial"/>
                <a:cs typeface="Arial"/>
              </a:defRPr>
            </a:lvl2pPr>
            <a:lvl3pPr>
              <a:defRPr sz="1950" b="1">
                <a:solidFill>
                  <a:srgbClr val="007F7B"/>
                </a:solidFill>
                <a:latin typeface="Arial"/>
                <a:ea typeface="Arial"/>
                <a:cs typeface="Arial"/>
              </a:defRPr>
            </a:lvl3pPr>
            <a:lvl4pPr>
              <a:defRPr sz="1950" b="1">
                <a:solidFill>
                  <a:srgbClr val="007F7B"/>
                </a:solidFill>
                <a:latin typeface="Arial"/>
                <a:ea typeface="Arial"/>
                <a:cs typeface="Arial"/>
              </a:defRPr>
            </a:lvl4pPr>
            <a:lvl5pPr>
              <a:defRPr sz="1950" b="1">
                <a:solidFill>
                  <a:srgbClr val="007F7B"/>
                </a:solidFill>
                <a:latin typeface="Arial"/>
                <a:ea typeface="Arial"/>
                <a:cs typeface="Arial"/>
              </a:defRPr>
            </a:lvl5pPr>
            <a:lvl6pPr>
              <a:defRPr sz="1950" b="1">
                <a:solidFill>
                  <a:srgbClr val="007F7B"/>
                </a:solidFill>
                <a:latin typeface="Arial"/>
                <a:ea typeface="Arial"/>
                <a:cs typeface="Arial"/>
              </a:defRPr>
            </a:lvl6pPr>
            <a:lvl7pPr>
              <a:defRPr sz="1950" b="1">
                <a:solidFill>
                  <a:srgbClr val="007F7B"/>
                </a:solidFill>
                <a:latin typeface="Arial"/>
                <a:ea typeface="Arial"/>
                <a:cs typeface="Arial"/>
              </a:defRPr>
            </a:lvl7pPr>
            <a:lvl8pPr>
              <a:defRPr sz="1950" b="1">
                <a:solidFill>
                  <a:srgbClr val="007F7B"/>
                </a:solidFill>
                <a:latin typeface="Arial"/>
                <a:ea typeface="Arial"/>
                <a:cs typeface="Arial"/>
              </a:defRPr>
            </a:lvl8pPr>
            <a:lvl9pPr>
              <a:defRPr sz="1950" b="1">
                <a:solidFill>
                  <a:srgbClr val="007F7B"/>
                </a:solidFill>
                <a:latin typeface="Arial"/>
                <a:ea typeface="Arial"/>
                <a:cs typeface="Arial"/>
              </a:defRPr>
            </a:lvl9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hlinkClick xmlns:r="http://schemas.openxmlformats.org/officeDocument/2006/relationships" r:id="R3335b2670e1e4738"/>
              </a:rPr>
              <a:t>Intriguing Properties of Vision Transformers / PatchDrop (2021)</a:t>
            </a:r>
          </a:p>
        </p:txBody>
      </p:sp>
      <p:sp>
        <p:nvSpPr>
          <p:cNvPr id="4" name="">
            <a:extLst xmlns:a="http://schemas.openxmlformats.org/drawingml/2006/main">
              <a:ext uri="{FF2B5EF4-FFF2-40B4-BE49-F238E27FC236}">
                <a16:creationId xmlns:a16="http://schemas.microsoft.com/office/drawing/2014/main" id="{48BA004F-D11A-4FB6-9FB4-DCB141D5643D}"/>
              </a:ext>
            </a:extLst>
          </p:cNvPr>
          <p:cNvSpPr>
            <a:spLocks xmlns:a="http://schemas.openxmlformats.org/drawingml/2006/main" noGrp="1"/>
          </p:cNvSpPr>
          <p:nvPr/>
        </p:nvSpPr>
        <p:spPr>
          <a:xfrm xmlns:a="http://schemas.openxmlformats.org/drawingml/2006/main">
            <a:off x="609600" y="29337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Arial"/>
                <a:ea typeface="Arial"/>
                <a:cs typeface="Arial"/>
              </a:defRPr>
            </a:defPPr>
            <a:lvl1pPr>
              <a:defRPr sz="1950" b="1">
                <a:solidFill>
                  <a:srgbClr val="007F7B"/>
                </a:solidFill>
                <a:latin typeface="Arial"/>
                <a:ea typeface="Arial"/>
                <a:cs typeface="Arial"/>
              </a:defRPr>
            </a:lvl1pPr>
            <a:lvl2pPr>
              <a:defRPr sz="1950" b="1">
                <a:solidFill>
                  <a:srgbClr val="007F7B"/>
                </a:solidFill>
                <a:latin typeface="Arial"/>
                <a:ea typeface="Arial"/>
                <a:cs typeface="Arial"/>
              </a:defRPr>
            </a:lvl2pPr>
            <a:lvl3pPr>
              <a:defRPr sz="1950" b="1">
                <a:solidFill>
                  <a:srgbClr val="007F7B"/>
                </a:solidFill>
                <a:latin typeface="Arial"/>
                <a:ea typeface="Arial"/>
                <a:cs typeface="Arial"/>
              </a:defRPr>
            </a:lvl3pPr>
            <a:lvl4pPr>
              <a:defRPr sz="1950" b="1">
                <a:solidFill>
                  <a:srgbClr val="007F7B"/>
                </a:solidFill>
                <a:latin typeface="Arial"/>
                <a:ea typeface="Arial"/>
                <a:cs typeface="Arial"/>
              </a:defRPr>
            </a:lvl4pPr>
            <a:lvl5pPr>
              <a:defRPr sz="1950" b="1">
                <a:solidFill>
                  <a:srgbClr val="007F7B"/>
                </a:solidFill>
                <a:latin typeface="Arial"/>
                <a:ea typeface="Arial"/>
                <a:cs typeface="Arial"/>
              </a:defRPr>
            </a:lvl5pPr>
            <a:lvl6pPr>
              <a:defRPr sz="1950" b="1">
                <a:solidFill>
                  <a:srgbClr val="007F7B"/>
                </a:solidFill>
                <a:latin typeface="Arial"/>
                <a:ea typeface="Arial"/>
                <a:cs typeface="Arial"/>
              </a:defRPr>
            </a:lvl6pPr>
            <a:lvl7pPr>
              <a:defRPr sz="1950" b="1">
                <a:solidFill>
                  <a:srgbClr val="007F7B"/>
                </a:solidFill>
                <a:latin typeface="Arial"/>
                <a:ea typeface="Arial"/>
                <a:cs typeface="Arial"/>
              </a:defRPr>
            </a:lvl7pPr>
            <a:lvl8pPr>
              <a:defRPr sz="1950" b="1">
                <a:solidFill>
                  <a:srgbClr val="007F7B"/>
                </a:solidFill>
                <a:latin typeface="Arial"/>
                <a:ea typeface="Arial"/>
                <a:cs typeface="Arial"/>
              </a:defRPr>
            </a:lvl8pPr>
            <a:lvl9pPr>
              <a:defRPr sz="1950" b="1">
                <a:solidFill>
                  <a:srgbClr val="007F7B"/>
                </a:solidFill>
                <a:latin typeface="Arial"/>
                <a:ea typeface="Arial"/>
                <a:cs typeface="Arial"/>
              </a:defRPr>
            </a:lvl9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hlinkClick xmlns:r="http://schemas.openxmlformats.org/officeDocument/2006/relationships" r:id="R745df511673141bb"/>
              </a:rPr>
              <a:t>Noise or Signal: The Role of Image Backgrounds (2020)</a:t>
            </a:r>
          </a:p>
        </p:txBody>
      </p:sp>
      <p:sp>
        <p:nvSpPr>
          <p:cNvPr id="5" name="">
            <a:extLst xmlns:a="http://schemas.openxmlformats.org/drawingml/2006/main">
              <a:ext uri="{FF2B5EF4-FFF2-40B4-BE49-F238E27FC236}">
                <a16:creationId xmlns:a16="http://schemas.microsoft.com/office/drawing/2014/main" id="{840279A6-E22E-46E0-9F27-89B889A8EFE3}"/>
              </a:ext>
            </a:extLst>
          </p:cNvPr>
          <p:cNvSpPr>
            <a:spLocks xmlns:a="http://schemas.openxmlformats.org/drawingml/2006/main" noGrp="1"/>
          </p:cNvSpPr>
          <p:nvPr/>
        </p:nvSpPr>
        <p:spPr>
          <a:xfrm xmlns:a="http://schemas.openxmlformats.org/drawingml/2006/main">
            <a:off x="609600" y="3552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Arial"/>
                <a:ea typeface="Arial"/>
                <a:cs typeface="Arial"/>
              </a:defRPr>
            </a:defPPr>
            <a:lvl1pPr>
              <a:defRPr sz="1950" b="1">
                <a:solidFill>
                  <a:srgbClr val="007F7B"/>
                </a:solidFill>
                <a:latin typeface="Arial"/>
                <a:ea typeface="Arial"/>
                <a:cs typeface="Arial"/>
              </a:defRPr>
            </a:lvl1pPr>
            <a:lvl2pPr>
              <a:defRPr sz="1950" b="1">
                <a:solidFill>
                  <a:srgbClr val="007F7B"/>
                </a:solidFill>
                <a:latin typeface="Arial"/>
                <a:ea typeface="Arial"/>
                <a:cs typeface="Arial"/>
              </a:defRPr>
            </a:lvl2pPr>
            <a:lvl3pPr>
              <a:defRPr sz="1950" b="1">
                <a:solidFill>
                  <a:srgbClr val="007F7B"/>
                </a:solidFill>
                <a:latin typeface="Arial"/>
                <a:ea typeface="Arial"/>
                <a:cs typeface="Arial"/>
              </a:defRPr>
            </a:lvl3pPr>
            <a:lvl4pPr>
              <a:defRPr sz="1950" b="1">
                <a:solidFill>
                  <a:srgbClr val="007F7B"/>
                </a:solidFill>
                <a:latin typeface="Arial"/>
                <a:ea typeface="Arial"/>
                <a:cs typeface="Arial"/>
              </a:defRPr>
            </a:lvl4pPr>
            <a:lvl5pPr>
              <a:defRPr sz="1950" b="1">
                <a:solidFill>
                  <a:srgbClr val="007F7B"/>
                </a:solidFill>
                <a:latin typeface="Arial"/>
                <a:ea typeface="Arial"/>
                <a:cs typeface="Arial"/>
              </a:defRPr>
            </a:lvl5pPr>
            <a:lvl6pPr>
              <a:defRPr sz="1950" b="1">
                <a:solidFill>
                  <a:srgbClr val="007F7B"/>
                </a:solidFill>
                <a:latin typeface="Arial"/>
                <a:ea typeface="Arial"/>
                <a:cs typeface="Arial"/>
              </a:defRPr>
            </a:lvl6pPr>
            <a:lvl7pPr>
              <a:defRPr sz="1950" b="1">
                <a:solidFill>
                  <a:srgbClr val="007F7B"/>
                </a:solidFill>
                <a:latin typeface="Arial"/>
                <a:ea typeface="Arial"/>
                <a:cs typeface="Arial"/>
              </a:defRPr>
            </a:lvl7pPr>
            <a:lvl8pPr>
              <a:defRPr sz="1950" b="1">
                <a:solidFill>
                  <a:srgbClr val="007F7B"/>
                </a:solidFill>
                <a:latin typeface="Arial"/>
                <a:ea typeface="Arial"/>
                <a:cs typeface="Arial"/>
              </a:defRPr>
            </a:lvl8pPr>
            <a:lvl9pPr>
              <a:defRPr sz="1950" b="1">
                <a:solidFill>
                  <a:srgbClr val="007F7B"/>
                </a:solidFill>
                <a:latin typeface="Arial"/>
                <a:ea typeface="Arial"/>
                <a:cs typeface="Arial"/>
              </a:defRPr>
            </a:lvl9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hlinkClick xmlns:r="http://schemas.openxmlformats.org/officeDocument/2006/relationships" r:id="Rdc9c34bfa52a4547"/>
              </a:rPr>
              <a:t>AIMv2, official implementation</a:t>
            </a:r>
          </a:p>
        </p:txBody>
      </p:sp>
      <p:sp>
        <p:nvSpPr>
          <p:cNvPr id="6" name="">
            <a:extLst xmlns:a="http://schemas.openxmlformats.org/drawingml/2006/main">
              <a:ext uri="{FF2B5EF4-FFF2-40B4-BE49-F238E27FC236}">
                <a16:creationId xmlns:a16="http://schemas.microsoft.com/office/drawing/2014/main" id="{66308231-A270-48A9-8C0C-3CC075A17809}"/>
              </a:ext>
            </a:extLst>
          </p:cNvPr>
          <p:cNvSpPr>
            <a:spLocks xmlns:a="http://schemas.openxmlformats.org/drawingml/2006/main" noGrp="1"/>
          </p:cNvSpPr>
          <p:nvPr/>
        </p:nvSpPr>
        <p:spPr>
          <a:xfrm xmlns:a="http://schemas.openxmlformats.org/drawingml/2006/main">
            <a:off x="609600" y="41719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Arial"/>
                <a:ea typeface="Arial"/>
                <a:cs typeface="Arial"/>
              </a:defRPr>
            </a:defPPr>
            <a:lvl1pPr>
              <a:defRPr sz="1950" b="1">
                <a:solidFill>
                  <a:srgbClr val="007F7B"/>
                </a:solidFill>
                <a:latin typeface="Arial"/>
                <a:ea typeface="Arial"/>
                <a:cs typeface="Arial"/>
              </a:defRPr>
            </a:lvl1pPr>
            <a:lvl2pPr>
              <a:defRPr sz="1950" b="1">
                <a:solidFill>
                  <a:srgbClr val="007F7B"/>
                </a:solidFill>
                <a:latin typeface="Arial"/>
                <a:ea typeface="Arial"/>
                <a:cs typeface="Arial"/>
              </a:defRPr>
            </a:lvl2pPr>
            <a:lvl3pPr>
              <a:defRPr sz="1950" b="1">
                <a:solidFill>
                  <a:srgbClr val="007F7B"/>
                </a:solidFill>
                <a:latin typeface="Arial"/>
                <a:ea typeface="Arial"/>
                <a:cs typeface="Arial"/>
              </a:defRPr>
            </a:lvl3pPr>
            <a:lvl4pPr>
              <a:defRPr sz="1950" b="1">
                <a:solidFill>
                  <a:srgbClr val="007F7B"/>
                </a:solidFill>
                <a:latin typeface="Arial"/>
                <a:ea typeface="Arial"/>
                <a:cs typeface="Arial"/>
              </a:defRPr>
            </a:lvl4pPr>
            <a:lvl5pPr>
              <a:defRPr sz="1950" b="1">
                <a:solidFill>
                  <a:srgbClr val="007F7B"/>
                </a:solidFill>
                <a:latin typeface="Arial"/>
                <a:ea typeface="Arial"/>
                <a:cs typeface="Arial"/>
              </a:defRPr>
            </a:lvl5pPr>
            <a:lvl6pPr>
              <a:defRPr sz="1950" b="1">
                <a:solidFill>
                  <a:srgbClr val="007F7B"/>
                </a:solidFill>
                <a:latin typeface="Arial"/>
                <a:ea typeface="Arial"/>
                <a:cs typeface="Arial"/>
              </a:defRPr>
            </a:lvl6pPr>
            <a:lvl7pPr>
              <a:defRPr sz="1950" b="1">
                <a:solidFill>
                  <a:srgbClr val="007F7B"/>
                </a:solidFill>
                <a:latin typeface="Arial"/>
                <a:ea typeface="Arial"/>
                <a:cs typeface="Arial"/>
              </a:defRPr>
            </a:lvl7pPr>
            <a:lvl8pPr>
              <a:defRPr sz="1950" b="1">
                <a:solidFill>
                  <a:srgbClr val="007F7B"/>
                </a:solidFill>
                <a:latin typeface="Arial"/>
                <a:ea typeface="Arial"/>
                <a:cs typeface="Arial"/>
              </a:defRPr>
            </a:lvl8pPr>
            <a:lvl9pPr>
              <a:defRPr sz="1950" b="1">
                <a:solidFill>
                  <a:srgbClr val="007F7B"/>
                </a:solidFill>
                <a:latin typeface="Arial"/>
                <a:ea typeface="Arial"/>
                <a:cs typeface="Arial"/>
              </a:defRPr>
            </a:lvl9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hlinkClick xmlns:r="http://schemas.openxmlformats.org/officeDocument/2006/relationships" r:id="R5c8bd9146f884330"/>
              </a:rPr>
              <a:t>DINOv2, official implementation</a:t>
            </a:r>
          </a:p>
        </p:txBody>
      </p:sp>
      <p:sp>
        <p:nvSpPr>
          <p:cNvPr id="7" name="">
            <a:extLst xmlns:a="http://schemas.openxmlformats.org/drawingml/2006/main">
              <a:ext uri="{FF2B5EF4-FFF2-40B4-BE49-F238E27FC236}">
                <a16:creationId xmlns:a16="http://schemas.microsoft.com/office/drawing/2014/main" id="{39C900C9-FDA5-42ED-81CC-5CB1F8CEFC39}"/>
              </a:ext>
            </a:extLst>
          </p:cNvPr>
          <p:cNvSpPr>
            <a:spLocks xmlns:a="http://schemas.openxmlformats.org/drawingml/2006/main" noGrp="1"/>
          </p:cNvSpPr>
          <p:nvPr/>
        </p:nvSpPr>
        <p:spPr>
          <a:xfrm xmlns:a="http://schemas.openxmlformats.org/drawingml/2006/main">
            <a:off x="609600" y="47910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Arial"/>
                <a:ea typeface="Arial"/>
                <a:cs typeface="Arial"/>
              </a:defRPr>
            </a:defPPr>
            <a:lvl1pPr>
              <a:defRPr sz="1950" b="1">
                <a:solidFill>
                  <a:srgbClr val="007F7B"/>
                </a:solidFill>
                <a:latin typeface="Arial"/>
                <a:ea typeface="Arial"/>
                <a:cs typeface="Arial"/>
              </a:defRPr>
            </a:lvl1pPr>
            <a:lvl2pPr>
              <a:defRPr sz="1950" b="1">
                <a:solidFill>
                  <a:srgbClr val="007F7B"/>
                </a:solidFill>
                <a:latin typeface="Arial"/>
                <a:ea typeface="Arial"/>
                <a:cs typeface="Arial"/>
              </a:defRPr>
            </a:lvl2pPr>
            <a:lvl3pPr>
              <a:defRPr sz="1950" b="1">
                <a:solidFill>
                  <a:srgbClr val="007F7B"/>
                </a:solidFill>
                <a:latin typeface="Arial"/>
                <a:ea typeface="Arial"/>
                <a:cs typeface="Arial"/>
              </a:defRPr>
            </a:lvl3pPr>
            <a:lvl4pPr>
              <a:defRPr sz="1950" b="1">
                <a:solidFill>
                  <a:srgbClr val="007F7B"/>
                </a:solidFill>
                <a:latin typeface="Arial"/>
                <a:ea typeface="Arial"/>
                <a:cs typeface="Arial"/>
              </a:defRPr>
            </a:lvl4pPr>
            <a:lvl5pPr>
              <a:defRPr sz="1950" b="1">
                <a:solidFill>
                  <a:srgbClr val="007F7B"/>
                </a:solidFill>
                <a:latin typeface="Arial"/>
                <a:ea typeface="Arial"/>
                <a:cs typeface="Arial"/>
              </a:defRPr>
            </a:lvl5pPr>
            <a:lvl6pPr>
              <a:defRPr sz="1950" b="1">
                <a:solidFill>
                  <a:srgbClr val="007F7B"/>
                </a:solidFill>
                <a:latin typeface="Arial"/>
                <a:ea typeface="Arial"/>
                <a:cs typeface="Arial"/>
              </a:defRPr>
            </a:lvl6pPr>
            <a:lvl7pPr>
              <a:defRPr sz="1950" b="1">
                <a:solidFill>
                  <a:srgbClr val="007F7B"/>
                </a:solidFill>
                <a:latin typeface="Arial"/>
                <a:ea typeface="Arial"/>
                <a:cs typeface="Arial"/>
              </a:defRPr>
            </a:lvl7pPr>
            <a:lvl8pPr>
              <a:defRPr sz="1950" b="1">
                <a:solidFill>
                  <a:srgbClr val="007F7B"/>
                </a:solidFill>
                <a:latin typeface="Arial"/>
                <a:ea typeface="Arial"/>
                <a:cs typeface="Arial"/>
              </a:defRPr>
            </a:lvl8pPr>
            <a:lvl9pPr>
              <a:defRPr sz="1950" b="1">
                <a:solidFill>
                  <a:srgbClr val="007F7B"/>
                </a:solidFill>
                <a:latin typeface="Arial"/>
                <a:ea typeface="Arial"/>
                <a:cs typeface="Arial"/>
              </a:defRPr>
            </a:lvl9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hlinkClick xmlns:r="http://schemas.openxmlformats.org/officeDocument/2006/relationships" r:id="R74c7d4f80b8349c5"/>
              </a:rPr>
              <a:t>Project protocols, predictions and analysis</a:t>
            </a:r>
          </a:p>
        </p:txBody>
      </p:sp>
      <p:sp>
        <p:nvSpPr>
          <p:cNvPr id="8" name="">
            <a:extLst xmlns:a="http://schemas.openxmlformats.org/drawingml/2006/main">
              <a:ext uri="{FF2B5EF4-FFF2-40B4-BE49-F238E27FC236}">
                <a16:creationId xmlns:a16="http://schemas.microsoft.com/office/drawing/2014/main" id="{FB1E341B-AD78-4C01-9A48-194E0A8F0B53}"/>
              </a:ext>
            </a:extLst>
          </p:cNvPr>
          <p:cNvSpPr>
            <a:spLocks xmlns:a="http://schemas.openxmlformats.org/drawingml/2006/main" noGrp="1"/>
          </p:cNvSpPr>
          <p:nvPr/>
        </p:nvSpPr>
        <p:spPr>
          <a:xfrm xmlns:a="http://schemas.openxmlformats.org/drawingml/2006/main">
            <a:off x="609600" y="59531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16A"/>
                </a:solidFill>
                <a:latin typeface="Arial"/>
                <a:ea typeface="Arial"/>
                <a:cs typeface="Arial"/>
              </a:defRPr>
            </a:defPPr>
            <a:lvl1pPr>
              <a:defRPr sz="1650" b="0">
                <a:solidFill>
                  <a:srgbClr val="52616A"/>
                </a:solidFill>
                <a:latin typeface="Arial"/>
                <a:ea typeface="Arial"/>
                <a:cs typeface="Arial"/>
              </a:defRPr>
            </a:lvl1pPr>
            <a:lvl2pPr>
              <a:defRPr sz="1650" b="0">
                <a:solidFill>
                  <a:srgbClr val="52616A"/>
                </a:solidFill>
                <a:latin typeface="Arial"/>
                <a:ea typeface="Arial"/>
                <a:cs typeface="Arial"/>
              </a:defRPr>
            </a:lvl2pPr>
            <a:lvl3pPr>
              <a:defRPr sz="1650" b="0">
                <a:solidFill>
                  <a:srgbClr val="52616A"/>
                </a:solidFill>
                <a:latin typeface="Arial"/>
                <a:ea typeface="Arial"/>
                <a:cs typeface="Arial"/>
              </a:defRPr>
            </a:lvl3pPr>
            <a:lvl4pPr>
              <a:defRPr sz="1650" b="0">
                <a:solidFill>
                  <a:srgbClr val="52616A"/>
                </a:solidFill>
                <a:latin typeface="Arial"/>
                <a:ea typeface="Arial"/>
                <a:cs typeface="Arial"/>
              </a:defRPr>
            </a:lvl4pPr>
            <a:lvl5pPr>
              <a:defRPr sz="1650" b="0">
                <a:solidFill>
                  <a:srgbClr val="52616A"/>
                </a:solidFill>
                <a:latin typeface="Arial"/>
                <a:ea typeface="Arial"/>
                <a:cs typeface="Arial"/>
              </a:defRPr>
            </a:lvl5pPr>
            <a:lvl6pPr>
              <a:defRPr sz="1650" b="0">
                <a:solidFill>
                  <a:srgbClr val="52616A"/>
                </a:solidFill>
                <a:latin typeface="Arial"/>
                <a:ea typeface="Arial"/>
                <a:cs typeface="Arial"/>
              </a:defRPr>
            </a:lvl6pPr>
            <a:lvl7pPr>
              <a:defRPr sz="1650" b="0">
                <a:solidFill>
                  <a:srgbClr val="52616A"/>
                </a:solidFill>
                <a:latin typeface="Arial"/>
                <a:ea typeface="Arial"/>
                <a:cs typeface="Arial"/>
              </a:defRPr>
            </a:lvl7pPr>
            <a:lvl8pPr>
              <a:defRPr sz="1650" b="0">
                <a:solidFill>
                  <a:srgbClr val="52616A"/>
                </a:solidFill>
                <a:latin typeface="Arial"/>
                <a:ea typeface="Arial"/>
                <a:cs typeface="Arial"/>
              </a:defRPr>
            </a:lvl8pPr>
            <a:lvl9pPr>
              <a:defRPr sz="1650" b="0">
                <a:solidFill>
                  <a:srgbClr val="52616A"/>
                </a:solidFill>
                <a:latin typeface="Arial"/>
                <a:ea typeface="Arial"/>
                <a:cs typeface="Arial"/>
              </a:defRPr>
            </a:lvl9pPr>
          </a:lstStyle>
          <a:p xmlns:a="http://schemas.openxmlformats.org/drawingml/2006/main">
            <a:pPr>
              <a:defRPr sz="1650" b="0">
                <a:solidFill>
                  <a:srgbClr val="52616A"/>
                </a:solidFill>
                <a:latin typeface="Arial"/>
                <a:ea typeface="Arial"/>
                <a:cs typeface="Arial"/>
              </a:defRPr>
            </a:pPr>
            <a:r>
              <a:rPr sz="1650" b="0">
                <a:solidFill>
                  <a:srgbClr val="52616A"/>
                </a:solidFill>
                <a:latin typeface="Arial"/>
                <a:ea typeface="Arial"/>
                <a:cs typeface="Arial"/>
              </a:rPr>
              <a:t>Dataset photos belong to their original owners. Source links also appear in speaker notes.</a:t>
            </a:r>
          </a:p>
        </p:txBody>
      </p:sp>
    </p:spTree>
    <p:extLst>
      <p:ext uri="{BB962C8B-B14F-4D97-AF65-F5344CB8AC3E}">
        <p14:creationId xmlns:p14="http://schemas.microsoft.com/office/powerpoint/2010/main" val="6765668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2026-10-19T05:18:32.2730000Z</dcterms:created>
  <dcterms:modified xsi:type="dcterms:W3CDTF">2026-10-19T05:18:32.2730000Z</dcterms:modified>
</coreProperties>
</file>