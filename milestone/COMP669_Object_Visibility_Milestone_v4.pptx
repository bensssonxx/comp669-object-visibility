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7b7b905caf4594" /><Relationship Type="http://schemas.openxmlformats.org/officeDocument/2006/relationships/extended-properties" Target="/docProps/app.xml" Id="R00c7d750ac1d4def" /><Relationship Type="http://schemas.openxmlformats.org/officeDocument/2006/relationships/officeDocument" Target="/ppt/presentation.xml" Id="R31edf1b098f441fd" /></Relationships>
</file>

<file path=ppt/presentation.xml><?xml version="1.0" encoding="utf-8"?>
<p:presentation xmlns:p="http://schemas.openxmlformats.org/presentationml/2006/main">
  <p:sldMasterIdLst>
    <p:sldMasterId xmlns:r="http://schemas.openxmlformats.org/officeDocument/2006/relationships" id="2147483648" r:id="R08d9f5a7eb35497a"/>
  </p:sldMasterIdLst>
  <p:notesMasterIdLst>
    <p:notesMasterId xmlns:r="http://schemas.openxmlformats.org/officeDocument/2006/relationships" r:id="R760391975d4046d9"/>
  </p:notesMasterIdLst>
  <p:sldIdLst>
    <p:sldId xmlns:r="http://schemas.openxmlformats.org/officeDocument/2006/relationships" id="256" r:id="R8ad22f3a0f6c4117"/>
    <p:sldId xmlns:r="http://schemas.openxmlformats.org/officeDocument/2006/relationships" id="257" r:id="R63d8f578a57e46c3"/>
    <p:sldId xmlns:r="http://schemas.openxmlformats.org/officeDocument/2006/relationships" id="258" r:id="R7598fbc2904347da"/>
    <p:sldId xmlns:r="http://schemas.openxmlformats.org/officeDocument/2006/relationships" id="259" r:id="Ree03ee4dc49e4186"/>
    <p:sldId xmlns:r="http://schemas.openxmlformats.org/officeDocument/2006/relationships" id="260" r:id="Re12fd805e3454a6e"/>
    <p:sldId xmlns:r="http://schemas.openxmlformats.org/officeDocument/2006/relationships" id="261" r:id="R9dfb89e02fe748fe"/>
    <p:sldId xmlns:r="http://schemas.openxmlformats.org/officeDocument/2006/relationships" id="262" r:id="R2a76a1636c784eba"/>
    <p:sldId xmlns:r="http://schemas.openxmlformats.org/officeDocument/2006/relationships" id="263" r:id="R48412e3180854f1e"/>
    <p:sldId xmlns:r="http://schemas.openxmlformats.org/officeDocument/2006/relationships" id="264" r:id="Ra24b28efc0844133"/>
    <p:sldId xmlns:r="http://schemas.openxmlformats.org/officeDocument/2006/relationships" id="265" r:id="R0cc7bf20a1bd4753"/>
    <p:sldId xmlns:r="http://schemas.openxmlformats.org/officeDocument/2006/relationships" id="266" r:id="R5b89f669cf7d41d1"/>
    <p:sldId xmlns:r="http://schemas.openxmlformats.org/officeDocument/2006/relationships" id="267" r:id="Ra36ebf58960540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2a7c85f9f45eb" /><Relationship Type="http://schemas.openxmlformats.org/officeDocument/2006/relationships/slideMaster" Target="/ppt/slideMasters/slideMaster1.xml" Id="R08d9f5a7eb35497a" /><Relationship Type="http://schemas.openxmlformats.org/officeDocument/2006/relationships/notesMaster" Target="/ppt/notesMasters/notesMaster1.xml" Id="R760391975d4046d9" /><Relationship Type="http://schemas.openxmlformats.org/officeDocument/2006/relationships/presProps" Target="/ppt/presProps.xml" Id="R75a053cf90ac42d7" /><Relationship Type="http://schemas.openxmlformats.org/officeDocument/2006/relationships/tableStyles" Target="/ppt/tableStyles.xml" Id="R7c744805af274c37" /><Relationship Type="http://schemas.openxmlformats.org/officeDocument/2006/relationships/slide" Target="/ppt/slides/slide1.xml" Id="R8ad22f3a0f6c4117" /><Relationship Type="http://schemas.openxmlformats.org/officeDocument/2006/relationships/slide" Target="/ppt/slides/slide2.xml" Id="R63d8f578a57e46c3" /><Relationship Type="http://schemas.openxmlformats.org/officeDocument/2006/relationships/slide" Target="/ppt/slides/slide3.xml" Id="R7598fbc2904347da" /><Relationship Type="http://schemas.openxmlformats.org/officeDocument/2006/relationships/slide" Target="/ppt/slides/slide4.xml" Id="Ree03ee4dc49e4186" /><Relationship Type="http://schemas.openxmlformats.org/officeDocument/2006/relationships/slide" Target="/ppt/slides/slide5.xml" Id="Re12fd805e3454a6e" /><Relationship Type="http://schemas.openxmlformats.org/officeDocument/2006/relationships/slide" Target="/ppt/slides/slide6.xml" Id="R9dfb89e02fe748fe" /><Relationship Type="http://schemas.openxmlformats.org/officeDocument/2006/relationships/slide" Target="/ppt/slides/slide7.xml" Id="R2a76a1636c784eba" /><Relationship Type="http://schemas.openxmlformats.org/officeDocument/2006/relationships/slide" Target="/ppt/slides/slide8.xml" Id="R48412e3180854f1e" /><Relationship Type="http://schemas.openxmlformats.org/officeDocument/2006/relationships/slide" Target="/ppt/slides/slide9.xml" Id="Ra24b28efc0844133" /><Relationship Type="http://schemas.openxmlformats.org/officeDocument/2006/relationships/slide" Target="/ppt/slides/slide10.xml" Id="R0cc7bf20a1bd4753" /><Relationship Type="http://schemas.openxmlformats.org/officeDocument/2006/relationships/slide" Target="/ppt/slides/slide11.xml" Id="R5b89f669cf7d41d1" /><Relationship Type="http://schemas.openxmlformats.org/officeDocument/2006/relationships/slide" Target="/ppt/slides/slide12.xml" Id="Ra36ebf58960540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825052ac8641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b53044f6984c80" /><Relationship Type="http://schemas.openxmlformats.org/officeDocument/2006/relationships/notesMaster" Target="/ppt/notesMasters/notesMaster1.xml" Id="R7b43bf7979ec44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503fa1a50a4895" /><Relationship Type="http://schemas.openxmlformats.org/officeDocument/2006/relationships/notesMaster" Target="/ppt/notesMasters/notesMaster1.xml" Id="R9999e276fdc34e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3482e6e3914efa" /><Relationship Type="http://schemas.openxmlformats.org/officeDocument/2006/relationships/notesMaster" Target="/ppt/notesMasters/notesMaster1.xml" Id="R9f46f369129144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840572448d4a01" /><Relationship Type="http://schemas.openxmlformats.org/officeDocument/2006/relationships/notesMaster" Target="/ppt/notesMasters/notesMaster1.xml" Id="R7d12b6685e734c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01d7f0ecaf4699" /><Relationship Type="http://schemas.openxmlformats.org/officeDocument/2006/relationships/notesMaster" Target="/ppt/notesMasters/notesMaster1.xml" Id="R573555e2cdba41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c30f893b444434" /><Relationship Type="http://schemas.openxmlformats.org/officeDocument/2006/relationships/notesMaster" Target="/ppt/notesMasters/notesMaster1.xml" Id="Rd2b11845b07743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1c528f90c94a17" /><Relationship Type="http://schemas.openxmlformats.org/officeDocument/2006/relationships/notesMaster" Target="/ppt/notesMasters/notesMaster1.xml" Id="R66525e12cf9d42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8b82f9625c4d8a" /><Relationship Type="http://schemas.openxmlformats.org/officeDocument/2006/relationships/notesMaster" Target="/ppt/notesMasters/notesMaster1.xml" Id="R87b79651c2414e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fc070af57e4f08" /><Relationship Type="http://schemas.openxmlformats.org/officeDocument/2006/relationships/notesMaster" Target="/ppt/notesMasters/notesMaster1.xml" Id="R8f46a18b2c5346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449905a3b64ce7" /><Relationship Type="http://schemas.openxmlformats.org/officeDocument/2006/relationships/notesMaster" Target="/ppt/notesMasters/notesMaster1.xml" Id="R577e2350eb5f45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d11ec3422c481e" /><Relationship Type="http://schemas.openxmlformats.org/officeDocument/2006/relationships/notesMaster" Target="/ppt/notesMasters/notesMaster1.xml" Id="Rae113d2d5cdd4a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c02f0348104f04" /><Relationship Type="http://schemas.openxmlformats.org/officeDocument/2006/relationships/notesMaster" Target="/ppt/notesMasters/notesMaster1.xml" Id="R8b74800207c14d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original proposal asked how AIMv2 and DINOv2 degrade when less of an image is visible. After the feedback, I narrowed the question. The important issue is not simply that occlusion reduces accuracy. It is what the experiment actually removes, and what its results let us conclude. This milestone uses a small, real experiment with foreground annotations. I will show the inputs, the results, and the limits of the comparison. The model encoders stay frozen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two masks both keep half the image. One may retain almost the entire animal, while the other keeps mostly the background. In that case, a difference between the masks is hard to interpret as a location preference. This is the motivation for recording foreground visibility separately. The foreground mask describes the visible animal in the original photograph. It does not tell us which parts are most useful for identifying its breed, so area matching will still have limits. This project examines how much these distinctions matter for interpreting our model evaluation.</a:t>
            </a:r>
          </a:p>
          <a:p xmlns:a="http://schemas.openxmlformats.org/drawingml/2006/main">
            <a:r>
              <a:t/>
            </a:r>
          </a:p>
          <a:p xmlns:a="http://schemas.openxmlformats.org/drawingml/2006/main">
            <a:r>
              <a:t>SOURCES: Oxford-IIIT Pet trimap annotations; docs/PROTOCOL.md; Naseer et al., https://arxiv.org/abs/2105.10497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ask whether mask-location differences persist after accounting for visible foreground. I first measure how much foreground each standard mask keeps. Then I construct same-image pairs with the same square occluder size. Some pairs retain very different foreground amounts. Other pairs retain almost the same amount but place the occluder elsewhere. AIMv2 is the primary model, and DINOv2 is a reference model under the same inputs. Prior PatchDrop work already distinguishes salient foreground and non-salient background. My contribution is a reproducible extension using pixel annotations and explicit matched-pair diagnostics, rather than claiming that foreground and background effects are new.</a:t>
            </a:r>
          </a:p>
          <a:p xmlns:a="http://schemas.openxmlformats.org/drawingml/2006/main">
            <a:r>
              <a:t/>
            </a:r>
          </a:p>
          <a:p xmlns:a="http://schemas.openxmlformats.org/drawingml/2006/main">
            <a:r>
              <a:t>SOURCES: Naseer et al., https://arxiv.org/html/2105.10497v3, Sec. 3.1; Xiao et al., https://arxiv.org/abs/2006.09994; docs/RELATED_WORK.md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changed the pilot dataset from ImageNet-100 to Oxford-IIIT Pet because it provides pixel-level foreground labels. This is a breed-classification experiment across 37 categories. I use the official split, with 40 training images, 10 validation images and 5 official-test images per class. Fourteen images with empty foreground annotations were excluded before sampling. The encoders remain frozen. Each model has its own logistic classifier trained only on clean training features. Clean validation chooses the regularization parameter. The test labels do not choose that parameter, the masks, or the matching threshold. Both models use mean final patch features and the same preprocessing, which is a diagnostic recipe rather than their published best evaluation setup.</a:t>
            </a:r>
          </a:p>
          <a:p xmlns:a="http://schemas.openxmlformats.org/drawingml/2006/main">
            <a:r>
              <a:t/>
            </a:r>
          </a:p>
          <a:p xmlns:a="http://schemas.openxmlformats.org/drawingml/2006/main">
            <a:r>
              <a:t>SOURCES: Saved pilot_v1 predictions, configuration and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inputs from one of the held-out images, rather than schematic masks. Across the row, image visibility decreases from 100 percent to 25 percent. The second line records the fraction of annotated foreground that remains. I resize the full image and the annotation together before applying the mask. Hidden pixels receive a gray value of 128 before normalization. There is no crop or resize after masking. I keep every patch token, and I do not call either model's native mask interface. This makes the intervention a shared pixel-level occlusion test. It also means the experiment does not save inference compute.</a:t>
            </a:r>
          </a:p>
          <a:p xmlns:a="http://schemas.openxmlformats.org/drawingml/2006/main">
            <a:r>
              <a:t/>
            </a:r>
          </a:p>
          <a:p xmlns:a="http://schemas.openxmlformats.org/drawingml/2006/main">
            <a:r>
              <a:t>SOURCES: Saved pilot_v1 predictions, configuration and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held-out accuracies are 93.5% for AIMv2 and 83.2% for DINOv2 under this shared probe recipe. But with only 25 percent randomly visible, AIMv2 reaches 32.6% and DINOv2 70.6%. Under the center condition at that same image-area budget, the ordering reverses again. So clean-image performance alone does not predict the ordering in these tests. The shaded intervals resample original images, averaging random repeats inside each image first. This is a descriptive finding for these checkpoints, probes and data, not evidence about which pretraining mechanism caused it. To interpret the mask comparison, I next examine foreground coverage.</a:t>
            </a:r>
          </a:p>
          <a:p xmlns:a="http://schemas.openxmlformats.org/drawingml/2006/main">
            <a:r>
              <a:t/>
            </a:r>
          </a:p>
          <a:p xmlns:a="http://schemas.openxmlformats.org/drawingml/2006/main">
            <a:r>
              <a:t>SOURCES: results/pilot_v1/summary.csv and paired_model_differences.csv; 2000 original-image bootstrap resamples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distributions come from the input masks and annotations, so they are identical for the two models. At 50 percent visible image area, center-nearest masks retain an average 85.2% of the annotated foreground, compared with 50.2% for the random condition. This explains why image visibility alone is an incomplete description of the test. It does not prove that foreground area fully explains an accuracy difference. For example, a small visible face could matter more than a larger patch of fur. The matched-pair experiment is a first diagnostic step toward separating some of these conditions.</a:t>
            </a:r>
          </a:p>
          <a:p xmlns:a="http://schemas.openxmlformats.org/drawingml/2006/main">
            <a:r>
              <a:t/>
            </a:r>
          </a:p>
          <a:p xmlns:a="http://schemas.openxmlformats.org/drawingml/2006/main">
            <a:r>
              <a:t>SOURCES: results/pilot_v1/conditions.csv and summary.csv; foreground label 1 only; unknown trimap label 3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on this slide keeps 75 percent of the image and uses the same square occluder shape. I generate 25 possible placements on a fixed grid. The first pair chooses the placements that retain the most and least foreground. The second pair matches foreground visibility within three percentage points and requires separated occluder locations. The annotations choose the pairs before any model outputs are examined. All 185 test images have an eligible matched pair under this rule. This is an oracle diagnostic using annotations, not an annotation-free method for deployment. It controls image identity, shape and area, but it still changes which animal parts and which background pixels remain.</a:t>
            </a:r>
          </a:p>
          <a:p xmlns:a="http://schemas.openxmlformats.org/drawingml/2006/main">
            <a:r>
              <a:t/>
            </a:r>
          </a:p>
          <a:p xmlns:a="http://schemas.openxmlformats.org/drawingml/2006/main">
            <a:r>
              <a:t>SOURCES: Saved pilot_v1 predictions, configuration and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table compares the same image with higher and lower foreground visibility while fixing square-occluder area and shape. AIMv2's paired difference is 20.5 percentage points, with a 95 percent interval from 14.6 to 27.0. DINOv2's difference is 11.9 points, with an interval from 6.5 to 17.3. The lower figures describe pairs whose foreground coverage is already close. Correctness changes for 11.9% of AIMv2 pairs and 9.7% of DINOv2 pairs. A lower flip rate alone is not better robustness: both versions can be wrong without a flip. These figures describe changes, not a pure spatial mechanism or a general model ranking.</a:t>
            </a:r>
          </a:p>
          <a:p xmlns:a="http://schemas.openxmlformats.org/drawingml/2006/main">
            <a:r>
              <a:t/>
            </a:r>
          </a:p>
          <a:p xmlns:a="http://schemas.openxmlformats.org/drawingml/2006/main">
            <a:r>
              <a:t>SOURCES: results/pilot_v1/paired_summary.csv; paired image-bootstrap confidence intervals; n=185 per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case selected after the experiment, using a stored rule that prioritizes correctness changes and then large target-probability changes. It is not evidence for how common a pattern is; the previous slide reports the full test-set rates. The two occluded inputs have closely matched foreground area but expose different regions of the animal. The displayed probabilities are the probes' probabilities of the correct breed. We can inspect the surviving parts as a possible explanation, but we have not measured head visibility on this test set. The downloaded head boxes cover only the official training subset. That limitation is why I describe this as a diagnostic case rather than a controlled part-level explanation.</a:t>
            </a:r>
          </a:p>
          <a:p xmlns:a="http://schemas.openxmlformats.org/drawingml/2006/main">
            <a:r>
              <a:t/>
            </a:r>
          </a:p>
          <a:p xmlns:a="http://schemas.openxmlformats.org/drawingml/2006/main">
            <a:r>
              <a:t>SOURCES: Saved pilot_v1 predictions, configuration and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pilot establishes an executable evaluation and real paired observations under a clearly specified pixel intervention. It lets us show that equal image-area masks retain different foreground coverage, and quantify how predictions change under two same-image diagnostic designs. Importantly, the four standard mask patterns have no eligible common coverage bin at 50 percent image visibility under the prespecified rule. I therefore cannot report a reliable adjusted four-pattern comparison there. The square-occluder pairs are a different diagnostic, not a solution to that missing overlap. Nothing here identifies the effect of prefix attention. The next priority is a larger test set, another fill color, and a design with better coverage overlap.</a:t>
            </a:r>
          </a:p>
          <a:p xmlns:a="http://schemas.openxmlformats.org/drawingml/2006/main">
            <a:r>
              <a:t/>
            </a:r>
          </a:p>
          <a:p xmlns:a="http://schemas.openxmlformats.org/drawingml/2006/main">
            <a:r>
              <a:t>SOURCES: Saved pilot_v1 predictions, configuration and docs/PROTOCOL.md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contains the protocol, source hashes, data manifests, model predictions, analysis code and figures. It is currently private, so I need to arrange instructor access before submitting the link. For the final project, I will prioritize a larger test set and fill-color sensitivity, then a more precise analysis of the content that remains visible. I used OpenAI Codex for literature inspection, implementation, debugging, execution and analysis drafting. The saved outputs provide the evidence for the reported numbers, and I need to review and understand the code and interpretations before presenting them. The main related works are PatchDrop, the backgrounds challenge, AIMv2, DINOv2 and the Oxford-IIIT Pet dataset.</a:t>
            </a:r>
          </a:p>
          <a:p xmlns:a="http://schemas.openxmlformats.org/drawingml/2006/main">
            <a:r>
              <a:t/>
            </a:r>
          </a:p>
          <a:p xmlns:a="http://schemas.openxmlformats.org/drawingml/2006/main">
            <a:r>
              <a:t>SOURCES: https://github.com/Bensssonxx/comp669-object-visibility; docs/AI_USE.md; docs/RELATED_WORK.md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b5850298f44e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b2e9ce637b4b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2870fd159146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6388ef6a2940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f225d09de648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b9beb691294c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1159CE-2F82-4A6A-B0A1-0C4C5AD9B4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B671BD-9B45-4DE1-B034-E19162F931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BC215D-2FD8-4514-960B-81186F857E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6B365-19A7-4A7F-877F-C90EF7770C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524FB2-6A72-4C99-BAC1-E7E104A63B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F2BD181-2D1B-4394-9956-A9F4100B34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D2754A-A878-4217-80DB-14165F037D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5673B4-BE51-41AC-A4C3-1D7AECB451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5324AB-9719-4A59-BE45-C5A8462BFF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0F4AC5-44B6-4A5F-A21F-BDE6AC487C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dbb6e894924ad8" /><Relationship Type="http://schemas.openxmlformats.org/officeDocument/2006/relationships/slideLayout" Target="/ppt/slideLayouts/slideLayout1.xml" Id="R1c559814464b4a9a" /><Relationship Type="http://schemas.openxmlformats.org/officeDocument/2006/relationships/slideLayout" Target="/ppt/slideLayouts/slideLayout2.xml" Id="R35b0250dee6d41c9" /><Relationship Type="http://schemas.openxmlformats.org/officeDocument/2006/relationships/slideLayout" Target="/ppt/slideLayouts/slideLayout3.xml" Id="Rf018d03e9489400f" /><Relationship Type="http://schemas.openxmlformats.org/officeDocument/2006/relationships/slideLayout" Target="/ppt/slideLayouts/slideLayout4.xml" Id="R0db1ff77371b47a7" /><Relationship Type="http://schemas.openxmlformats.org/officeDocument/2006/relationships/slideLayout" Target="/ppt/slideLayouts/slideLayout5.xml" Id="R0c69478736fa4ff4" /><Relationship Type="http://schemas.openxmlformats.org/officeDocument/2006/relationships/slideLayout" Target="/ppt/slideLayouts/slideLayout6.xml" Id="R1a93987583e642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559814464b4a9a"/>
    <p:sldLayoutId xmlns:r="http://schemas.openxmlformats.org/officeDocument/2006/relationships" id="2147483650" r:id="R35b0250dee6d41c9"/>
    <p:sldLayoutId xmlns:r="http://schemas.openxmlformats.org/officeDocument/2006/relationships" id="2147483651" r:id="Rf018d03e9489400f"/>
    <p:sldLayoutId xmlns:r="http://schemas.openxmlformats.org/officeDocument/2006/relationships" id="2147483652" r:id="R0db1ff77371b47a7"/>
    <p:sldLayoutId xmlns:r="http://schemas.openxmlformats.org/officeDocument/2006/relationships" id="2147483653" r:id="R0c69478736fa4ff4"/>
    <p:sldLayoutId xmlns:r="http://schemas.openxmlformats.org/officeDocument/2006/relationships" id="2147483654" r:id="R1a93987583e642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9aaab429cc41e6" /><Relationship Type="http://schemas.openxmlformats.org/officeDocument/2006/relationships/notesSlide" Target="/ppt/notesSlides/notesSlide1.xml" Id="R21dfabd0c7a040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47ab5418db4cf9" /><Relationship Type="http://schemas.openxmlformats.org/officeDocument/2006/relationships/notesSlide" Target="/ppt/notesSlides/notesSlide2.xml" Id="Rb2cce0ff26b847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5ecdcc688e04676" /><Relationship Type="http://schemas.openxmlformats.org/officeDocument/2006/relationships/notesSlide" Target="/ppt/notesSlides/notesSlide3.xml" Id="Rb77da145a4d14d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1b3781086f4b6a" /><Relationship Type="http://schemas.openxmlformats.org/officeDocument/2006/relationships/notesSlide" Target="/ppt/notesSlides/notesSlide4.xml" Id="R554ffc41660d4f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2b5252dc2c4f11" /><Relationship Type="http://schemas.openxmlformats.org/officeDocument/2006/relationships/image" Target="/ppt/media/image.png" Id="Ra7b4f729363847b1" /><Relationship Type="http://schemas.openxmlformats.org/officeDocument/2006/relationships/notesSlide" Target="/ppt/notesSlides/notesSlide5.xml" Id="Rcb08a3e736f042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f34fc14aae4058" /><Relationship Type="http://schemas.openxmlformats.org/officeDocument/2006/relationships/image" Target="/ppt/media/image2.png" Id="R6d13bbf048d848a1" /><Relationship Type="http://schemas.openxmlformats.org/officeDocument/2006/relationships/notesSlide" Target="/ppt/notesSlides/notesSlide6.xml" Id="Rcbdb03563b5440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f2b81f1ac049be" /><Relationship Type="http://schemas.openxmlformats.org/officeDocument/2006/relationships/image" Target="/ppt/media/image3.png" Id="Rffc5dceeafa041c6" /><Relationship Type="http://schemas.openxmlformats.org/officeDocument/2006/relationships/notesSlide" Target="/ppt/notesSlides/notesSlide7.xml" Id="R536b404ec6744f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d1978557be4e76" /><Relationship Type="http://schemas.openxmlformats.org/officeDocument/2006/relationships/image" Target="/ppt/media/image4.png" Id="R5933ba5436464e37" /><Relationship Type="http://schemas.openxmlformats.org/officeDocument/2006/relationships/notesSlide" Target="/ppt/notesSlides/notesSlide8.xml" Id="Rc17042de65ba4a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8f565d253e439a" /><Relationship Type="http://schemas.openxmlformats.org/officeDocument/2006/relationships/notesSlide" Target="/ppt/notesSlides/notesSlide9.xml" Id="R1e32ad4347d74c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e2117a7ceb24791" /><Relationship Type="http://schemas.openxmlformats.org/officeDocument/2006/relationships/image" Target="/ppt/media/image5.png" Id="R1f3183462534429d" /><Relationship Type="http://schemas.openxmlformats.org/officeDocument/2006/relationships/notesSlide" Target="/ppt/notesSlides/notesSlide10.xml" Id="R6ab197731b3049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e14e00a4f34a20" /><Relationship Type="http://schemas.openxmlformats.org/officeDocument/2006/relationships/notesSlide" Target="/ppt/notesSlides/notesSlide11.xml" Id="R7fb184a6bb0a49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229834b82be411b" /><Relationship Type="http://schemas.openxmlformats.org/officeDocument/2006/relationships/hyperlink" Target="https://github.com/Bensssonxx/comp669-object-visibility" TargetMode="External" Id="R2cd13cada42d4b4b" /><Relationship Type="http://schemas.openxmlformats.org/officeDocument/2006/relationships/notesSlide" Target="/ppt/notesSlides/notesSlide12.xml" Id="R0dd1191464c549b5" /></Relationships>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B1004B-EFFA-4289-8DFE-574F910D7DB2}"/>
              </a:ext>
            </a:extLst>
          </p:cNvPr>
          <p:cNvSpPr>
            <a:spLocks xmlns:a="http://schemas.openxmlformats.org/drawingml/2006/main" noGrp="1"/>
          </p:cNvSpPr>
          <p:nvPr/>
        </p:nvSpPr>
        <p:spPr>
          <a:xfrm xmlns:a="http://schemas.openxmlformats.org/drawingml/2006/main">
            <a:off x="609600" y="7239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Arial"/>
                <a:ea typeface="Arial"/>
                <a:cs typeface="Arial"/>
              </a:defRPr>
            </a:defPPr>
            <a:lvl1pPr>
              <a:defRPr sz="1350" b="1">
                <a:solidFill>
                  <a:srgbClr val="007F7B"/>
                </a:solidFill>
                <a:latin typeface="Arial"/>
                <a:ea typeface="Arial"/>
                <a:cs typeface="Arial"/>
              </a:defRPr>
            </a:lvl1pPr>
            <a:lvl2pPr>
              <a:defRPr sz="1350" b="1">
                <a:solidFill>
                  <a:srgbClr val="007F7B"/>
                </a:solidFill>
                <a:latin typeface="Arial"/>
                <a:ea typeface="Arial"/>
                <a:cs typeface="Arial"/>
              </a:defRPr>
            </a:lvl2pPr>
            <a:lvl3pPr>
              <a:defRPr sz="1350" b="1">
                <a:solidFill>
                  <a:srgbClr val="007F7B"/>
                </a:solidFill>
                <a:latin typeface="Arial"/>
                <a:ea typeface="Arial"/>
                <a:cs typeface="Arial"/>
              </a:defRPr>
            </a:lvl3pPr>
            <a:lvl4pPr>
              <a:defRPr sz="1350" b="1">
                <a:solidFill>
                  <a:srgbClr val="007F7B"/>
                </a:solidFill>
                <a:latin typeface="Arial"/>
                <a:ea typeface="Arial"/>
                <a:cs typeface="Arial"/>
              </a:defRPr>
            </a:lvl4pPr>
            <a:lvl5pPr>
              <a:defRPr sz="1350" b="1">
                <a:solidFill>
                  <a:srgbClr val="007F7B"/>
                </a:solidFill>
                <a:latin typeface="Arial"/>
                <a:ea typeface="Arial"/>
                <a:cs typeface="Arial"/>
              </a:defRPr>
            </a:lvl5pPr>
            <a:lvl6pPr>
              <a:defRPr sz="1350" b="1">
                <a:solidFill>
                  <a:srgbClr val="007F7B"/>
                </a:solidFill>
                <a:latin typeface="Arial"/>
                <a:ea typeface="Arial"/>
                <a:cs typeface="Arial"/>
              </a:defRPr>
            </a:lvl6pPr>
            <a:lvl7pPr>
              <a:defRPr sz="1350" b="1">
                <a:solidFill>
                  <a:srgbClr val="007F7B"/>
                </a:solidFill>
                <a:latin typeface="Arial"/>
                <a:ea typeface="Arial"/>
                <a:cs typeface="Arial"/>
              </a:defRPr>
            </a:lvl7pPr>
            <a:lvl8pPr>
              <a:defRPr sz="1350" b="1">
                <a:solidFill>
                  <a:srgbClr val="007F7B"/>
                </a:solidFill>
                <a:latin typeface="Arial"/>
                <a:ea typeface="Arial"/>
                <a:cs typeface="Arial"/>
              </a:defRPr>
            </a:lvl8pPr>
            <a:lvl9pPr>
              <a:defRPr sz="1350" b="1">
                <a:solidFill>
                  <a:srgbClr val="007F7B"/>
                </a:solidFill>
                <a:latin typeface="Arial"/>
                <a:ea typeface="Arial"/>
                <a:cs typeface="Arial"/>
              </a:defRPr>
            </a:lvl9pPr>
          </a:lstStyle>
          <a:p xmlns:a="http://schemas.openxmlformats.org/drawingml/2006/main">
            <a:pPr>
              <a:defRPr sz="1350" b="1">
                <a:solidFill>
                  <a:srgbClr val="007F7B"/>
                </a:solidFill>
                <a:latin typeface="Arial"/>
                <a:ea typeface="Arial"/>
                <a:cs typeface="Arial"/>
              </a:defRPr>
            </a:pPr>
            <a:r>
              <a:rPr sz="1350" b="1">
                <a:solidFill>
                  <a:srgbClr val="007F7B"/>
                </a:solidFill>
                <a:latin typeface="Arial"/>
                <a:ea typeface="Arial"/>
                <a:cs typeface="Arial"/>
              </a:rPr>
              <a:t>COMP 669 PROJECT MILESTONE</a:t>
            </a:r>
          </a:p>
        </p:txBody>
      </p:sp>
      <p:sp>
        <p:nvSpPr>
          <p:cNvPr id="2" name="">
            <a:extLst xmlns:a="http://schemas.openxmlformats.org/drawingml/2006/main">
              <a:ext uri="{FF2B5EF4-FFF2-40B4-BE49-F238E27FC236}">
                <a16:creationId xmlns:a16="http://schemas.microsoft.com/office/drawing/2014/main" id="{F079D26D-B451-41BE-8BBE-789D8B65E4A8}"/>
              </a:ext>
            </a:extLst>
          </p:cNvPr>
          <p:cNvSpPr>
            <a:spLocks xmlns:a="http://schemas.openxmlformats.org/drawingml/2006/main" noGrp="1"/>
          </p:cNvSpPr>
          <p:nvPr/>
        </p:nvSpPr>
        <p:spPr>
          <a:xfrm xmlns:a="http://schemas.openxmlformats.org/drawingml/2006/main">
            <a:off x="609600" y="1638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7313D"/>
                </a:solidFill>
                <a:latin typeface="Arial"/>
                <a:ea typeface="Arial"/>
                <a:cs typeface="Arial"/>
              </a:defRPr>
            </a:defPPr>
            <a:lvl1pPr>
              <a:defRPr sz="4800" b="1">
                <a:solidFill>
                  <a:srgbClr val="17313D"/>
                </a:solidFill>
                <a:latin typeface="Arial"/>
                <a:ea typeface="Arial"/>
                <a:cs typeface="Arial"/>
              </a:defRPr>
            </a:lvl1pPr>
            <a:lvl2pPr>
              <a:defRPr sz="4800" b="1">
                <a:solidFill>
                  <a:srgbClr val="17313D"/>
                </a:solidFill>
                <a:latin typeface="Arial"/>
                <a:ea typeface="Arial"/>
                <a:cs typeface="Arial"/>
              </a:defRPr>
            </a:lvl2pPr>
            <a:lvl3pPr>
              <a:defRPr sz="4800" b="1">
                <a:solidFill>
                  <a:srgbClr val="17313D"/>
                </a:solidFill>
                <a:latin typeface="Arial"/>
                <a:ea typeface="Arial"/>
                <a:cs typeface="Arial"/>
              </a:defRPr>
            </a:lvl3pPr>
            <a:lvl4pPr>
              <a:defRPr sz="4800" b="1">
                <a:solidFill>
                  <a:srgbClr val="17313D"/>
                </a:solidFill>
                <a:latin typeface="Arial"/>
                <a:ea typeface="Arial"/>
                <a:cs typeface="Arial"/>
              </a:defRPr>
            </a:lvl4pPr>
            <a:lvl5pPr>
              <a:defRPr sz="4800" b="1">
                <a:solidFill>
                  <a:srgbClr val="17313D"/>
                </a:solidFill>
                <a:latin typeface="Arial"/>
                <a:ea typeface="Arial"/>
                <a:cs typeface="Arial"/>
              </a:defRPr>
            </a:lvl5pPr>
            <a:lvl6pPr>
              <a:defRPr sz="4800" b="1">
                <a:solidFill>
                  <a:srgbClr val="17313D"/>
                </a:solidFill>
                <a:latin typeface="Arial"/>
                <a:ea typeface="Arial"/>
                <a:cs typeface="Arial"/>
              </a:defRPr>
            </a:lvl6pPr>
            <a:lvl7pPr>
              <a:defRPr sz="4800" b="1">
                <a:solidFill>
                  <a:srgbClr val="17313D"/>
                </a:solidFill>
                <a:latin typeface="Arial"/>
                <a:ea typeface="Arial"/>
                <a:cs typeface="Arial"/>
              </a:defRPr>
            </a:lvl7pPr>
            <a:lvl8pPr>
              <a:defRPr sz="4800" b="1">
                <a:solidFill>
                  <a:srgbClr val="17313D"/>
                </a:solidFill>
                <a:latin typeface="Arial"/>
                <a:ea typeface="Arial"/>
                <a:cs typeface="Arial"/>
              </a:defRPr>
            </a:lvl8pPr>
            <a:lvl9pPr>
              <a:defRPr sz="4800" b="1">
                <a:solidFill>
                  <a:srgbClr val="17313D"/>
                </a:solidFill>
                <a:latin typeface="Arial"/>
                <a:ea typeface="Arial"/>
                <a:cs typeface="Arial"/>
              </a:defRPr>
            </a:lvl9pPr>
          </a:lstStyle>
          <a:p xmlns:a="http://schemas.openxmlformats.org/drawingml/2006/main">
            <a:pPr>
              <a:defRPr sz="4800" b="1">
                <a:solidFill>
                  <a:srgbClr val="17313D"/>
                </a:solidFill>
                <a:latin typeface="Arial"/>
                <a:ea typeface="Arial"/>
                <a:cs typeface="Arial"/>
              </a:defRPr>
            </a:pPr>
            <a:r>
              <a:rPr sz="4800" b="1">
                <a:solidFill>
                  <a:srgbClr val="17313D"/>
                </a:solidFill>
                <a:latin typeface="Arial"/>
                <a:ea typeface="Arial"/>
                <a:cs typeface="Arial"/>
              </a:rPr>
              <a:t>What does occlusion</a:t>
            </a:r>
          </a:p>
          <a:p xmlns:a="http://schemas.openxmlformats.org/drawingml/2006/main">
            <a:pPr>
              <a:defRPr sz="4800" b="1">
                <a:solidFill>
                  <a:srgbClr val="17313D"/>
                </a:solidFill>
                <a:latin typeface="Arial"/>
                <a:ea typeface="Arial"/>
                <a:cs typeface="Arial"/>
              </a:defRPr>
            </a:pPr>
            <a:r>
              <a:rPr sz="4800" b="1">
                <a:solidFill>
                  <a:srgbClr val="17313D"/>
                </a:solidFill>
                <a:latin typeface="Arial"/>
                <a:ea typeface="Arial"/>
                <a:cs typeface="Arial"/>
              </a:rPr>
              <a:t>robustness measure?</a:t>
            </a:r>
          </a:p>
        </p:txBody>
      </p:sp>
      <p:sp>
        <p:nvSpPr>
          <p:cNvPr id="3" name="">
            <a:extLst xmlns:a="http://schemas.openxmlformats.org/drawingml/2006/main">
              <a:ext uri="{FF2B5EF4-FFF2-40B4-BE49-F238E27FC236}">
                <a16:creationId xmlns:a16="http://schemas.microsoft.com/office/drawing/2014/main" id="{910F5D35-D3DA-46B9-A967-A89B3A260212}"/>
              </a:ext>
            </a:extLst>
          </p:cNvPr>
          <p:cNvSpPr>
            <a:spLocks xmlns:a="http://schemas.openxmlformats.org/drawingml/2006/main" noGrp="1"/>
          </p:cNvSpPr>
          <p:nvPr/>
        </p:nvSpPr>
        <p:spPr>
          <a:xfrm xmlns:a="http://schemas.openxmlformats.org/drawingml/2006/main">
            <a:off x="647700" y="3743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16A"/>
                </a:solidFill>
                <a:latin typeface="Arial"/>
                <a:ea typeface="Arial"/>
                <a:cs typeface="Arial"/>
              </a:defRPr>
            </a:defPPr>
            <a:lvl1pPr>
              <a:defRPr sz="2400" b="0">
                <a:solidFill>
                  <a:srgbClr val="52616A"/>
                </a:solidFill>
                <a:latin typeface="Arial"/>
                <a:ea typeface="Arial"/>
                <a:cs typeface="Arial"/>
              </a:defRPr>
            </a:lvl1pPr>
            <a:lvl2pPr>
              <a:defRPr sz="2400" b="0">
                <a:solidFill>
                  <a:srgbClr val="52616A"/>
                </a:solidFill>
                <a:latin typeface="Arial"/>
                <a:ea typeface="Arial"/>
                <a:cs typeface="Arial"/>
              </a:defRPr>
            </a:lvl2pPr>
            <a:lvl3pPr>
              <a:defRPr sz="2400" b="0">
                <a:solidFill>
                  <a:srgbClr val="52616A"/>
                </a:solidFill>
                <a:latin typeface="Arial"/>
                <a:ea typeface="Arial"/>
                <a:cs typeface="Arial"/>
              </a:defRPr>
            </a:lvl3pPr>
            <a:lvl4pPr>
              <a:defRPr sz="2400" b="0">
                <a:solidFill>
                  <a:srgbClr val="52616A"/>
                </a:solidFill>
                <a:latin typeface="Arial"/>
                <a:ea typeface="Arial"/>
                <a:cs typeface="Arial"/>
              </a:defRPr>
            </a:lvl4pPr>
            <a:lvl5pPr>
              <a:defRPr sz="2400" b="0">
                <a:solidFill>
                  <a:srgbClr val="52616A"/>
                </a:solidFill>
                <a:latin typeface="Arial"/>
                <a:ea typeface="Arial"/>
                <a:cs typeface="Arial"/>
              </a:defRPr>
            </a:lvl5pPr>
            <a:lvl6pPr>
              <a:defRPr sz="2400" b="0">
                <a:solidFill>
                  <a:srgbClr val="52616A"/>
                </a:solidFill>
                <a:latin typeface="Arial"/>
                <a:ea typeface="Arial"/>
                <a:cs typeface="Arial"/>
              </a:defRPr>
            </a:lvl6pPr>
            <a:lvl7pPr>
              <a:defRPr sz="2400" b="0">
                <a:solidFill>
                  <a:srgbClr val="52616A"/>
                </a:solidFill>
                <a:latin typeface="Arial"/>
                <a:ea typeface="Arial"/>
                <a:cs typeface="Arial"/>
              </a:defRPr>
            </a:lvl7pPr>
            <a:lvl8pPr>
              <a:defRPr sz="2400" b="0">
                <a:solidFill>
                  <a:srgbClr val="52616A"/>
                </a:solidFill>
                <a:latin typeface="Arial"/>
                <a:ea typeface="Arial"/>
                <a:cs typeface="Arial"/>
              </a:defRPr>
            </a:lvl8pPr>
            <a:lvl9pPr>
              <a:defRPr sz="2400" b="0">
                <a:solidFill>
                  <a:srgbClr val="52616A"/>
                </a:solidFill>
                <a:latin typeface="Arial"/>
                <a:ea typeface="Arial"/>
                <a:cs typeface="Arial"/>
              </a:defRPr>
            </a:lvl9pPr>
          </a:lstStyle>
          <a:p xmlns:a="http://schemas.openxmlformats.org/drawingml/2006/main">
            <a:pPr>
              <a:defRPr sz="2400" b="0">
                <a:solidFill>
                  <a:srgbClr val="52616A"/>
                </a:solidFill>
                <a:latin typeface="Arial"/>
                <a:ea typeface="Arial"/>
                <a:cs typeface="Arial"/>
              </a:defRPr>
            </a:pPr>
            <a:r>
              <a:rPr sz="2400" b="0">
                <a:solidFill>
                  <a:srgbClr val="52616A"/>
                </a:solidFill>
                <a:latin typeface="Arial"/>
                <a:ea typeface="Arial"/>
                <a:cs typeface="Arial"/>
              </a:rPr>
              <a:t>Separating visible image area from visible foreground</a:t>
            </a:r>
          </a:p>
          <a:p xmlns:a="http://schemas.openxmlformats.org/drawingml/2006/main">
            <a:pPr>
              <a:defRPr sz="2400" b="0">
                <a:solidFill>
                  <a:srgbClr val="52616A"/>
                </a:solidFill>
                <a:latin typeface="Arial"/>
                <a:ea typeface="Arial"/>
                <a:cs typeface="Arial"/>
              </a:defRPr>
            </a:pPr>
            <a:r>
              <a:rPr sz="2400" b="0">
                <a:solidFill>
                  <a:srgbClr val="52616A"/>
                </a:solidFill>
                <a:latin typeface="Arial"/>
                <a:ea typeface="Arial"/>
                <a:cs typeface="Arial"/>
              </a:rPr>
              <a:t>in frozen AIMv2 and DINOv2</a:t>
            </a:r>
          </a:p>
        </p:txBody>
      </p:sp>
      <p:sp>
        <p:nvSpPr>
          <p:cNvPr id="4" name="">
            <a:extLst xmlns:a="http://schemas.openxmlformats.org/drawingml/2006/main">
              <a:ext uri="{FF2B5EF4-FFF2-40B4-BE49-F238E27FC236}">
                <a16:creationId xmlns:a16="http://schemas.microsoft.com/office/drawing/2014/main" id="{64BF558A-BA06-4B69-9E1B-DCE0E2CC82B3}"/>
              </a:ext>
            </a:extLst>
          </p:cNvPr>
          <p:cNvSpPr>
            <a:spLocks xmlns:a="http://schemas.openxmlformats.org/drawingml/2006/main" noGrp="1"/>
          </p:cNvSpPr>
          <p:nvPr/>
        </p:nvSpPr>
        <p:spPr>
          <a:xfrm xmlns:a="http://schemas.openxmlformats.org/drawingml/2006/main">
            <a:off x="6477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Boshen Yang</a:t>
            </a:r>
          </a:p>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Oxford-IIIT Pet pilot, executed October 18, 2026</a:t>
            </a:r>
          </a:p>
        </p:txBody>
      </p:sp>
    </p:spTree>
    <p:extLst>
      <p:ext uri="{BB962C8B-B14F-4D97-AF65-F5344CB8AC3E}">
        <p14:creationId xmlns:p14="http://schemas.microsoft.com/office/powerpoint/2010/main" val="6748382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C62951-38F4-4BB7-99D8-4C2109EA5DCE}"/>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Equal image area can retain unequal foreground</a:t>
            </a:r>
          </a:p>
        </p:txBody>
      </p:sp>
      <p:sp>
        <p:nvSpPr>
          <p:cNvPr id="2" name="">
            <a:extLst xmlns:a="http://schemas.openxmlformats.org/drawingml/2006/main">
              <a:ext uri="{FF2B5EF4-FFF2-40B4-BE49-F238E27FC236}">
                <a16:creationId xmlns:a16="http://schemas.microsoft.com/office/drawing/2014/main" id="{B914272A-323A-45EE-A5FE-D8E062F6C592}"/>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E50F600-71EC-411F-8413-066BBF119C1E}"/>
              </a:ext>
            </a:extLst>
          </p:cNvPr>
          <p:cNvSpPr>
            <a:spLocks xmlns:a="http://schemas.openxmlformats.org/drawingml/2006/main" noGrp="1"/>
          </p:cNvSpPr>
          <p:nvPr/>
        </p:nvSpPr>
        <p:spPr>
          <a:xfrm xmlns:a="http://schemas.openxmlformats.org/drawingml/2006/main">
            <a:off x="609600" y="172402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Image visibility</a:t>
            </a:r>
          </a:p>
        </p:txBody>
      </p:sp>
      <p:sp>
        <p:nvSpPr>
          <p:cNvPr id="4" name="">
            <a:extLst xmlns:a="http://schemas.openxmlformats.org/drawingml/2006/main">
              <a:ext uri="{FF2B5EF4-FFF2-40B4-BE49-F238E27FC236}">
                <a16:creationId xmlns:a16="http://schemas.microsoft.com/office/drawing/2014/main" id="{3D785701-7015-4C64-80E0-2B870724C2B5}"/>
              </a:ext>
            </a:extLst>
          </p:cNvPr>
          <p:cNvSpPr>
            <a:spLocks xmlns:a="http://schemas.openxmlformats.org/drawingml/2006/main" noGrp="1"/>
          </p:cNvSpPr>
          <p:nvPr/>
        </p:nvSpPr>
        <p:spPr>
          <a:xfrm xmlns:a="http://schemas.openxmlformats.org/drawingml/2006/main">
            <a:off x="609600" y="22860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7313D"/>
                </a:solidFill>
                <a:latin typeface="Arial"/>
                <a:ea typeface="Arial"/>
                <a:cs typeface="Arial"/>
              </a:defRPr>
            </a:defPPr>
            <a:lvl1pPr>
              <a:defRPr sz="2550" b="0">
                <a:solidFill>
                  <a:srgbClr val="17313D"/>
                </a:solidFill>
                <a:latin typeface="Arial"/>
                <a:ea typeface="Arial"/>
                <a:cs typeface="Arial"/>
              </a:defRPr>
            </a:lvl1pPr>
            <a:lvl2pPr>
              <a:defRPr sz="2550" b="0">
                <a:solidFill>
                  <a:srgbClr val="17313D"/>
                </a:solidFill>
                <a:latin typeface="Arial"/>
                <a:ea typeface="Arial"/>
                <a:cs typeface="Arial"/>
              </a:defRPr>
            </a:lvl2pPr>
            <a:lvl3pPr>
              <a:defRPr sz="2550" b="0">
                <a:solidFill>
                  <a:srgbClr val="17313D"/>
                </a:solidFill>
                <a:latin typeface="Arial"/>
                <a:ea typeface="Arial"/>
                <a:cs typeface="Arial"/>
              </a:defRPr>
            </a:lvl3pPr>
            <a:lvl4pPr>
              <a:defRPr sz="2550" b="0">
                <a:solidFill>
                  <a:srgbClr val="17313D"/>
                </a:solidFill>
                <a:latin typeface="Arial"/>
                <a:ea typeface="Arial"/>
                <a:cs typeface="Arial"/>
              </a:defRPr>
            </a:lvl4pPr>
            <a:lvl5pPr>
              <a:defRPr sz="2550" b="0">
                <a:solidFill>
                  <a:srgbClr val="17313D"/>
                </a:solidFill>
                <a:latin typeface="Arial"/>
                <a:ea typeface="Arial"/>
                <a:cs typeface="Arial"/>
              </a:defRPr>
            </a:lvl5pPr>
            <a:lvl6pPr>
              <a:defRPr sz="2550" b="0">
                <a:solidFill>
                  <a:srgbClr val="17313D"/>
                </a:solidFill>
                <a:latin typeface="Arial"/>
                <a:ea typeface="Arial"/>
                <a:cs typeface="Arial"/>
              </a:defRPr>
            </a:lvl6pPr>
            <a:lvl7pPr>
              <a:defRPr sz="2550" b="0">
                <a:solidFill>
                  <a:srgbClr val="17313D"/>
                </a:solidFill>
                <a:latin typeface="Arial"/>
                <a:ea typeface="Arial"/>
                <a:cs typeface="Arial"/>
              </a:defRPr>
            </a:lvl7pPr>
            <a:lvl8pPr>
              <a:defRPr sz="2550" b="0">
                <a:solidFill>
                  <a:srgbClr val="17313D"/>
                </a:solidFill>
                <a:latin typeface="Arial"/>
                <a:ea typeface="Arial"/>
                <a:cs typeface="Arial"/>
              </a:defRPr>
            </a:lvl8pPr>
            <a:lvl9pPr>
              <a:defRPr sz="2550" b="0">
                <a:solidFill>
                  <a:srgbClr val="17313D"/>
                </a:solidFill>
                <a:latin typeface="Arial"/>
                <a:ea typeface="Arial"/>
                <a:cs typeface="Arial"/>
              </a:defRPr>
            </a:lvl9pPr>
          </a:lstStyle>
          <a:p xmlns:a="http://schemas.openxmlformats.org/drawingml/2006/main">
            <a:pPr>
              <a:defRPr sz="2550" b="0">
                <a:solidFill>
                  <a:srgbClr val="17313D"/>
                </a:solidFill>
                <a:latin typeface="Arial"/>
                <a:ea typeface="Arial"/>
                <a:cs typeface="Arial"/>
              </a:defRPr>
            </a:pPr>
            <a:r>
              <a:rPr sz="2550" b="0">
                <a:solidFill>
                  <a:srgbClr val="17313D"/>
                </a:solidFill>
                <a:latin typeface="Arial"/>
                <a:ea typeface="Arial"/>
                <a:cs typeface="Arial"/>
              </a:rPr>
              <a:t>How much of the whole image remains?</a:t>
            </a:r>
          </a:p>
        </p:txBody>
      </p:sp>
      <p:sp>
        <p:nvSpPr>
          <p:cNvPr id="5" name="">
            <a:extLst xmlns:a="http://schemas.openxmlformats.org/drawingml/2006/main">
              <a:ext uri="{FF2B5EF4-FFF2-40B4-BE49-F238E27FC236}">
                <a16:creationId xmlns:a16="http://schemas.microsoft.com/office/drawing/2014/main" id="{43BA395E-176E-41EF-A3CB-CA62AB959FA3}"/>
              </a:ext>
            </a:extLst>
          </p:cNvPr>
          <p:cNvSpPr>
            <a:spLocks xmlns:a="http://schemas.openxmlformats.org/drawingml/2006/main" noGrp="1"/>
          </p:cNvSpPr>
          <p:nvPr/>
        </p:nvSpPr>
        <p:spPr>
          <a:xfrm xmlns:a="http://schemas.openxmlformats.org/drawingml/2006/main">
            <a:off x="6429375" y="172402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Arial"/>
                <a:ea typeface="Arial"/>
                <a:cs typeface="Arial"/>
              </a:defRPr>
            </a:defPPr>
            <a:lvl1pPr>
              <a:defRPr sz="2100" b="1">
                <a:solidFill>
                  <a:srgbClr val="007F7B"/>
                </a:solidFill>
                <a:latin typeface="Arial"/>
                <a:ea typeface="Arial"/>
                <a:cs typeface="Arial"/>
              </a:defRPr>
            </a:lvl1pPr>
            <a:lvl2pPr>
              <a:defRPr sz="2100" b="1">
                <a:solidFill>
                  <a:srgbClr val="007F7B"/>
                </a:solidFill>
                <a:latin typeface="Arial"/>
                <a:ea typeface="Arial"/>
                <a:cs typeface="Arial"/>
              </a:defRPr>
            </a:lvl2pPr>
            <a:lvl3pPr>
              <a:defRPr sz="2100" b="1">
                <a:solidFill>
                  <a:srgbClr val="007F7B"/>
                </a:solidFill>
                <a:latin typeface="Arial"/>
                <a:ea typeface="Arial"/>
                <a:cs typeface="Arial"/>
              </a:defRPr>
            </a:lvl3pPr>
            <a:lvl4pPr>
              <a:defRPr sz="2100" b="1">
                <a:solidFill>
                  <a:srgbClr val="007F7B"/>
                </a:solidFill>
                <a:latin typeface="Arial"/>
                <a:ea typeface="Arial"/>
                <a:cs typeface="Arial"/>
              </a:defRPr>
            </a:lvl4pPr>
            <a:lvl5pPr>
              <a:defRPr sz="2100" b="1">
                <a:solidFill>
                  <a:srgbClr val="007F7B"/>
                </a:solidFill>
                <a:latin typeface="Arial"/>
                <a:ea typeface="Arial"/>
                <a:cs typeface="Arial"/>
              </a:defRPr>
            </a:lvl5pPr>
            <a:lvl6pPr>
              <a:defRPr sz="2100" b="1">
                <a:solidFill>
                  <a:srgbClr val="007F7B"/>
                </a:solidFill>
                <a:latin typeface="Arial"/>
                <a:ea typeface="Arial"/>
                <a:cs typeface="Arial"/>
              </a:defRPr>
            </a:lvl6pPr>
            <a:lvl7pPr>
              <a:defRPr sz="2100" b="1">
                <a:solidFill>
                  <a:srgbClr val="007F7B"/>
                </a:solidFill>
                <a:latin typeface="Arial"/>
                <a:ea typeface="Arial"/>
                <a:cs typeface="Arial"/>
              </a:defRPr>
            </a:lvl7pPr>
            <a:lvl8pPr>
              <a:defRPr sz="2100" b="1">
                <a:solidFill>
                  <a:srgbClr val="007F7B"/>
                </a:solidFill>
                <a:latin typeface="Arial"/>
                <a:ea typeface="Arial"/>
                <a:cs typeface="Arial"/>
              </a:defRPr>
            </a:lvl8pPr>
            <a:lvl9pPr>
              <a:defRPr sz="2100" b="1">
                <a:solidFill>
                  <a:srgbClr val="007F7B"/>
                </a:solidFill>
                <a:latin typeface="Arial"/>
                <a:ea typeface="Arial"/>
                <a:cs typeface="Arial"/>
              </a:defRPr>
            </a:lvl9pPr>
          </a:lstStyle>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Foreground visibility</a:t>
            </a:r>
          </a:p>
        </p:txBody>
      </p:sp>
      <p:sp>
        <p:nvSpPr>
          <p:cNvPr id="6" name="">
            <a:extLst xmlns:a="http://schemas.openxmlformats.org/drawingml/2006/main">
              <a:ext uri="{FF2B5EF4-FFF2-40B4-BE49-F238E27FC236}">
                <a16:creationId xmlns:a16="http://schemas.microsoft.com/office/drawing/2014/main" id="{2B3C7A37-4C88-4010-8DB8-826166754ADC}"/>
              </a:ext>
            </a:extLst>
          </p:cNvPr>
          <p:cNvSpPr>
            <a:spLocks xmlns:a="http://schemas.openxmlformats.org/drawingml/2006/main" noGrp="1"/>
          </p:cNvSpPr>
          <p:nvPr/>
        </p:nvSpPr>
        <p:spPr>
          <a:xfrm xmlns:a="http://schemas.openxmlformats.org/drawingml/2006/main">
            <a:off x="6429375" y="22860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7313D"/>
                </a:solidFill>
                <a:latin typeface="Arial"/>
                <a:ea typeface="Arial"/>
                <a:cs typeface="Arial"/>
              </a:defRPr>
            </a:defPPr>
            <a:lvl1pPr>
              <a:defRPr sz="2550" b="0">
                <a:solidFill>
                  <a:srgbClr val="17313D"/>
                </a:solidFill>
                <a:latin typeface="Arial"/>
                <a:ea typeface="Arial"/>
                <a:cs typeface="Arial"/>
              </a:defRPr>
            </a:lvl1pPr>
            <a:lvl2pPr>
              <a:defRPr sz="2550" b="0">
                <a:solidFill>
                  <a:srgbClr val="17313D"/>
                </a:solidFill>
                <a:latin typeface="Arial"/>
                <a:ea typeface="Arial"/>
                <a:cs typeface="Arial"/>
              </a:defRPr>
            </a:lvl2pPr>
            <a:lvl3pPr>
              <a:defRPr sz="2550" b="0">
                <a:solidFill>
                  <a:srgbClr val="17313D"/>
                </a:solidFill>
                <a:latin typeface="Arial"/>
                <a:ea typeface="Arial"/>
                <a:cs typeface="Arial"/>
              </a:defRPr>
            </a:lvl3pPr>
            <a:lvl4pPr>
              <a:defRPr sz="2550" b="0">
                <a:solidFill>
                  <a:srgbClr val="17313D"/>
                </a:solidFill>
                <a:latin typeface="Arial"/>
                <a:ea typeface="Arial"/>
                <a:cs typeface="Arial"/>
              </a:defRPr>
            </a:lvl4pPr>
            <a:lvl5pPr>
              <a:defRPr sz="2550" b="0">
                <a:solidFill>
                  <a:srgbClr val="17313D"/>
                </a:solidFill>
                <a:latin typeface="Arial"/>
                <a:ea typeface="Arial"/>
                <a:cs typeface="Arial"/>
              </a:defRPr>
            </a:lvl5pPr>
            <a:lvl6pPr>
              <a:defRPr sz="2550" b="0">
                <a:solidFill>
                  <a:srgbClr val="17313D"/>
                </a:solidFill>
                <a:latin typeface="Arial"/>
                <a:ea typeface="Arial"/>
                <a:cs typeface="Arial"/>
              </a:defRPr>
            </a:lvl6pPr>
            <a:lvl7pPr>
              <a:defRPr sz="2550" b="0">
                <a:solidFill>
                  <a:srgbClr val="17313D"/>
                </a:solidFill>
                <a:latin typeface="Arial"/>
                <a:ea typeface="Arial"/>
                <a:cs typeface="Arial"/>
              </a:defRPr>
            </a:lvl7pPr>
            <a:lvl8pPr>
              <a:defRPr sz="2550" b="0">
                <a:solidFill>
                  <a:srgbClr val="17313D"/>
                </a:solidFill>
                <a:latin typeface="Arial"/>
                <a:ea typeface="Arial"/>
                <a:cs typeface="Arial"/>
              </a:defRPr>
            </a:lvl8pPr>
            <a:lvl9pPr>
              <a:defRPr sz="2550" b="0">
                <a:solidFill>
                  <a:srgbClr val="17313D"/>
                </a:solidFill>
                <a:latin typeface="Arial"/>
                <a:ea typeface="Arial"/>
                <a:cs typeface="Arial"/>
              </a:defRPr>
            </a:lvl9pPr>
          </a:lstStyle>
          <a:p xmlns:a="http://schemas.openxmlformats.org/drawingml/2006/main">
            <a:pPr>
              <a:defRPr sz="2550" b="0">
                <a:solidFill>
                  <a:srgbClr val="17313D"/>
                </a:solidFill>
                <a:latin typeface="Arial"/>
                <a:ea typeface="Arial"/>
                <a:cs typeface="Arial"/>
              </a:defRPr>
            </a:pPr>
            <a:r>
              <a:rPr sz="2550" b="0">
                <a:solidFill>
                  <a:srgbClr val="17313D"/>
                </a:solidFill>
                <a:latin typeface="Arial"/>
                <a:ea typeface="Arial"/>
                <a:cs typeface="Arial"/>
              </a:rPr>
              <a:t>How much of the annotated animal remains?</a:t>
            </a:r>
          </a:p>
        </p:txBody>
      </p:sp>
      <p:sp>
        <p:nvSpPr>
          <p:cNvPr id="7" name="">
            <a:extLst xmlns:a="http://schemas.openxmlformats.org/drawingml/2006/main">
              <a:ext uri="{FF2B5EF4-FFF2-40B4-BE49-F238E27FC236}">
                <a16:creationId xmlns:a16="http://schemas.microsoft.com/office/drawing/2014/main" id="{0931F425-17AB-41F4-BF9B-0E4DAEC3F26D}"/>
              </a:ext>
            </a:extLst>
          </p:cNvPr>
          <p:cNvSpPr>
            <a:spLocks xmlns:a="http://schemas.openxmlformats.org/drawingml/2006/main" noGrp="1"/>
          </p:cNvSpPr>
          <p:nvPr/>
        </p:nvSpPr>
        <p:spPr>
          <a:xfrm xmlns:a="http://schemas.openxmlformats.org/drawingml/2006/main">
            <a:off x="609600" y="42957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7313D"/>
                </a:solidFill>
                <a:latin typeface="Arial"/>
                <a:ea typeface="Arial"/>
                <a:cs typeface="Arial"/>
              </a:defRPr>
            </a:defPPr>
            <a:lvl1pPr>
              <a:defRPr sz="2700" b="1">
                <a:solidFill>
                  <a:srgbClr val="17313D"/>
                </a:solidFill>
                <a:latin typeface="Arial"/>
                <a:ea typeface="Arial"/>
                <a:cs typeface="Arial"/>
              </a:defRPr>
            </a:lvl1pPr>
            <a:lvl2pPr>
              <a:defRPr sz="2700" b="1">
                <a:solidFill>
                  <a:srgbClr val="17313D"/>
                </a:solidFill>
                <a:latin typeface="Arial"/>
                <a:ea typeface="Arial"/>
                <a:cs typeface="Arial"/>
              </a:defRPr>
            </a:lvl2pPr>
            <a:lvl3pPr>
              <a:defRPr sz="2700" b="1">
                <a:solidFill>
                  <a:srgbClr val="17313D"/>
                </a:solidFill>
                <a:latin typeface="Arial"/>
                <a:ea typeface="Arial"/>
                <a:cs typeface="Arial"/>
              </a:defRPr>
            </a:lvl3pPr>
            <a:lvl4pPr>
              <a:defRPr sz="2700" b="1">
                <a:solidFill>
                  <a:srgbClr val="17313D"/>
                </a:solidFill>
                <a:latin typeface="Arial"/>
                <a:ea typeface="Arial"/>
                <a:cs typeface="Arial"/>
              </a:defRPr>
            </a:lvl4pPr>
            <a:lvl5pPr>
              <a:defRPr sz="2700" b="1">
                <a:solidFill>
                  <a:srgbClr val="17313D"/>
                </a:solidFill>
                <a:latin typeface="Arial"/>
                <a:ea typeface="Arial"/>
                <a:cs typeface="Arial"/>
              </a:defRPr>
            </a:lvl5pPr>
            <a:lvl6pPr>
              <a:defRPr sz="2700" b="1">
                <a:solidFill>
                  <a:srgbClr val="17313D"/>
                </a:solidFill>
                <a:latin typeface="Arial"/>
                <a:ea typeface="Arial"/>
                <a:cs typeface="Arial"/>
              </a:defRPr>
            </a:lvl6pPr>
            <a:lvl7pPr>
              <a:defRPr sz="2700" b="1">
                <a:solidFill>
                  <a:srgbClr val="17313D"/>
                </a:solidFill>
                <a:latin typeface="Arial"/>
                <a:ea typeface="Arial"/>
                <a:cs typeface="Arial"/>
              </a:defRPr>
            </a:lvl7pPr>
            <a:lvl8pPr>
              <a:defRPr sz="2700" b="1">
                <a:solidFill>
                  <a:srgbClr val="17313D"/>
                </a:solidFill>
                <a:latin typeface="Arial"/>
                <a:ea typeface="Arial"/>
                <a:cs typeface="Arial"/>
              </a:defRPr>
            </a:lvl8pPr>
            <a:lvl9pPr>
              <a:defRPr sz="2700" b="1">
                <a:solidFill>
                  <a:srgbClr val="17313D"/>
                </a:solidFill>
                <a:latin typeface="Arial"/>
                <a:ea typeface="Arial"/>
                <a:cs typeface="Arial"/>
              </a:defRPr>
            </a:lvl9pPr>
          </a:lstStyle>
          <a:p xmlns:a="http://schemas.openxmlformats.org/drawingml/2006/main">
            <a:pPr>
              <a:defRPr sz="2700" b="1">
                <a:solidFill>
                  <a:srgbClr val="17313D"/>
                </a:solidFill>
                <a:latin typeface="Arial"/>
                <a:ea typeface="Arial"/>
                <a:cs typeface="Arial"/>
              </a:defRPr>
            </a:pPr>
            <a:r>
              <a:rPr sz="2700" b="1">
                <a:solidFill>
                  <a:srgbClr val="17313D"/>
                </a:solidFill>
                <a:latin typeface="Arial"/>
                <a:ea typeface="Arial"/>
                <a:cs typeface="Arial"/>
              </a:rPr>
              <a:t>The original comparison mixes image area, object content and spatial position.</a:t>
            </a:r>
          </a:p>
        </p:txBody>
      </p:sp>
      <p:sp>
        <p:nvSpPr>
          <p:cNvPr id="8" name="">
            <a:extLst xmlns:a="http://schemas.openxmlformats.org/drawingml/2006/main">
              <a:ext uri="{FF2B5EF4-FFF2-40B4-BE49-F238E27FC236}">
                <a16:creationId xmlns:a16="http://schemas.microsoft.com/office/drawing/2014/main" id="{F0131E01-0F4D-4F84-9838-69DE00C5C776}"/>
              </a:ext>
            </a:extLst>
          </p:cNvPr>
          <p:cNvSpPr>
            <a:spLocks xmlns:a="http://schemas.openxmlformats.org/drawingml/2006/main" noGrp="1"/>
          </p:cNvSpPr>
          <p:nvPr/>
        </p:nvSpPr>
        <p:spPr>
          <a:xfrm xmlns:a="http://schemas.openxmlformats.org/drawingml/2006/main">
            <a:off x="609600" y="56197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Foreground area is a measurable proxy. It is not the same as semantic information.</a:t>
            </a:r>
          </a:p>
        </p:txBody>
      </p:sp>
    </p:spTree>
    <p:extLst>
      <p:ext uri="{BB962C8B-B14F-4D97-AF65-F5344CB8AC3E}">
        <p14:creationId xmlns:p14="http://schemas.microsoft.com/office/powerpoint/2010/main" val="6451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2C5A90-06E4-4BEB-B487-C4D554928E4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revised question is about interpretation</a:t>
            </a:r>
          </a:p>
        </p:txBody>
      </p:sp>
      <p:sp>
        <p:nvSpPr>
          <p:cNvPr id="2" name="">
            <a:extLst xmlns:a="http://schemas.openxmlformats.org/drawingml/2006/main">
              <a:ext uri="{FF2B5EF4-FFF2-40B4-BE49-F238E27FC236}">
                <a16:creationId xmlns:a16="http://schemas.microsoft.com/office/drawing/2014/main" id="{1EBCD0AB-CD4A-42A1-B805-58DECAC8ED09}"/>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5692097-F41E-4708-AC06-4DE773304E8B}"/>
              </a:ext>
            </a:extLst>
          </p:cNvPr>
          <p:cNvSpPr>
            <a:spLocks xmlns:a="http://schemas.openxmlformats.org/drawingml/2006/main" noGrp="1"/>
          </p:cNvSpPr>
          <p:nvPr/>
        </p:nvSpPr>
        <p:spPr>
          <a:xfrm xmlns:a="http://schemas.openxmlformats.org/drawingml/2006/main">
            <a:off x="609600" y="16287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17313D"/>
                </a:solidFill>
                <a:latin typeface="Arial"/>
                <a:ea typeface="Arial"/>
                <a:cs typeface="Arial"/>
              </a:defRPr>
            </a:defPPr>
            <a:lvl1pPr>
              <a:defRPr sz="2925" b="1">
                <a:solidFill>
                  <a:srgbClr val="17313D"/>
                </a:solidFill>
                <a:latin typeface="Arial"/>
                <a:ea typeface="Arial"/>
                <a:cs typeface="Arial"/>
              </a:defRPr>
            </a:lvl1pPr>
            <a:lvl2pPr>
              <a:defRPr sz="2925" b="1">
                <a:solidFill>
                  <a:srgbClr val="17313D"/>
                </a:solidFill>
                <a:latin typeface="Arial"/>
                <a:ea typeface="Arial"/>
                <a:cs typeface="Arial"/>
              </a:defRPr>
            </a:lvl2pPr>
            <a:lvl3pPr>
              <a:defRPr sz="2925" b="1">
                <a:solidFill>
                  <a:srgbClr val="17313D"/>
                </a:solidFill>
                <a:latin typeface="Arial"/>
                <a:ea typeface="Arial"/>
                <a:cs typeface="Arial"/>
              </a:defRPr>
            </a:lvl3pPr>
            <a:lvl4pPr>
              <a:defRPr sz="2925" b="1">
                <a:solidFill>
                  <a:srgbClr val="17313D"/>
                </a:solidFill>
                <a:latin typeface="Arial"/>
                <a:ea typeface="Arial"/>
                <a:cs typeface="Arial"/>
              </a:defRPr>
            </a:lvl4pPr>
            <a:lvl5pPr>
              <a:defRPr sz="2925" b="1">
                <a:solidFill>
                  <a:srgbClr val="17313D"/>
                </a:solidFill>
                <a:latin typeface="Arial"/>
                <a:ea typeface="Arial"/>
                <a:cs typeface="Arial"/>
              </a:defRPr>
            </a:lvl5pPr>
            <a:lvl6pPr>
              <a:defRPr sz="2925" b="1">
                <a:solidFill>
                  <a:srgbClr val="17313D"/>
                </a:solidFill>
                <a:latin typeface="Arial"/>
                <a:ea typeface="Arial"/>
                <a:cs typeface="Arial"/>
              </a:defRPr>
            </a:lvl6pPr>
            <a:lvl7pPr>
              <a:defRPr sz="2925" b="1">
                <a:solidFill>
                  <a:srgbClr val="17313D"/>
                </a:solidFill>
                <a:latin typeface="Arial"/>
                <a:ea typeface="Arial"/>
                <a:cs typeface="Arial"/>
              </a:defRPr>
            </a:lvl7pPr>
            <a:lvl8pPr>
              <a:defRPr sz="2925" b="1">
                <a:solidFill>
                  <a:srgbClr val="17313D"/>
                </a:solidFill>
                <a:latin typeface="Arial"/>
                <a:ea typeface="Arial"/>
                <a:cs typeface="Arial"/>
              </a:defRPr>
            </a:lvl8pPr>
            <a:lvl9pPr>
              <a:defRPr sz="2925" b="1">
                <a:solidFill>
                  <a:srgbClr val="17313D"/>
                </a:solidFill>
                <a:latin typeface="Arial"/>
                <a:ea typeface="Arial"/>
                <a:cs typeface="Arial"/>
              </a:defRPr>
            </a:lvl9pPr>
          </a:lstStyle>
          <a:p xmlns:a="http://schemas.openxmlformats.org/drawingml/2006/main">
            <a:pPr>
              <a:defRPr sz="2925" b="1">
                <a:solidFill>
                  <a:srgbClr val="17313D"/>
                </a:solidFill>
                <a:latin typeface="Arial"/>
                <a:ea typeface="Arial"/>
                <a:cs typeface="Arial"/>
              </a:defRPr>
            </a:pPr>
            <a:r>
              <a:rPr sz="2925" b="1">
                <a:solidFill>
                  <a:srgbClr val="17313D"/>
                </a:solidFill>
                <a:latin typeface="Arial"/>
                <a:ea typeface="Arial"/>
                <a:cs typeface="Arial"/>
              </a:rPr>
              <a:t>Do mask-location differences remain</a:t>
            </a:r>
          </a:p>
          <a:p xmlns:a="http://schemas.openxmlformats.org/drawingml/2006/main">
            <a:pPr>
              <a:defRPr sz="2925" b="1">
                <a:solidFill>
                  <a:srgbClr val="17313D"/>
                </a:solidFill>
                <a:latin typeface="Arial"/>
                <a:ea typeface="Arial"/>
                <a:cs typeface="Arial"/>
              </a:defRPr>
            </a:pPr>
            <a:r>
              <a:rPr sz="2925" b="1">
                <a:solidFill>
                  <a:srgbClr val="17313D"/>
                </a:solidFill>
                <a:latin typeface="Arial"/>
                <a:ea typeface="Arial"/>
                <a:cs typeface="Arial"/>
              </a:rPr>
              <a:t>when visible foreground is similar?</a:t>
            </a:r>
          </a:p>
        </p:txBody>
      </p:sp>
      <p:sp>
        <p:nvSpPr>
          <p:cNvPr id="4" name="">
            <a:extLst xmlns:a="http://schemas.openxmlformats.org/drawingml/2006/main">
              <a:ext uri="{FF2B5EF4-FFF2-40B4-BE49-F238E27FC236}">
                <a16:creationId xmlns:a16="http://schemas.microsoft.com/office/drawing/2014/main" id="{6D24878A-E648-442A-A072-C4ACB49B75BA}"/>
              </a:ext>
            </a:extLst>
          </p:cNvPr>
          <p:cNvSpPr>
            <a:spLocks xmlns:a="http://schemas.openxmlformats.org/drawingml/2006/main" noGrp="1"/>
          </p:cNvSpPr>
          <p:nvPr/>
        </p:nvSpPr>
        <p:spPr>
          <a:xfrm xmlns:a="http://schemas.openxmlformats.org/drawingml/2006/main">
            <a:off x="609600" y="3209925"/>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13D"/>
                </a:solidFill>
                <a:latin typeface="Arial"/>
                <a:ea typeface="Arial"/>
                <a:cs typeface="Arial"/>
              </a:defRPr>
            </a:defPPr>
            <a:lvl1pPr>
              <a:defRPr sz="2175" b="0">
                <a:solidFill>
                  <a:srgbClr val="17313D"/>
                </a:solidFill>
                <a:latin typeface="Arial"/>
                <a:ea typeface="Arial"/>
                <a:cs typeface="Arial"/>
              </a:defRPr>
            </a:lvl1pPr>
            <a:lvl2pPr>
              <a:defRPr sz="2175" b="0">
                <a:solidFill>
                  <a:srgbClr val="17313D"/>
                </a:solidFill>
                <a:latin typeface="Arial"/>
                <a:ea typeface="Arial"/>
                <a:cs typeface="Arial"/>
              </a:defRPr>
            </a:lvl2pPr>
            <a:lvl3pPr>
              <a:defRPr sz="2175" b="0">
                <a:solidFill>
                  <a:srgbClr val="17313D"/>
                </a:solidFill>
                <a:latin typeface="Arial"/>
                <a:ea typeface="Arial"/>
                <a:cs typeface="Arial"/>
              </a:defRPr>
            </a:lvl3pPr>
            <a:lvl4pPr>
              <a:defRPr sz="2175" b="0">
                <a:solidFill>
                  <a:srgbClr val="17313D"/>
                </a:solidFill>
                <a:latin typeface="Arial"/>
                <a:ea typeface="Arial"/>
                <a:cs typeface="Arial"/>
              </a:defRPr>
            </a:lvl4pPr>
            <a:lvl5pPr>
              <a:defRPr sz="2175" b="0">
                <a:solidFill>
                  <a:srgbClr val="17313D"/>
                </a:solidFill>
                <a:latin typeface="Arial"/>
                <a:ea typeface="Arial"/>
                <a:cs typeface="Arial"/>
              </a:defRPr>
            </a:lvl5pPr>
            <a:lvl6pPr>
              <a:defRPr sz="2175" b="0">
                <a:solidFill>
                  <a:srgbClr val="17313D"/>
                </a:solidFill>
                <a:latin typeface="Arial"/>
                <a:ea typeface="Arial"/>
                <a:cs typeface="Arial"/>
              </a:defRPr>
            </a:lvl6pPr>
            <a:lvl7pPr>
              <a:defRPr sz="2175" b="0">
                <a:solidFill>
                  <a:srgbClr val="17313D"/>
                </a:solidFill>
                <a:latin typeface="Arial"/>
                <a:ea typeface="Arial"/>
                <a:cs typeface="Arial"/>
              </a:defRPr>
            </a:lvl7pPr>
            <a:lvl8pPr>
              <a:defRPr sz="2175" b="0">
                <a:solidFill>
                  <a:srgbClr val="17313D"/>
                </a:solidFill>
                <a:latin typeface="Arial"/>
                <a:ea typeface="Arial"/>
                <a:cs typeface="Arial"/>
              </a:defRPr>
            </a:lvl8pPr>
            <a:lvl9pPr>
              <a:defRPr sz="2175" b="0">
                <a:solidFill>
                  <a:srgbClr val="17313D"/>
                </a:solidFill>
                <a:latin typeface="Arial"/>
                <a:ea typeface="Arial"/>
                <a:cs typeface="Arial"/>
              </a:defRPr>
            </a:lvl9pPr>
          </a:lstStyle>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1. Measure foreground coverage under each mask.</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2. Compare equal-area, same-image diagnostic pairs.</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3. Characterize both encoders under shared conditions.</a:t>
            </a:r>
          </a:p>
        </p:txBody>
      </p:sp>
      <p:sp>
        <p:nvSpPr>
          <p:cNvPr id="5" name="">
            <a:extLst xmlns:a="http://schemas.openxmlformats.org/drawingml/2006/main">
              <a:ext uri="{FF2B5EF4-FFF2-40B4-BE49-F238E27FC236}">
                <a16:creationId xmlns:a16="http://schemas.microsoft.com/office/drawing/2014/main" id="{078D3F46-5F37-4616-BCBE-C6EBAD08038E}"/>
              </a:ext>
            </a:extLst>
          </p:cNvPr>
          <p:cNvSpPr>
            <a:spLocks xmlns:a="http://schemas.openxmlformats.org/drawingml/2006/main" noGrp="1"/>
          </p:cNvSpPr>
          <p:nvPr/>
        </p:nvSpPr>
        <p:spPr>
          <a:xfrm xmlns:a="http://schemas.openxmlformats.org/drawingml/2006/main">
            <a:off x="609600" y="58293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Scope: a replication and extension of prior occlusion work.</a:t>
            </a:r>
          </a:p>
        </p:txBody>
      </p:sp>
    </p:spTree>
    <p:extLst>
      <p:ext uri="{BB962C8B-B14F-4D97-AF65-F5344CB8AC3E}">
        <p14:creationId xmlns:p14="http://schemas.microsoft.com/office/powerpoint/2010/main" val="13707202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C32CF9-86E9-4215-B12E-710CEDEAB0A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pilot uses frozen encoders and clean probes</a:t>
            </a:r>
          </a:p>
        </p:txBody>
      </p:sp>
      <p:sp>
        <p:nvSpPr>
          <p:cNvPr id="2" name="">
            <a:extLst xmlns:a="http://schemas.openxmlformats.org/drawingml/2006/main">
              <a:ext uri="{FF2B5EF4-FFF2-40B4-BE49-F238E27FC236}">
                <a16:creationId xmlns:a16="http://schemas.microsoft.com/office/drawing/2014/main" id="{EC567F08-A528-42F1-98B2-07818AB8E053}"/>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BAD3C443-225D-4415-9A1E-04D0BC23D31A}"/>
              </a:ext>
            </a:extLst>
          </p:cNvPr>
          <p:cNvGraphicFramePr/>
          <p:nvPr/>
        </p:nvGraphicFramePr>
        <p:xfrm>
          <a:off xmlns:a="http://schemas.openxmlformats.org/drawingml/2006/main" x="609600" y="1581150"/>
          <a:ext xmlns:a="http://schemas.openxmlformats.org/drawingml/2006/main" cx="10972800" cy="3924300"/>
        </p:xfrm>
        <a:graphic xmlns:a="http://schemas.openxmlformats.org/drawingml/2006/main">
          <a:graphicData uri="http://schemas.openxmlformats.org/drawingml/2006/table">
            <a:tbl>
              <a:tblPr/>
              <a:tblGrid>
                <a:gridCol w="2381250"/>
                <a:gridCol w="8591550"/>
              </a:tblGrid>
              <a:tr h="560614">
                <a:tc>
                  <a:txBody>
                    <a:bodyPr/>
                    <a:lstStyle/>
                    <a:p>
                      <a:r>
                        <a:rPr sz="1725" b="1">
                          <a:solidFill>
                            <a:srgbClr val="007F7B"/>
                          </a:solidFill>
                          <a:latin typeface="Arial"/>
                          <a:ea typeface="Arial"/>
                          <a:cs typeface="Arial"/>
                        </a:rPr>
                        <a:t>Setting</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Pilot choice</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60614">
                <a:tc>
                  <a:txBody>
                    <a:bodyPr/>
                    <a:lstStyle/>
                    <a:p>
                      <a:r>
                        <a:rPr sz="1725" b="0">
                          <a:solidFill>
                            <a:srgbClr val="17313D"/>
                          </a:solidFill>
                          <a:latin typeface="Arial"/>
                          <a:ea typeface="Arial"/>
                          <a:cs typeface="Arial"/>
                        </a:rPr>
                        <a:t>Data</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Oxford-IIIT Pet, 37 breed classes</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60614">
                <a:tc>
                  <a:txBody>
                    <a:bodyPr/>
                    <a:lstStyle/>
                    <a:p>
                      <a:r>
                        <a:rPr sz="1725" b="0">
                          <a:solidFill>
                            <a:srgbClr val="17313D"/>
                          </a:solidFill>
                          <a:latin typeface="Arial"/>
                          <a:ea typeface="Arial"/>
                          <a:cs typeface="Arial"/>
                        </a:rPr>
                        <a:t>Split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1,480 train / 370 validation / 185 test</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60614">
                <a:tc>
                  <a:txBody>
                    <a:bodyPr/>
                    <a:lstStyle/>
                    <a:p>
                      <a:r>
                        <a:rPr sz="1725" b="0">
                          <a:solidFill>
                            <a:srgbClr val="17313D"/>
                          </a:solidFill>
                          <a:latin typeface="Arial"/>
                          <a:ea typeface="Arial"/>
                          <a:cs typeface="Arial"/>
                        </a:rPr>
                        <a:t>Encoders</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Frozen AIMv2-L/14 and DINOv2-L/14</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60614">
                <a:tc>
                  <a:txBody>
                    <a:bodyPr/>
                    <a:lstStyle/>
                    <a:p>
                      <a:r>
                        <a:rPr sz="1725" b="0">
                          <a:solidFill>
                            <a:srgbClr val="17313D"/>
                          </a:solidFill>
                          <a:latin typeface="Arial"/>
                          <a:ea typeface="Arial"/>
                          <a:cs typeface="Arial"/>
                        </a:rPr>
                        <a:t>Probe</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Mean patch features, L2 norm, logistic classifier</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60614">
                <a:tc>
                  <a:txBody>
                    <a:bodyPr/>
                    <a:lstStyle/>
                    <a:p>
                      <a:r>
                        <a:rPr sz="1725" b="0">
                          <a:solidFill>
                            <a:srgbClr val="17313D"/>
                          </a:solidFill>
                          <a:latin typeface="Arial"/>
                          <a:ea typeface="Arial"/>
                          <a:cs typeface="Arial"/>
                        </a:rPr>
                        <a:t>Selection</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Clean validation chooses C; no test tuning</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60614">
                <a:tc>
                  <a:txBody>
                    <a:bodyPr/>
                    <a:lstStyle/>
                    <a:p>
                      <a:r>
                        <a:rPr sz="1725" b="0">
                          <a:solidFill>
                            <a:srgbClr val="17313D"/>
                          </a:solidFill>
                          <a:latin typeface="Arial"/>
                          <a:ea typeface="Arial"/>
                          <a:cs typeface="Arial"/>
                        </a:rPr>
                        <a:t>Input</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Full-frame 224x224; hidden RGB pixels = 128</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950051-B64B-49B5-B220-45CC5F1A9769}"/>
              </a:ext>
            </a:extLst>
          </p:cNvPr>
          <p:cNvSpPr>
            <a:spLocks xmlns:a="http://schemas.openxmlformats.org/drawingml/2006/main" noGrp="1"/>
          </p:cNvSpPr>
          <p:nvPr/>
        </p:nvSpPr>
        <p:spPr>
          <a:xfrm xmlns:a="http://schemas.openxmlformats.org/drawingml/2006/main">
            <a:off x="609600" y="58483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16A"/>
                </a:solidFill>
                <a:latin typeface="Arial"/>
                <a:ea typeface="Arial"/>
                <a:cs typeface="Arial"/>
              </a:defRPr>
            </a:defPPr>
            <a:lvl1pPr>
              <a:defRPr sz="1800" b="0">
                <a:solidFill>
                  <a:srgbClr val="52616A"/>
                </a:solidFill>
                <a:latin typeface="Arial"/>
                <a:ea typeface="Arial"/>
                <a:cs typeface="Arial"/>
              </a:defRPr>
            </a:lvl1pPr>
            <a:lvl2pPr>
              <a:defRPr sz="1800" b="0">
                <a:solidFill>
                  <a:srgbClr val="52616A"/>
                </a:solidFill>
                <a:latin typeface="Arial"/>
                <a:ea typeface="Arial"/>
                <a:cs typeface="Arial"/>
              </a:defRPr>
            </a:lvl2pPr>
            <a:lvl3pPr>
              <a:defRPr sz="1800" b="0">
                <a:solidFill>
                  <a:srgbClr val="52616A"/>
                </a:solidFill>
                <a:latin typeface="Arial"/>
                <a:ea typeface="Arial"/>
                <a:cs typeface="Arial"/>
              </a:defRPr>
            </a:lvl3pPr>
            <a:lvl4pPr>
              <a:defRPr sz="1800" b="0">
                <a:solidFill>
                  <a:srgbClr val="52616A"/>
                </a:solidFill>
                <a:latin typeface="Arial"/>
                <a:ea typeface="Arial"/>
                <a:cs typeface="Arial"/>
              </a:defRPr>
            </a:lvl4pPr>
            <a:lvl5pPr>
              <a:defRPr sz="1800" b="0">
                <a:solidFill>
                  <a:srgbClr val="52616A"/>
                </a:solidFill>
                <a:latin typeface="Arial"/>
                <a:ea typeface="Arial"/>
                <a:cs typeface="Arial"/>
              </a:defRPr>
            </a:lvl5pPr>
            <a:lvl6pPr>
              <a:defRPr sz="1800" b="0">
                <a:solidFill>
                  <a:srgbClr val="52616A"/>
                </a:solidFill>
                <a:latin typeface="Arial"/>
                <a:ea typeface="Arial"/>
                <a:cs typeface="Arial"/>
              </a:defRPr>
            </a:lvl6pPr>
            <a:lvl7pPr>
              <a:defRPr sz="1800" b="0">
                <a:solidFill>
                  <a:srgbClr val="52616A"/>
                </a:solidFill>
                <a:latin typeface="Arial"/>
                <a:ea typeface="Arial"/>
                <a:cs typeface="Arial"/>
              </a:defRPr>
            </a:lvl7pPr>
            <a:lvl8pPr>
              <a:defRPr sz="1800" b="0">
                <a:solidFill>
                  <a:srgbClr val="52616A"/>
                </a:solidFill>
                <a:latin typeface="Arial"/>
                <a:ea typeface="Arial"/>
                <a:cs typeface="Arial"/>
              </a:defRPr>
            </a:lvl8pPr>
            <a:lvl9pPr>
              <a:defRPr sz="1800" b="0">
                <a:solidFill>
                  <a:srgbClr val="52616A"/>
                </a:solidFill>
                <a:latin typeface="Arial"/>
                <a:ea typeface="Arial"/>
                <a:cs typeface="Arial"/>
              </a:defRPr>
            </a:lvl9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Only 5 test images per breed. All results are preliminary.</a:t>
            </a:r>
          </a:p>
        </p:txBody>
      </p:sp>
    </p:spTree>
    <p:extLst>
      <p:ext uri="{BB962C8B-B14F-4D97-AF65-F5344CB8AC3E}">
        <p14:creationId xmlns:p14="http://schemas.microsoft.com/office/powerpoint/2010/main" val="1826239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77B8FC-981F-4780-8F6C-94DA48CB6AB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Both models receive these same masked pixels</a:t>
            </a:r>
          </a:p>
        </p:txBody>
      </p:sp>
      <p:sp>
        <p:nvSpPr>
          <p:cNvPr id="2" name="">
            <a:extLst xmlns:a="http://schemas.openxmlformats.org/drawingml/2006/main">
              <a:ext uri="{FF2B5EF4-FFF2-40B4-BE49-F238E27FC236}">
                <a16:creationId xmlns:a16="http://schemas.microsoft.com/office/drawing/2014/main" id="{44D0F5F7-08AC-41ED-BA6E-E4B72F683511}"/>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56F077E2-8176-433D-BD54-23F0694429A5}"/>
              </a:ext>
            </a:extLst>
          </p:cNvPr>
          <p:cNvPicPr>
            <a:picLocks xmlns:a="http://schemas.openxmlformats.org/drawingml/2006/main" noChangeAspect="1"/>
          </p:cNvPicPr>
          <p:nvPr/>
        </p:nvPicPr>
        <p:blipFill>
          <a:blip xmlns:r="http://schemas.openxmlformats.org/officeDocument/2006/relationships" xmlns:a="http://schemas.openxmlformats.org/drawingml/2006/main" r:embed="Ra7b4f729363847b1"/>
          <a:stretch xmlns:a="http://schemas.openxmlformats.org/drawingml/2006/main"/>
        </p:blipFill>
        <p:spPr>
          <a:xfrm xmlns:a="http://schemas.openxmlformats.org/drawingml/2006/main">
            <a:off x="609600" y="1749399"/>
            <a:ext cx="10972800" cy="314012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767D85-BE17-44D6-9F5C-1CA73438BFA5}"/>
              </a:ext>
            </a:extLst>
          </p:cNvPr>
          <p:cNvSpPr>
            <a:spLocks xmlns:a="http://schemas.openxmlformats.org/drawingml/2006/main" noGrp="1"/>
          </p:cNvSpPr>
          <p:nvPr/>
        </p:nvSpPr>
        <p:spPr>
          <a:xfrm xmlns:a="http://schemas.openxmlformats.org/drawingml/2006/main">
            <a:off x="609600" y="52673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Also tested: suffix, center-nearest and 3 fixed random repetitions.</a:t>
            </a:r>
          </a:p>
        </p:txBody>
      </p:sp>
      <p:sp>
        <p:nvSpPr>
          <p:cNvPr id="5" name="">
            <a:extLst xmlns:a="http://schemas.openxmlformats.org/drawingml/2006/main">
              <a:ext uri="{FF2B5EF4-FFF2-40B4-BE49-F238E27FC236}">
                <a16:creationId xmlns:a16="http://schemas.microsoft.com/office/drawing/2014/main" id="{D4691BBA-B363-4EC5-97E8-9C19EC44EC76}"/>
              </a:ext>
            </a:extLst>
          </p:cNvPr>
          <p:cNvSpPr>
            <a:spLocks xmlns:a="http://schemas.openxmlformats.org/drawingml/2006/main" noGrp="1"/>
          </p:cNvSpPr>
          <p:nvPr/>
        </p:nvSpPr>
        <p:spPr>
          <a:xfrm xmlns:a="http://schemas.openxmlformats.org/drawingml/2006/main">
            <a:off x="609600" y="5838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Exact patch budgets. All tokens remain. Gray fill precedes normalization.</a:t>
            </a:r>
          </a:p>
        </p:txBody>
      </p:sp>
    </p:spTree>
    <p:extLst>
      <p:ext uri="{BB962C8B-B14F-4D97-AF65-F5344CB8AC3E}">
        <p14:creationId xmlns:p14="http://schemas.microsoft.com/office/powerpoint/2010/main" val="359333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67C473-755F-4AD9-9AB7-C118E81D365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model ordering changes with the mask</a:t>
            </a:r>
          </a:p>
        </p:txBody>
      </p:sp>
      <p:sp>
        <p:nvSpPr>
          <p:cNvPr id="2" name="">
            <a:extLst xmlns:a="http://schemas.openxmlformats.org/drawingml/2006/main">
              <a:ext uri="{FF2B5EF4-FFF2-40B4-BE49-F238E27FC236}">
                <a16:creationId xmlns:a16="http://schemas.microsoft.com/office/drawing/2014/main" id="{AA6C3BEE-2D63-4EE1-8C91-73D7D7B4A9DD}"/>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3C9A5631-7153-4F71-8951-9BAB78557EE5}"/>
              </a:ext>
            </a:extLst>
          </p:cNvPr>
          <p:cNvPicPr>
            <a:picLocks xmlns:a="http://schemas.openxmlformats.org/drawingml/2006/main" noChangeAspect="1"/>
          </p:cNvPicPr>
          <p:nvPr/>
        </p:nvPicPr>
        <p:blipFill>
          <a:blip xmlns:r="http://schemas.openxmlformats.org/officeDocument/2006/relationships" xmlns:a="http://schemas.openxmlformats.org/drawingml/2006/main" r:embed="R6d13bbf048d848a1"/>
          <a:stretch xmlns:a="http://schemas.openxmlformats.org/drawingml/2006/main"/>
        </p:blipFill>
        <p:spPr>
          <a:xfrm xmlns:a="http://schemas.openxmlformats.org/drawingml/2006/main">
            <a:off x="1644742" y="1438275"/>
            <a:ext cx="8902517"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55E56C-72AC-47B4-97A9-61F4438A77D6}"/>
              </a:ext>
            </a:extLst>
          </p:cNvPr>
          <p:cNvSpPr>
            <a:spLocks xmlns:a="http://schemas.openxmlformats.org/drawingml/2006/main" noGrp="1"/>
          </p:cNvSpPr>
          <p:nvPr/>
        </p:nvSpPr>
        <p:spPr>
          <a:xfrm xmlns:a="http://schemas.openxmlformats.org/drawingml/2006/main">
            <a:off x="609600" y="611505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25% random visibility: AIMv2 32.6% / DINOv2 70.6%. n = 185 images.</a:t>
            </a:r>
          </a:p>
        </p:txBody>
      </p:sp>
    </p:spTree>
    <p:extLst>
      <p:ext uri="{BB962C8B-B14F-4D97-AF65-F5344CB8AC3E}">
        <p14:creationId xmlns:p14="http://schemas.microsoft.com/office/powerpoint/2010/main" val="1162152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A0282F-97B2-4554-A9CA-58275EF1490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At 50% image visibility, foreground coverage varies</a:t>
            </a:r>
          </a:p>
        </p:txBody>
      </p:sp>
      <p:sp>
        <p:nvSpPr>
          <p:cNvPr id="2" name="">
            <a:extLst xmlns:a="http://schemas.openxmlformats.org/drawingml/2006/main">
              <a:ext uri="{FF2B5EF4-FFF2-40B4-BE49-F238E27FC236}">
                <a16:creationId xmlns:a16="http://schemas.microsoft.com/office/drawing/2014/main" id="{2F228FBB-694E-4660-B75F-CFA5FFFA041E}"/>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62D887E9-AF12-47D9-AA7D-CA31348473CA}"/>
              </a:ext>
            </a:extLst>
          </p:cNvPr>
          <p:cNvPicPr>
            <a:picLocks xmlns:a="http://schemas.openxmlformats.org/drawingml/2006/main" noChangeAspect="1"/>
          </p:cNvPicPr>
          <p:nvPr/>
        </p:nvPicPr>
        <p:blipFill>
          <a:blip xmlns:r="http://schemas.openxmlformats.org/officeDocument/2006/relationships" xmlns:a="http://schemas.openxmlformats.org/drawingml/2006/main" r:embed="Rffc5dceeafa041c6"/>
          <a:stretch xmlns:a="http://schemas.openxmlformats.org/drawingml/2006/main"/>
        </p:blipFill>
        <p:spPr>
          <a:xfrm xmlns:a="http://schemas.openxmlformats.org/drawingml/2006/main">
            <a:off x="1602872" y="1638300"/>
            <a:ext cx="8986256" cy="3571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0A3BA7-2187-44D6-BB10-F084D5360E15}"/>
              </a:ext>
            </a:extLst>
          </p:cNvPr>
          <p:cNvSpPr>
            <a:spLocks xmlns:a="http://schemas.openxmlformats.org/drawingml/2006/main" noGrp="1"/>
          </p:cNvSpPr>
          <p:nvPr/>
        </p:nvSpPr>
        <p:spPr>
          <a:xfrm xmlns:a="http://schemas.openxmlformats.org/drawingml/2006/main">
            <a:off x="609600" y="5448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Arial"/>
                <a:ea typeface="Arial"/>
                <a:cs typeface="Arial"/>
              </a:defRPr>
            </a:defPPr>
            <a:lvl1pPr>
              <a:defRPr sz="2325" b="1">
                <a:solidFill>
                  <a:srgbClr val="007F7B"/>
                </a:solidFill>
                <a:latin typeface="Arial"/>
                <a:ea typeface="Arial"/>
                <a:cs typeface="Arial"/>
              </a:defRPr>
            </a:lvl1pPr>
            <a:lvl2pPr>
              <a:defRPr sz="2325" b="1">
                <a:solidFill>
                  <a:srgbClr val="007F7B"/>
                </a:solidFill>
                <a:latin typeface="Arial"/>
                <a:ea typeface="Arial"/>
                <a:cs typeface="Arial"/>
              </a:defRPr>
            </a:lvl2pPr>
            <a:lvl3pPr>
              <a:defRPr sz="2325" b="1">
                <a:solidFill>
                  <a:srgbClr val="007F7B"/>
                </a:solidFill>
                <a:latin typeface="Arial"/>
                <a:ea typeface="Arial"/>
                <a:cs typeface="Arial"/>
              </a:defRPr>
            </a:lvl3pPr>
            <a:lvl4pPr>
              <a:defRPr sz="2325" b="1">
                <a:solidFill>
                  <a:srgbClr val="007F7B"/>
                </a:solidFill>
                <a:latin typeface="Arial"/>
                <a:ea typeface="Arial"/>
                <a:cs typeface="Arial"/>
              </a:defRPr>
            </a:lvl4pPr>
            <a:lvl5pPr>
              <a:defRPr sz="2325" b="1">
                <a:solidFill>
                  <a:srgbClr val="007F7B"/>
                </a:solidFill>
                <a:latin typeface="Arial"/>
                <a:ea typeface="Arial"/>
                <a:cs typeface="Arial"/>
              </a:defRPr>
            </a:lvl5pPr>
            <a:lvl6pPr>
              <a:defRPr sz="2325" b="1">
                <a:solidFill>
                  <a:srgbClr val="007F7B"/>
                </a:solidFill>
                <a:latin typeface="Arial"/>
                <a:ea typeface="Arial"/>
                <a:cs typeface="Arial"/>
              </a:defRPr>
            </a:lvl6pPr>
            <a:lvl7pPr>
              <a:defRPr sz="2325" b="1">
                <a:solidFill>
                  <a:srgbClr val="007F7B"/>
                </a:solidFill>
                <a:latin typeface="Arial"/>
                <a:ea typeface="Arial"/>
                <a:cs typeface="Arial"/>
              </a:defRPr>
            </a:lvl7pPr>
            <a:lvl8pPr>
              <a:defRPr sz="2325" b="1">
                <a:solidFill>
                  <a:srgbClr val="007F7B"/>
                </a:solidFill>
                <a:latin typeface="Arial"/>
                <a:ea typeface="Arial"/>
                <a:cs typeface="Arial"/>
              </a:defRPr>
            </a:lvl8pPr>
            <a:lvl9pPr>
              <a:defRPr sz="2325" b="1">
                <a:solidFill>
                  <a:srgbClr val="007F7B"/>
                </a:solidFill>
                <a:latin typeface="Arial"/>
                <a:ea typeface="Arial"/>
                <a:cs typeface="Arial"/>
              </a:defRPr>
            </a:lvl9pPr>
          </a:lstStyle>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Center mean: 85.2%     Random mean: 50.2%</a:t>
            </a:r>
          </a:p>
        </p:txBody>
      </p:sp>
      <p:sp>
        <p:nvSpPr>
          <p:cNvPr id="5" name="">
            <a:extLst xmlns:a="http://schemas.openxmlformats.org/drawingml/2006/main">
              <a:ext uri="{FF2B5EF4-FFF2-40B4-BE49-F238E27FC236}">
                <a16:creationId xmlns:a16="http://schemas.microsoft.com/office/drawing/2014/main" id="{14EB9B2F-360A-47A8-A7FC-8F0B725F2B81}"/>
              </a:ext>
            </a:extLst>
          </p:cNvPr>
          <p:cNvSpPr>
            <a:spLocks xmlns:a="http://schemas.openxmlformats.org/drawingml/2006/main" noGrp="1"/>
          </p:cNvSpPr>
          <p:nvPr/>
        </p:nvSpPr>
        <p:spPr>
          <a:xfrm xmlns:a="http://schemas.openxmlformats.org/drawingml/2006/main">
            <a:off x="609600" y="60579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This is an input-composition finding, not a new general law of robustness.</a:t>
            </a:r>
          </a:p>
        </p:txBody>
      </p:sp>
    </p:spTree>
    <p:extLst>
      <p:ext uri="{BB962C8B-B14F-4D97-AF65-F5344CB8AC3E}">
        <p14:creationId xmlns:p14="http://schemas.microsoft.com/office/powerpoint/2010/main" val="19810862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02FBD0-7358-4F7E-97DE-9DFC0B8A803E}"/>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Same-image pairs fix occluder area and shape</a:t>
            </a:r>
          </a:p>
        </p:txBody>
      </p:sp>
      <p:sp>
        <p:nvSpPr>
          <p:cNvPr id="2" name="">
            <a:extLst xmlns:a="http://schemas.openxmlformats.org/drawingml/2006/main">
              <a:ext uri="{FF2B5EF4-FFF2-40B4-BE49-F238E27FC236}">
                <a16:creationId xmlns:a16="http://schemas.microsoft.com/office/drawing/2014/main" id="{F2CBD74A-3E73-4A3E-852C-E1C2882B5D80}"/>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0C81573B-60E8-4E72-B9A1-EC3DD92F9A88}"/>
              </a:ext>
            </a:extLst>
          </p:cNvPr>
          <p:cNvPicPr>
            <a:picLocks xmlns:a="http://schemas.openxmlformats.org/drawingml/2006/main" noChangeAspect="1"/>
          </p:cNvPicPr>
          <p:nvPr/>
        </p:nvPicPr>
        <p:blipFill>
          <a:blip xmlns:r="http://schemas.openxmlformats.org/officeDocument/2006/relationships" xmlns:a="http://schemas.openxmlformats.org/drawingml/2006/main" r:embed="R5933ba5436464e37"/>
          <a:stretch xmlns:a="http://schemas.openxmlformats.org/drawingml/2006/main"/>
        </p:blipFill>
        <p:spPr>
          <a:xfrm xmlns:a="http://schemas.openxmlformats.org/drawingml/2006/main">
            <a:off x="609600" y="1706537"/>
            <a:ext cx="10972800" cy="314012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0F3D46-CF57-4B39-B7B8-D5D032F1DE7A}"/>
              </a:ext>
            </a:extLst>
          </p:cNvPr>
          <p:cNvSpPr>
            <a:spLocks xmlns:a="http://schemas.openxmlformats.org/drawingml/2006/main" noGrp="1"/>
          </p:cNvSpPr>
          <p:nvPr/>
        </p:nvSpPr>
        <p:spPr>
          <a:xfrm xmlns:a="http://schemas.openxmlformats.org/drawingml/2006/main">
            <a:off x="609600" y="5219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Matched pair: foreground-visibility gap &lt;= 3 percentage points.</a:t>
            </a:r>
          </a:p>
        </p:txBody>
      </p:sp>
      <p:sp>
        <p:nvSpPr>
          <p:cNvPr id="5" name="">
            <a:extLst xmlns:a="http://schemas.openxmlformats.org/drawingml/2006/main">
              <a:ext uri="{FF2B5EF4-FFF2-40B4-BE49-F238E27FC236}">
                <a16:creationId xmlns:a16="http://schemas.microsoft.com/office/drawing/2014/main" id="{DBF02098-9B32-464D-882B-208911597AD1}"/>
              </a:ext>
            </a:extLst>
          </p:cNvPr>
          <p:cNvSpPr>
            <a:spLocks xmlns:a="http://schemas.openxmlformats.org/drawingml/2006/main" noGrp="1"/>
          </p:cNvSpPr>
          <p:nvPr/>
        </p:nvSpPr>
        <p:spPr>
          <a:xfrm xmlns:a="http://schemas.openxmlformats.org/drawingml/2006/main">
            <a:off x="609600" y="5857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16A"/>
                </a:solidFill>
                <a:latin typeface="Arial"/>
                <a:ea typeface="Arial"/>
                <a:cs typeface="Arial"/>
              </a:defRPr>
            </a:defPPr>
            <a:lvl1pPr>
              <a:defRPr sz="1725" b="0">
                <a:solidFill>
                  <a:srgbClr val="52616A"/>
                </a:solidFill>
                <a:latin typeface="Arial"/>
                <a:ea typeface="Arial"/>
                <a:cs typeface="Arial"/>
              </a:defRPr>
            </a:lvl1pPr>
            <a:lvl2pPr>
              <a:defRPr sz="1725" b="0">
                <a:solidFill>
                  <a:srgbClr val="52616A"/>
                </a:solidFill>
                <a:latin typeface="Arial"/>
                <a:ea typeface="Arial"/>
                <a:cs typeface="Arial"/>
              </a:defRPr>
            </a:lvl2pPr>
            <a:lvl3pPr>
              <a:defRPr sz="1725" b="0">
                <a:solidFill>
                  <a:srgbClr val="52616A"/>
                </a:solidFill>
                <a:latin typeface="Arial"/>
                <a:ea typeface="Arial"/>
                <a:cs typeface="Arial"/>
              </a:defRPr>
            </a:lvl3pPr>
            <a:lvl4pPr>
              <a:defRPr sz="1725" b="0">
                <a:solidFill>
                  <a:srgbClr val="52616A"/>
                </a:solidFill>
                <a:latin typeface="Arial"/>
                <a:ea typeface="Arial"/>
                <a:cs typeface="Arial"/>
              </a:defRPr>
            </a:lvl4pPr>
            <a:lvl5pPr>
              <a:defRPr sz="1725" b="0">
                <a:solidFill>
                  <a:srgbClr val="52616A"/>
                </a:solidFill>
                <a:latin typeface="Arial"/>
                <a:ea typeface="Arial"/>
                <a:cs typeface="Arial"/>
              </a:defRPr>
            </a:lvl5pPr>
            <a:lvl6pPr>
              <a:defRPr sz="1725" b="0">
                <a:solidFill>
                  <a:srgbClr val="52616A"/>
                </a:solidFill>
                <a:latin typeface="Arial"/>
                <a:ea typeface="Arial"/>
                <a:cs typeface="Arial"/>
              </a:defRPr>
            </a:lvl6pPr>
            <a:lvl7pPr>
              <a:defRPr sz="1725" b="0">
                <a:solidFill>
                  <a:srgbClr val="52616A"/>
                </a:solidFill>
                <a:latin typeface="Arial"/>
                <a:ea typeface="Arial"/>
                <a:cs typeface="Arial"/>
              </a:defRPr>
            </a:lvl7pPr>
            <a:lvl8pPr>
              <a:defRPr sz="1725" b="0">
                <a:solidFill>
                  <a:srgbClr val="52616A"/>
                </a:solidFill>
                <a:latin typeface="Arial"/>
                <a:ea typeface="Arial"/>
                <a:cs typeface="Arial"/>
              </a:defRPr>
            </a:lvl8pPr>
            <a:lvl9pPr>
              <a:defRPr sz="1725" b="0">
                <a:solidFill>
                  <a:srgbClr val="52616A"/>
                </a:solidFill>
                <a:latin typeface="Arial"/>
                <a:ea typeface="Arial"/>
                <a:cs typeface="Arial"/>
              </a:defRPr>
            </a:lvl9pPr>
          </a:lstStyle>
          <a:p xmlns:a="http://schemas.openxmlformats.org/drawingml/2006/main">
            <a:pPr>
              <a:defRPr sz="1725" b="0">
                <a:solidFill>
                  <a:srgbClr val="52616A"/>
                </a:solidFill>
                <a:latin typeface="Arial"/>
                <a:ea typeface="Arial"/>
                <a:cs typeface="Arial"/>
              </a:defRPr>
            </a:pPr>
            <a:r>
              <a:rPr sz="1725" b="0">
                <a:solidFill>
                  <a:srgbClr val="52616A"/>
                </a:solidFill>
                <a:latin typeface="Arial"/>
                <a:ea typeface="Arial"/>
                <a:cs typeface="Arial"/>
              </a:rPr>
              <a:t>Selection uses annotations only. Equal foreground area can still expose different parts.</a:t>
            </a:r>
          </a:p>
        </p:txBody>
      </p:sp>
    </p:spTree>
    <p:extLst>
      <p:ext uri="{BB962C8B-B14F-4D97-AF65-F5344CB8AC3E}">
        <p14:creationId xmlns:p14="http://schemas.microsoft.com/office/powerpoint/2010/main" val="10164823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CD242D-6EA6-4BCA-BC0C-4C82879045C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Paired diagnostics quantify two different changes</a:t>
            </a:r>
          </a:p>
        </p:txBody>
      </p:sp>
      <p:sp>
        <p:nvSpPr>
          <p:cNvPr id="2" name="">
            <a:extLst xmlns:a="http://schemas.openxmlformats.org/drawingml/2006/main">
              <a:ext uri="{FF2B5EF4-FFF2-40B4-BE49-F238E27FC236}">
                <a16:creationId xmlns:a16="http://schemas.microsoft.com/office/drawing/2014/main" id="{79058053-E111-4512-A04F-2A9E4693FEC1}"/>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CE000E28-8805-4E75-B6DF-A819B7309D55}"/>
              </a:ext>
            </a:extLst>
          </p:cNvPr>
          <p:cNvGraphicFramePr/>
          <p:nvPr/>
        </p:nvGraphicFramePr>
        <p:xfrm>
          <a:off xmlns:a="http://schemas.openxmlformats.org/drawingml/2006/main" x="609600" y="1752600"/>
          <a:ext xmlns:a="http://schemas.openxmlformats.org/drawingml/2006/main" cx="10972800" cy="1714500"/>
        </p:xfrm>
        <a:graphic xmlns:a="http://schemas.openxmlformats.org/drawingml/2006/main">
          <a:graphicData uri="http://schemas.openxmlformats.org/drawingml/2006/table">
            <a:tbl>
              <a:tblPr/>
              <a:tblGrid>
                <a:gridCol w="1809750"/>
                <a:gridCol w="2095500"/>
                <a:gridCol w="2095500"/>
                <a:gridCol w="4972050"/>
              </a:tblGrid>
              <a:tr h="571500">
                <a:tc>
                  <a:txBody>
                    <a:bodyPr/>
                    <a:lstStyle/>
                    <a:p>
                      <a:r>
                        <a:rPr sz="1725" b="1">
                          <a:solidFill>
                            <a:srgbClr val="007F7B"/>
                          </a:solidFill>
                          <a:latin typeface="Arial"/>
                          <a:ea typeface="Arial"/>
                          <a:cs typeface="Arial"/>
                        </a:rPr>
                        <a:t>Model</a:t>
                      </a:r>
                    </a:p>
                  </a:txBody>
                  <a:tcPr marL="91440" marR="91440" marT="45720" marB="45720" anchor="ctr">
                    <a:lnL w="4763">
                      <a:solidFill>
                        <a:srgbClr val="D8E1E4"/>
                      </a:solidFill>
                      <a:prstDash val="solid"/>
                    </a:lnL>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More FG</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Less FG</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c>
                  <a:txBody>
                    <a:bodyPr/>
                    <a:lstStyle/>
                    <a:p>
                      <a:r>
                        <a:rPr sz="1725" b="1">
                          <a:solidFill>
                            <a:srgbClr val="007F7B"/>
                          </a:solidFill>
                          <a:latin typeface="Arial"/>
                          <a:ea typeface="Arial"/>
                          <a:cs typeface="Arial"/>
                        </a:rPr>
                        <a:t>Paired difference (95% CI)</a:t>
                      </a:r>
                    </a:p>
                  </a:txBody>
                  <a:tcPr marL="91440" marR="91440" marT="45720" marB="45720" anchor="ctr">
                    <a:lnR w="4763">
                      <a:solidFill>
                        <a:srgbClr val="D8E1E4"/>
                      </a:solidFill>
                      <a:prstDash val="solid"/>
                    </a:lnR>
                    <a:lnT w="4763">
                      <a:solidFill>
                        <a:srgbClr val="D8E1E4"/>
                      </a:solidFill>
                      <a:prstDash val="solid"/>
                    </a:lnT>
                    <a:lnB w="4763">
                      <a:solidFill>
                        <a:srgbClr val="D8E1E4"/>
                      </a:solidFill>
                      <a:prstDash val="solid"/>
                    </a:lnB>
                    <a:solidFill>
                      <a:srgbClr val="E9F4F3"/>
                    </a:solidFill>
                  </a:tcPr>
                </a:tc>
              </a:tr>
              <a:tr h="571500">
                <a:tc>
                  <a:txBody>
                    <a:bodyPr/>
                    <a:lstStyle/>
                    <a:p>
                      <a:r>
                        <a:rPr sz="1725" b="0">
                          <a:solidFill>
                            <a:srgbClr val="17313D"/>
                          </a:solidFill>
                          <a:latin typeface="Arial"/>
                          <a:ea typeface="Arial"/>
                          <a:cs typeface="Arial"/>
                        </a:rPr>
                        <a:t>AIMv2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93.0%</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72.4%</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20.5 pp [14.6, 27.0]</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r h="571500">
                <a:tc>
                  <a:txBody>
                    <a:bodyPr/>
                    <a:lstStyle/>
                    <a:p>
                      <a:r>
                        <a:rPr sz="1725" b="0">
                          <a:solidFill>
                            <a:srgbClr val="17313D"/>
                          </a:solidFill>
                          <a:latin typeface="Arial"/>
                          <a:ea typeface="Arial"/>
                          <a:cs typeface="Arial"/>
                        </a:rPr>
                        <a:t>DINOv2</a:t>
                      </a:r>
                    </a:p>
                  </a:txBody>
                  <a:tcPr marL="91440" marR="91440" marT="45720" marB="45720" anchor="ctr">
                    <a:lnL w="4763">
                      <a:solidFill>
                        <a:srgbClr val="D8E1E4"/>
                      </a:solidFill>
                      <a:prstDash val="solid"/>
                    </a:lnL>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81.6%</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69.7%</a:t>
                      </a:r>
                    </a:p>
                  </a:txBody>
                  <a:tcPr marL="91440" marR="91440" marT="45720" marB="45720" anchor="ctr">
                    <a:lnR w="4763">
                      <a:solidFill>
                        <a:srgbClr val="D8E1E4"/>
                      </a:solidFill>
                      <a:prstDash val="solid"/>
                    </a:lnR>
                    <a:lnB w="4763">
                      <a:solidFill>
                        <a:srgbClr val="D8E1E4"/>
                      </a:solidFill>
                      <a:prstDash val="solid"/>
                    </a:lnB>
                    <a:solidFill>
                      <a:srgbClr val="FFFFFF"/>
                    </a:solidFill>
                  </a:tcPr>
                </a:tc>
                <a:tc>
                  <a:txBody>
                    <a:bodyPr/>
                    <a:lstStyle/>
                    <a:p>
                      <a:r>
                        <a:rPr sz="1725" b="0">
                          <a:solidFill>
                            <a:srgbClr val="17313D"/>
                          </a:solidFill>
                          <a:latin typeface="Arial"/>
                          <a:ea typeface="Arial"/>
                          <a:cs typeface="Arial"/>
                        </a:rPr>
                        <a:t>11.9 pp [6.5, 17.3]</a:t>
                      </a:r>
                    </a:p>
                  </a:txBody>
                  <a:tcPr marL="91440" marR="91440" marT="45720" marB="45720" anchor="ctr">
                    <a:lnR w="4763">
                      <a:solidFill>
                        <a:srgbClr val="D8E1E4"/>
                      </a:solidFill>
                      <a:prstDash val="solid"/>
                    </a:lnR>
                    <a:lnB w="4763">
                      <a:solidFill>
                        <a:srgbClr val="D8E1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DCF7E4-9490-4232-9465-36055E92230E}"/>
              </a:ext>
            </a:extLst>
          </p:cNvPr>
          <p:cNvSpPr>
            <a:spLocks xmlns:a="http://schemas.openxmlformats.org/drawingml/2006/main" noGrp="1"/>
          </p:cNvSpPr>
          <p:nvPr/>
        </p:nvSpPr>
        <p:spPr>
          <a:xfrm xmlns:a="http://schemas.openxmlformats.org/drawingml/2006/main">
            <a:off x="609600" y="4029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Within foreground-visibility-matched pairs</a:t>
            </a:r>
          </a:p>
        </p:txBody>
      </p:sp>
      <p:sp>
        <p:nvSpPr>
          <p:cNvPr id="5" name="">
            <a:extLst xmlns:a="http://schemas.openxmlformats.org/drawingml/2006/main">
              <a:ext uri="{FF2B5EF4-FFF2-40B4-BE49-F238E27FC236}">
                <a16:creationId xmlns:a16="http://schemas.microsoft.com/office/drawing/2014/main" id="{3FCBAF3E-D1BF-4CA6-B129-6143325E3483}"/>
              </a:ext>
            </a:extLst>
          </p:cNvPr>
          <p:cNvSpPr>
            <a:spLocks xmlns:a="http://schemas.openxmlformats.org/drawingml/2006/main" noGrp="1"/>
          </p:cNvSpPr>
          <p:nvPr/>
        </p:nvSpPr>
        <p:spPr>
          <a:xfrm xmlns:a="http://schemas.openxmlformats.org/drawingml/2006/main">
            <a:off x="609600" y="46101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13D"/>
                </a:solidFill>
                <a:latin typeface="Arial"/>
                <a:ea typeface="Arial"/>
                <a:cs typeface="Arial"/>
              </a:defRPr>
            </a:defPPr>
            <a:lvl1pPr>
              <a:defRPr sz="2325" b="0">
                <a:solidFill>
                  <a:srgbClr val="17313D"/>
                </a:solidFill>
                <a:latin typeface="Arial"/>
                <a:ea typeface="Arial"/>
                <a:cs typeface="Arial"/>
              </a:defRPr>
            </a:lvl1pPr>
            <a:lvl2pPr>
              <a:defRPr sz="2325" b="0">
                <a:solidFill>
                  <a:srgbClr val="17313D"/>
                </a:solidFill>
                <a:latin typeface="Arial"/>
                <a:ea typeface="Arial"/>
                <a:cs typeface="Arial"/>
              </a:defRPr>
            </a:lvl2pPr>
            <a:lvl3pPr>
              <a:defRPr sz="2325" b="0">
                <a:solidFill>
                  <a:srgbClr val="17313D"/>
                </a:solidFill>
                <a:latin typeface="Arial"/>
                <a:ea typeface="Arial"/>
                <a:cs typeface="Arial"/>
              </a:defRPr>
            </a:lvl3pPr>
            <a:lvl4pPr>
              <a:defRPr sz="2325" b="0">
                <a:solidFill>
                  <a:srgbClr val="17313D"/>
                </a:solidFill>
                <a:latin typeface="Arial"/>
                <a:ea typeface="Arial"/>
                <a:cs typeface="Arial"/>
              </a:defRPr>
            </a:lvl4pPr>
            <a:lvl5pPr>
              <a:defRPr sz="2325" b="0">
                <a:solidFill>
                  <a:srgbClr val="17313D"/>
                </a:solidFill>
                <a:latin typeface="Arial"/>
                <a:ea typeface="Arial"/>
                <a:cs typeface="Arial"/>
              </a:defRPr>
            </a:lvl5pPr>
            <a:lvl6pPr>
              <a:defRPr sz="2325" b="0">
                <a:solidFill>
                  <a:srgbClr val="17313D"/>
                </a:solidFill>
                <a:latin typeface="Arial"/>
                <a:ea typeface="Arial"/>
                <a:cs typeface="Arial"/>
              </a:defRPr>
            </a:lvl6pPr>
            <a:lvl7pPr>
              <a:defRPr sz="2325" b="0">
                <a:solidFill>
                  <a:srgbClr val="17313D"/>
                </a:solidFill>
                <a:latin typeface="Arial"/>
                <a:ea typeface="Arial"/>
                <a:cs typeface="Arial"/>
              </a:defRPr>
            </a:lvl7pPr>
            <a:lvl8pPr>
              <a:defRPr sz="2325" b="0">
                <a:solidFill>
                  <a:srgbClr val="17313D"/>
                </a:solidFill>
                <a:latin typeface="Arial"/>
                <a:ea typeface="Arial"/>
                <a:cs typeface="Arial"/>
              </a:defRPr>
            </a:lvl8pPr>
            <a:lvl9pPr>
              <a:defRPr sz="2325" b="0">
                <a:solidFill>
                  <a:srgbClr val="17313D"/>
                </a:solidFill>
                <a:latin typeface="Arial"/>
                <a:ea typeface="Arial"/>
                <a:cs typeface="Arial"/>
              </a:defRPr>
            </a:lvl9pPr>
          </a:lstStyle>
          <a:p xmlns:a="http://schemas.openxmlformats.org/drawingml/2006/main">
            <a:pPr>
              <a:defRPr sz="2325" b="0">
                <a:solidFill>
                  <a:srgbClr val="17313D"/>
                </a:solidFill>
                <a:latin typeface="Arial"/>
                <a:ea typeface="Arial"/>
                <a:cs typeface="Arial"/>
              </a:defRPr>
            </a:pPr>
            <a:r>
              <a:rPr sz="2325" b="0">
                <a:solidFill>
                  <a:srgbClr val="17313D"/>
                </a:solidFill>
                <a:latin typeface="Arial"/>
                <a:ea typeface="Arial"/>
                <a:cs typeface="Arial"/>
              </a:rPr>
              <a:t>Correct / wrong flips: AIMv2 11.9% / DINOv2 9.7%</a:t>
            </a:r>
          </a:p>
        </p:txBody>
      </p:sp>
      <p:sp>
        <p:nvSpPr>
          <p:cNvPr id="6" name="">
            <a:extLst xmlns:a="http://schemas.openxmlformats.org/drawingml/2006/main">
              <a:ext uri="{FF2B5EF4-FFF2-40B4-BE49-F238E27FC236}">
                <a16:creationId xmlns:a16="http://schemas.microsoft.com/office/drawing/2014/main" id="{D0F9DC4B-ABA5-41AF-932F-A7BA921B3921}"/>
              </a:ext>
            </a:extLst>
          </p:cNvPr>
          <p:cNvSpPr>
            <a:spLocks xmlns:a="http://schemas.openxmlformats.org/drawingml/2006/main" noGrp="1"/>
          </p:cNvSpPr>
          <p:nvPr/>
        </p:nvSpPr>
        <p:spPr>
          <a:xfrm xmlns:a="http://schemas.openxmlformats.org/drawingml/2006/main">
            <a:off x="609600" y="52292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Predicted class changes: AIMv2 11.9% / DINOv2 13.5%</a:t>
            </a:r>
          </a:p>
        </p:txBody>
      </p:sp>
      <p:sp>
        <p:nvSpPr>
          <p:cNvPr id="7" name="">
            <a:extLst xmlns:a="http://schemas.openxmlformats.org/drawingml/2006/main">
              <a:ext uri="{FF2B5EF4-FFF2-40B4-BE49-F238E27FC236}">
                <a16:creationId xmlns:a16="http://schemas.microsoft.com/office/drawing/2014/main" id="{CEDBB12F-4883-4D7F-AF6B-7F3E8435AE8E}"/>
              </a:ext>
            </a:extLst>
          </p:cNvPr>
          <p:cNvSpPr>
            <a:spLocks xmlns:a="http://schemas.openxmlformats.org/drawingml/2006/main" noGrp="1"/>
          </p:cNvSpPr>
          <p:nvPr/>
        </p:nvSpPr>
        <p:spPr>
          <a:xfrm xmlns:a="http://schemas.openxmlformats.org/drawingml/2006/main">
            <a:off x="60960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All diagnostic occluders hide 25% of the image. n = 185 paired images.</a:t>
            </a:r>
          </a:p>
        </p:txBody>
      </p:sp>
    </p:spTree>
    <p:extLst>
      <p:ext uri="{BB962C8B-B14F-4D97-AF65-F5344CB8AC3E}">
        <p14:creationId xmlns:p14="http://schemas.microsoft.com/office/powerpoint/2010/main" val="6931245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C68B0F-A454-4053-9710-C35E7DE2267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Similar foreground area can retain different parts</a:t>
            </a:r>
          </a:p>
        </p:txBody>
      </p:sp>
      <p:sp>
        <p:nvSpPr>
          <p:cNvPr id="2" name="">
            <a:extLst xmlns:a="http://schemas.openxmlformats.org/drawingml/2006/main">
              <a:ext uri="{FF2B5EF4-FFF2-40B4-BE49-F238E27FC236}">
                <a16:creationId xmlns:a16="http://schemas.microsoft.com/office/drawing/2014/main" id="{582F7BFE-2EA1-46DB-86D1-AC4B4DCC8162}"/>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7E4BD003-B684-41F2-A76E-5A6BFBDE3BAA}"/>
              </a:ext>
            </a:extLst>
          </p:cNvPr>
          <p:cNvPicPr>
            <a:picLocks xmlns:a="http://schemas.openxmlformats.org/drawingml/2006/main" noChangeAspect="1"/>
          </p:cNvPicPr>
          <p:nvPr/>
        </p:nvPicPr>
        <p:blipFill>
          <a:blip xmlns:r="http://schemas.openxmlformats.org/officeDocument/2006/relationships" xmlns:a="http://schemas.openxmlformats.org/drawingml/2006/main" r:embed="R1f3183462534429d"/>
          <a:stretch xmlns:a="http://schemas.openxmlformats.org/drawingml/2006/main"/>
        </p:blipFill>
        <p:spPr>
          <a:xfrm xmlns:a="http://schemas.openxmlformats.org/drawingml/2006/main">
            <a:off x="1333500" y="1647825"/>
            <a:ext cx="9525000" cy="3648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589D1E-886E-492F-95FC-7F32D22083BE}"/>
              </a:ext>
            </a:extLst>
          </p:cNvPr>
          <p:cNvSpPr>
            <a:spLocks xmlns:a="http://schemas.openxmlformats.org/drawingml/2006/main" noGrp="1"/>
          </p:cNvSpPr>
          <p:nvPr/>
        </p:nvSpPr>
        <p:spPr>
          <a:xfrm xmlns:a="http://schemas.openxmlformats.org/drawingml/2006/main">
            <a:off x="609600" y="55721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Area matching does not match part identity, texture or background.</a:t>
            </a:r>
          </a:p>
        </p:txBody>
      </p:sp>
      <p:sp>
        <p:nvSpPr>
          <p:cNvPr id="5" name="">
            <a:extLst xmlns:a="http://schemas.openxmlformats.org/drawingml/2006/main">
              <a:ext uri="{FF2B5EF4-FFF2-40B4-BE49-F238E27FC236}">
                <a16:creationId xmlns:a16="http://schemas.microsoft.com/office/drawing/2014/main" id="{2CEB4D76-91EC-49F4-B0A8-7EA222855064}"/>
              </a:ext>
            </a:extLst>
          </p:cNvPr>
          <p:cNvSpPr>
            <a:spLocks xmlns:a="http://schemas.openxmlformats.org/drawingml/2006/main" noGrp="1"/>
          </p:cNvSpPr>
          <p:nvPr/>
        </p:nvSpPr>
        <p:spPr>
          <a:xfrm xmlns:a="http://schemas.openxmlformats.org/drawingml/2006/main">
            <a:off x="609600" y="61150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16A"/>
                </a:solidFill>
                <a:latin typeface="Arial"/>
                <a:ea typeface="Arial"/>
                <a:cs typeface="Arial"/>
              </a:defRPr>
            </a:defPPr>
            <a:lvl1pPr>
              <a:defRPr sz="1650" b="0">
                <a:solidFill>
                  <a:srgbClr val="52616A"/>
                </a:solidFill>
                <a:latin typeface="Arial"/>
                <a:ea typeface="Arial"/>
                <a:cs typeface="Arial"/>
              </a:defRPr>
            </a:lvl1pPr>
            <a:lvl2pPr>
              <a:defRPr sz="1650" b="0">
                <a:solidFill>
                  <a:srgbClr val="52616A"/>
                </a:solidFill>
                <a:latin typeface="Arial"/>
                <a:ea typeface="Arial"/>
                <a:cs typeface="Arial"/>
              </a:defRPr>
            </a:lvl2pPr>
            <a:lvl3pPr>
              <a:defRPr sz="1650" b="0">
                <a:solidFill>
                  <a:srgbClr val="52616A"/>
                </a:solidFill>
                <a:latin typeface="Arial"/>
                <a:ea typeface="Arial"/>
                <a:cs typeface="Arial"/>
              </a:defRPr>
            </a:lvl3pPr>
            <a:lvl4pPr>
              <a:defRPr sz="1650" b="0">
                <a:solidFill>
                  <a:srgbClr val="52616A"/>
                </a:solidFill>
                <a:latin typeface="Arial"/>
                <a:ea typeface="Arial"/>
                <a:cs typeface="Arial"/>
              </a:defRPr>
            </a:lvl4pPr>
            <a:lvl5pPr>
              <a:defRPr sz="1650" b="0">
                <a:solidFill>
                  <a:srgbClr val="52616A"/>
                </a:solidFill>
                <a:latin typeface="Arial"/>
                <a:ea typeface="Arial"/>
                <a:cs typeface="Arial"/>
              </a:defRPr>
            </a:lvl5pPr>
            <a:lvl6pPr>
              <a:defRPr sz="1650" b="0">
                <a:solidFill>
                  <a:srgbClr val="52616A"/>
                </a:solidFill>
                <a:latin typeface="Arial"/>
                <a:ea typeface="Arial"/>
                <a:cs typeface="Arial"/>
              </a:defRPr>
            </a:lvl6pPr>
            <a:lvl7pPr>
              <a:defRPr sz="1650" b="0">
                <a:solidFill>
                  <a:srgbClr val="52616A"/>
                </a:solidFill>
                <a:latin typeface="Arial"/>
                <a:ea typeface="Arial"/>
                <a:cs typeface="Arial"/>
              </a:defRPr>
            </a:lvl7pPr>
            <a:lvl8pPr>
              <a:defRPr sz="1650" b="0">
                <a:solidFill>
                  <a:srgbClr val="52616A"/>
                </a:solidFill>
                <a:latin typeface="Arial"/>
                <a:ea typeface="Arial"/>
                <a:cs typeface="Arial"/>
              </a:defRPr>
            </a:lvl8pPr>
            <a:lvl9pPr>
              <a:defRPr sz="1650" b="0">
                <a:solidFill>
                  <a:srgbClr val="52616A"/>
                </a:solidFill>
                <a:latin typeface="Arial"/>
                <a:ea typeface="Arial"/>
                <a:cs typeface="Arial"/>
              </a:defRPr>
            </a:lvl9pPr>
          </a:lstStyle>
          <a:p xmlns:a="http://schemas.openxmlformats.org/drawingml/2006/main">
            <a:pPr>
              <a:defRPr sz="1650" b="0">
                <a:solidFill>
                  <a:srgbClr val="52616A"/>
                </a:solidFill>
                <a:latin typeface="Arial"/>
                <a:ea typeface="Arial"/>
                <a:cs typeface="Arial"/>
              </a:defRPr>
            </a:pPr>
            <a:r>
              <a:rPr sz="1650" b="0">
                <a:solidFill>
                  <a:srgbClr val="52616A"/>
                </a:solidFill>
                <a:latin typeface="Arial"/>
                <a:ea typeface="Arial"/>
                <a:cs typeface="Arial"/>
              </a:rPr>
              <a:t>Post-hoc illustration. Full-set rates come from the paired table.</a:t>
            </a:r>
          </a:p>
        </p:txBody>
      </p:sp>
    </p:spTree>
    <p:extLst>
      <p:ext uri="{BB962C8B-B14F-4D97-AF65-F5344CB8AC3E}">
        <p14:creationId xmlns:p14="http://schemas.microsoft.com/office/powerpoint/2010/main" val="15375067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69D66C-82A4-4B32-AE16-5AD0D4C9C82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What the pilot supports, and what remains open</a:t>
            </a:r>
          </a:p>
        </p:txBody>
      </p:sp>
      <p:sp>
        <p:nvSpPr>
          <p:cNvPr id="2" name="">
            <a:extLst xmlns:a="http://schemas.openxmlformats.org/drawingml/2006/main">
              <a:ext uri="{FF2B5EF4-FFF2-40B4-BE49-F238E27FC236}">
                <a16:creationId xmlns:a16="http://schemas.microsoft.com/office/drawing/2014/main" id="{BEECB5D8-8F72-463C-85D6-475D8BB7629D}"/>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DC5255C-6AEF-4C8D-AB33-8692FC61C7FA}"/>
              </a:ext>
            </a:extLst>
          </p:cNvPr>
          <p:cNvSpPr>
            <a:spLocks xmlns:a="http://schemas.openxmlformats.org/drawingml/2006/main" noGrp="1"/>
          </p:cNvSpPr>
          <p:nvPr/>
        </p:nvSpPr>
        <p:spPr>
          <a:xfrm xmlns:a="http://schemas.openxmlformats.org/drawingml/2006/main">
            <a:off x="609600" y="16859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Supported in this pilot</a:t>
            </a:r>
          </a:p>
        </p:txBody>
      </p:sp>
      <p:sp>
        <p:nvSpPr>
          <p:cNvPr id="4" name="">
            <a:extLst xmlns:a="http://schemas.openxmlformats.org/drawingml/2006/main">
              <a:ext uri="{FF2B5EF4-FFF2-40B4-BE49-F238E27FC236}">
                <a16:creationId xmlns:a16="http://schemas.microsoft.com/office/drawing/2014/main" id="{8C62A443-3FC1-4789-B168-27D71D5A9714}"/>
              </a:ext>
            </a:extLst>
          </p:cNvPr>
          <p:cNvSpPr>
            <a:spLocks xmlns:a="http://schemas.openxmlformats.org/drawingml/2006/main" noGrp="1"/>
          </p:cNvSpPr>
          <p:nvPr/>
        </p:nvSpPr>
        <p:spPr>
          <a:xfrm xmlns:a="http://schemas.openxmlformats.org/drawingml/2006/main">
            <a:off x="609600" y="2343150"/>
            <a:ext cx="5048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13D"/>
                </a:solidFill>
                <a:latin typeface="Arial"/>
                <a:ea typeface="Arial"/>
                <a:cs typeface="Arial"/>
              </a:defRPr>
            </a:defPPr>
            <a:lvl1pPr>
              <a:defRPr sz="2175" b="0">
                <a:solidFill>
                  <a:srgbClr val="17313D"/>
                </a:solidFill>
                <a:latin typeface="Arial"/>
                <a:ea typeface="Arial"/>
                <a:cs typeface="Arial"/>
              </a:defRPr>
            </a:lvl1pPr>
            <a:lvl2pPr>
              <a:defRPr sz="2175" b="0">
                <a:solidFill>
                  <a:srgbClr val="17313D"/>
                </a:solidFill>
                <a:latin typeface="Arial"/>
                <a:ea typeface="Arial"/>
                <a:cs typeface="Arial"/>
              </a:defRPr>
            </a:lvl2pPr>
            <a:lvl3pPr>
              <a:defRPr sz="2175" b="0">
                <a:solidFill>
                  <a:srgbClr val="17313D"/>
                </a:solidFill>
                <a:latin typeface="Arial"/>
                <a:ea typeface="Arial"/>
                <a:cs typeface="Arial"/>
              </a:defRPr>
            </a:lvl3pPr>
            <a:lvl4pPr>
              <a:defRPr sz="2175" b="0">
                <a:solidFill>
                  <a:srgbClr val="17313D"/>
                </a:solidFill>
                <a:latin typeface="Arial"/>
                <a:ea typeface="Arial"/>
                <a:cs typeface="Arial"/>
              </a:defRPr>
            </a:lvl4pPr>
            <a:lvl5pPr>
              <a:defRPr sz="2175" b="0">
                <a:solidFill>
                  <a:srgbClr val="17313D"/>
                </a:solidFill>
                <a:latin typeface="Arial"/>
                <a:ea typeface="Arial"/>
                <a:cs typeface="Arial"/>
              </a:defRPr>
            </a:lvl5pPr>
            <a:lvl6pPr>
              <a:defRPr sz="2175" b="0">
                <a:solidFill>
                  <a:srgbClr val="17313D"/>
                </a:solidFill>
                <a:latin typeface="Arial"/>
                <a:ea typeface="Arial"/>
                <a:cs typeface="Arial"/>
              </a:defRPr>
            </a:lvl6pPr>
            <a:lvl7pPr>
              <a:defRPr sz="2175" b="0">
                <a:solidFill>
                  <a:srgbClr val="17313D"/>
                </a:solidFill>
                <a:latin typeface="Arial"/>
                <a:ea typeface="Arial"/>
                <a:cs typeface="Arial"/>
              </a:defRPr>
            </a:lvl7pPr>
            <a:lvl8pPr>
              <a:defRPr sz="2175" b="0">
                <a:solidFill>
                  <a:srgbClr val="17313D"/>
                </a:solidFill>
                <a:latin typeface="Arial"/>
                <a:ea typeface="Arial"/>
                <a:cs typeface="Arial"/>
              </a:defRPr>
            </a:lvl8pPr>
            <a:lvl9pPr>
              <a:defRPr sz="2175" b="0">
                <a:solidFill>
                  <a:srgbClr val="17313D"/>
                </a:solidFill>
                <a:latin typeface="Arial"/>
                <a:ea typeface="Arial"/>
                <a:cs typeface="Arial"/>
              </a:defRPr>
            </a:lvl9pPr>
          </a:lstStyle>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Shared-input model evaluation</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Measured foreground coverage</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Same-image paired diagnostics</a:t>
            </a:r>
          </a:p>
        </p:txBody>
      </p:sp>
      <p:sp>
        <p:nvSpPr>
          <p:cNvPr id="5" name="">
            <a:extLst xmlns:a="http://schemas.openxmlformats.org/drawingml/2006/main">
              <a:ext uri="{FF2B5EF4-FFF2-40B4-BE49-F238E27FC236}">
                <a16:creationId xmlns:a16="http://schemas.microsoft.com/office/drawing/2014/main" id="{901EE1E2-EFE6-4BFE-BBCB-E90DF9C8BD52}"/>
              </a:ext>
            </a:extLst>
          </p:cNvPr>
          <p:cNvSpPr>
            <a:spLocks xmlns:a="http://schemas.openxmlformats.org/drawingml/2006/main" noGrp="1"/>
          </p:cNvSpPr>
          <p:nvPr/>
        </p:nvSpPr>
        <p:spPr>
          <a:xfrm xmlns:a="http://schemas.openxmlformats.org/drawingml/2006/main">
            <a:off x="6486525" y="16859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Arial"/>
                <a:ea typeface="Arial"/>
                <a:cs typeface="Arial"/>
              </a:defRPr>
            </a:defPPr>
            <a:lvl1pPr>
              <a:defRPr sz="2175" b="1">
                <a:solidFill>
                  <a:srgbClr val="007F7B"/>
                </a:solidFill>
                <a:latin typeface="Arial"/>
                <a:ea typeface="Arial"/>
                <a:cs typeface="Arial"/>
              </a:defRPr>
            </a:lvl1pPr>
            <a:lvl2pPr>
              <a:defRPr sz="2175" b="1">
                <a:solidFill>
                  <a:srgbClr val="007F7B"/>
                </a:solidFill>
                <a:latin typeface="Arial"/>
                <a:ea typeface="Arial"/>
                <a:cs typeface="Arial"/>
              </a:defRPr>
            </a:lvl2pPr>
            <a:lvl3pPr>
              <a:defRPr sz="2175" b="1">
                <a:solidFill>
                  <a:srgbClr val="007F7B"/>
                </a:solidFill>
                <a:latin typeface="Arial"/>
                <a:ea typeface="Arial"/>
                <a:cs typeface="Arial"/>
              </a:defRPr>
            </a:lvl3pPr>
            <a:lvl4pPr>
              <a:defRPr sz="2175" b="1">
                <a:solidFill>
                  <a:srgbClr val="007F7B"/>
                </a:solidFill>
                <a:latin typeface="Arial"/>
                <a:ea typeface="Arial"/>
                <a:cs typeface="Arial"/>
              </a:defRPr>
            </a:lvl4pPr>
            <a:lvl5pPr>
              <a:defRPr sz="2175" b="1">
                <a:solidFill>
                  <a:srgbClr val="007F7B"/>
                </a:solidFill>
                <a:latin typeface="Arial"/>
                <a:ea typeface="Arial"/>
                <a:cs typeface="Arial"/>
              </a:defRPr>
            </a:lvl5pPr>
            <a:lvl6pPr>
              <a:defRPr sz="2175" b="1">
                <a:solidFill>
                  <a:srgbClr val="007F7B"/>
                </a:solidFill>
                <a:latin typeface="Arial"/>
                <a:ea typeface="Arial"/>
                <a:cs typeface="Arial"/>
              </a:defRPr>
            </a:lvl6pPr>
            <a:lvl7pPr>
              <a:defRPr sz="2175" b="1">
                <a:solidFill>
                  <a:srgbClr val="007F7B"/>
                </a:solidFill>
                <a:latin typeface="Arial"/>
                <a:ea typeface="Arial"/>
                <a:cs typeface="Arial"/>
              </a:defRPr>
            </a:lvl7pPr>
            <a:lvl8pPr>
              <a:defRPr sz="2175" b="1">
                <a:solidFill>
                  <a:srgbClr val="007F7B"/>
                </a:solidFill>
                <a:latin typeface="Arial"/>
                <a:ea typeface="Arial"/>
                <a:cs typeface="Arial"/>
              </a:defRPr>
            </a:lvl8pPr>
            <a:lvl9pPr>
              <a:defRPr sz="2175" b="1">
                <a:solidFill>
                  <a:srgbClr val="007F7B"/>
                </a:solidFill>
                <a:latin typeface="Arial"/>
                <a:ea typeface="Arial"/>
                <a:cs typeface="Arial"/>
              </a:defRPr>
            </a:lvl9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Still open</a:t>
            </a:r>
          </a:p>
        </p:txBody>
      </p:sp>
      <p:sp>
        <p:nvSpPr>
          <p:cNvPr id="6" name="">
            <a:extLst xmlns:a="http://schemas.openxmlformats.org/drawingml/2006/main">
              <a:ext uri="{FF2B5EF4-FFF2-40B4-BE49-F238E27FC236}">
                <a16:creationId xmlns:a16="http://schemas.microsoft.com/office/drawing/2014/main" id="{C2DDF656-641D-4A64-9BAA-839430BCA2DD}"/>
              </a:ext>
            </a:extLst>
          </p:cNvPr>
          <p:cNvSpPr>
            <a:spLocks xmlns:a="http://schemas.openxmlformats.org/drawingml/2006/main" noGrp="1"/>
          </p:cNvSpPr>
          <p:nvPr/>
        </p:nvSpPr>
        <p:spPr>
          <a:xfrm xmlns:a="http://schemas.openxmlformats.org/drawingml/2006/main">
            <a:off x="6486525" y="2343150"/>
            <a:ext cx="5048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313D"/>
                </a:solidFill>
                <a:latin typeface="Arial"/>
                <a:ea typeface="Arial"/>
                <a:cs typeface="Arial"/>
              </a:defRPr>
            </a:defPPr>
            <a:lvl1pPr>
              <a:defRPr sz="2175" b="0">
                <a:solidFill>
                  <a:srgbClr val="17313D"/>
                </a:solidFill>
                <a:latin typeface="Arial"/>
                <a:ea typeface="Arial"/>
                <a:cs typeface="Arial"/>
              </a:defRPr>
            </a:lvl1pPr>
            <a:lvl2pPr>
              <a:defRPr sz="2175" b="0">
                <a:solidFill>
                  <a:srgbClr val="17313D"/>
                </a:solidFill>
                <a:latin typeface="Arial"/>
                <a:ea typeface="Arial"/>
                <a:cs typeface="Arial"/>
              </a:defRPr>
            </a:lvl2pPr>
            <a:lvl3pPr>
              <a:defRPr sz="2175" b="0">
                <a:solidFill>
                  <a:srgbClr val="17313D"/>
                </a:solidFill>
                <a:latin typeface="Arial"/>
                <a:ea typeface="Arial"/>
                <a:cs typeface="Arial"/>
              </a:defRPr>
            </a:lvl3pPr>
            <a:lvl4pPr>
              <a:defRPr sz="2175" b="0">
                <a:solidFill>
                  <a:srgbClr val="17313D"/>
                </a:solidFill>
                <a:latin typeface="Arial"/>
                <a:ea typeface="Arial"/>
                <a:cs typeface="Arial"/>
              </a:defRPr>
            </a:lvl4pPr>
            <a:lvl5pPr>
              <a:defRPr sz="2175" b="0">
                <a:solidFill>
                  <a:srgbClr val="17313D"/>
                </a:solidFill>
                <a:latin typeface="Arial"/>
                <a:ea typeface="Arial"/>
                <a:cs typeface="Arial"/>
              </a:defRPr>
            </a:lvl5pPr>
            <a:lvl6pPr>
              <a:defRPr sz="2175" b="0">
                <a:solidFill>
                  <a:srgbClr val="17313D"/>
                </a:solidFill>
                <a:latin typeface="Arial"/>
                <a:ea typeface="Arial"/>
                <a:cs typeface="Arial"/>
              </a:defRPr>
            </a:lvl6pPr>
            <a:lvl7pPr>
              <a:defRPr sz="2175" b="0">
                <a:solidFill>
                  <a:srgbClr val="17313D"/>
                </a:solidFill>
                <a:latin typeface="Arial"/>
                <a:ea typeface="Arial"/>
                <a:cs typeface="Arial"/>
              </a:defRPr>
            </a:lvl7pPr>
            <a:lvl8pPr>
              <a:defRPr sz="2175" b="0">
                <a:solidFill>
                  <a:srgbClr val="17313D"/>
                </a:solidFill>
                <a:latin typeface="Arial"/>
                <a:ea typeface="Arial"/>
                <a:cs typeface="Arial"/>
              </a:defRPr>
            </a:lvl8pPr>
            <a:lvl9pPr>
              <a:defRPr sz="2175" b="0">
                <a:solidFill>
                  <a:srgbClr val="17313D"/>
                </a:solidFill>
                <a:latin typeface="Arial"/>
                <a:ea typeface="Arial"/>
                <a:cs typeface="Arial"/>
              </a:defRPr>
            </a:lvl9pPr>
          </a:lstStyle>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No common bin at 50% image area</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Part-level and background effects</a:t>
            </a:r>
          </a:p>
          <a:p xmlns:a="http://schemas.openxmlformats.org/drawingml/2006/main">
            <a:r>
              <a:t/>
            </a:r>
          </a:p>
          <a:p xmlns:a="http://schemas.openxmlformats.org/drawingml/2006/main">
            <a:pPr>
              <a:defRPr sz="2175" b="0">
                <a:solidFill>
                  <a:srgbClr val="17313D"/>
                </a:solidFill>
                <a:latin typeface="Arial"/>
                <a:ea typeface="Arial"/>
                <a:cs typeface="Arial"/>
              </a:defRPr>
            </a:pPr>
            <a:r>
              <a:rPr sz="2175" b="0">
                <a:solidFill>
                  <a:srgbClr val="17313D"/>
                </a:solidFill>
                <a:latin typeface="Arial"/>
                <a:ea typeface="Arial"/>
                <a:cs typeface="Arial"/>
              </a:rPr>
              <a:t>More data and another fill color</a:t>
            </a:r>
          </a:p>
        </p:txBody>
      </p:sp>
      <p:sp>
        <p:nvSpPr>
          <p:cNvPr id="7" name="">
            <a:extLst xmlns:a="http://schemas.openxmlformats.org/drawingml/2006/main">
              <a:ext uri="{FF2B5EF4-FFF2-40B4-BE49-F238E27FC236}">
                <a16:creationId xmlns:a16="http://schemas.microsoft.com/office/drawing/2014/main" id="{C3669CD6-6B9F-446F-A5A8-5A2B5E2F76E2}"/>
              </a:ext>
            </a:extLst>
          </p:cNvPr>
          <p:cNvSpPr>
            <a:spLocks xmlns:a="http://schemas.openxmlformats.org/drawingml/2006/main" noGrp="1"/>
          </p:cNvSpPr>
          <p:nvPr/>
        </p:nvSpPr>
        <p:spPr>
          <a:xfrm xmlns:a="http://schemas.openxmlformats.org/drawingml/2006/main">
            <a:off x="609600" y="563880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13D"/>
                </a:solidFill>
                <a:latin typeface="Arial"/>
                <a:ea typeface="Arial"/>
                <a:cs typeface="Arial"/>
              </a:defRPr>
            </a:defPPr>
            <a:lvl1pPr>
              <a:defRPr sz="2325" b="1">
                <a:solidFill>
                  <a:srgbClr val="17313D"/>
                </a:solidFill>
                <a:latin typeface="Arial"/>
                <a:ea typeface="Arial"/>
                <a:cs typeface="Arial"/>
              </a:defRPr>
            </a:lvl1pPr>
            <a:lvl2pPr>
              <a:defRPr sz="2325" b="1">
                <a:solidFill>
                  <a:srgbClr val="17313D"/>
                </a:solidFill>
                <a:latin typeface="Arial"/>
                <a:ea typeface="Arial"/>
                <a:cs typeface="Arial"/>
              </a:defRPr>
            </a:lvl2pPr>
            <a:lvl3pPr>
              <a:defRPr sz="2325" b="1">
                <a:solidFill>
                  <a:srgbClr val="17313D"/>
                </a:solidFill>
                <a:latin typeface="Arial"/>
                <a:ea typeface="Arial"/>
                <a:cs typeface="Arial"/>
              </a:defRPr>
            </a:lvl3pPr>
            <a:lvl4pPr>
              <a:defRPr sz="2325" b="1">
                <a:solidFill>
                  <a:srgbClr val="17313D"/>
                </a:solidFill>
                <a:latin typeface="Arial"/>
                <a:ea typeface="Arial"/>
                <a:cs typeface="Arial"/>
              </a:defRPr>
            </a:lvl4pPr>
            <a:lvl5pPr>
              <a:defRPr sz="2325" b="1">
                <a:solidFill>
                  <a:srgbClr val="17313D"/>
                </a:solidFill>
                <a:latin typeface="Arial"/>
                <a:ea typeface="Arial"/>
                <a:cs typeface="Arial"/>
              </a:defRPr>
            </a:lvl5pPr>
            <a:lvl6pPr>
              <a:defRPr sz="2325" b="1">
                <a:solidFill>
                  <a:srgbClr val="17313D"/>
                </a:solidFill>
                <a:latin typeface="Arial"/>
                <a:ea typeface="Arial"/>
                <a:cs typeface="Arial"/>
              </a:defRPr>
            </a:lvl6pPr>
            <a:lvl7pPr>
              <a:defRPr sz="2325" b="1">
                <a:solidFill>
                  <a:srgbClr val="17313D"/>
                </a:solidFill>
                <a:latin typeface="Arial"/>
                <a:ea typeface="Arial"/>
                <a:cs typeface="Arial"/>
              </a:defRPr>
            </a:lvl7pPr>
            <a:lvl8pPr>
              <a:defRPr sz="2325" b="1">
                <a:solidFill>
                  <a:srgbClr val="17313D"/>
                </a:solidFill>
                <a:latin typeface="Arial"/>
                <a:ea typeface="Arial"/>
                <a:cs typeface="Arial"/>
              </a:defRPr>
            </a:lvl8pPr>
            <a:lvl9pPr>
              <a:defRPr sz="2325" b="1">
                <a:solidFill>
                  <a:srgbClr val="17313D"/>
                </a:solidFill>
                <a:latin typeface="Arial"/>
                <a:ea typeface="Arial"/>
                <a:cs typeface="Arial"/>
              </a:defRPr>
            </a:lvl9pPr>
          </a:lstStyle>
          <a:p xmlns:a="http://schemas.openxmlformats.org/drawingml/2006/main">
            <a:pPr>
              <a:defRPr sz="2325" b="1">
                <a:solidFill>
                  <a:srgbClr val="17313D"/>
                </a:solidFill>
                <a:latin typeface="Arial"/>
                <a:ea typeface="Arial"/>
                <a:cs typeface="Arial"/>
              </a:defRPr>
            </a:pPr>
            <a:r>
              <a:rPr sz="2325" b="1">
                <a:solidFill>
                  <a:srgbClr val="17313D"/>
                </a:solidFill>
                <a:latin typeface="Arial"/>
                <a:ea typeface="Arial"/>
                <a:cs typeface="Arial"/>
              </a:rPr>
              <a:t>Cross-model behavior does not identify a pretraining mechanism.</a:t>
            </a:r>
          </a:p>
        </p:txBody>
      </p:sp>
    </p:spTree>
    <p:extLst>
      <p:ext uri="{BB962C8B-B14F-4D97-AF65-F5344CB8AC3E}">
        <p14:creationId xmlns:p14="http://schemas.microsoft.com/office/powerpoint/2010/main" val="2107847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6816E0-94D4-4127-A34B-C0B91F0700EF}"/>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Code, next experiments and AI use</a:t>
            </a:r>
          </a:p>
        </p:txBody>
      </p:sp>
      <p:sp>
        <p:nvSpPr>
          <p:cNvPr id="2" name="">
            <a:extLst xmlns:a="http://schemas.openxmlformats.org/drawingml/2006/main">
              <a:ext uri="{FF2B5EF4-FFF2-40B4-BE49-F238E27FC236}">
                <a16:creationId xmlns:a16="http://schemas.microsoft.com/office/drawing/2014/main" id="{205EB40B-19C4-4D5D-A66B-11F2D1173D7D}"/>
              </a:ext>
            </a:extLst>
          </p:cNvPr>
          <p:cNvSpPr>
            <a:spLocks xmlns:a="http://schemas.openxmlformats.org/drawingml/2006/main" noGrp="1"/>
          </p:cNvSpPr>
          <p:nvPr/>
        </p:nvSpPr>
        <p:spPr>
          <a:xfrm xmlns:a="http://schemas.openxmlformats.org/drawingml/2006/main">
            <a:off x="11334750"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52616A"/>
                </a:solidFill>
                <a:latin typeface="Arial"/>
                <a:ea typeface="Arial"/>
                <a:cs typeface="Arial"/>
              </a:defRPr>
            </a:defPPr>
            <a:lvl1pPr>
              <a:defRPr sz="1050" b="0">
                <a:solidFill>
                  <a:srgbClr val="52616A"/>
                </a:solidFill>
                <a:latin typeface="Arial"/>
                <a:ea typeface="Arial"/>
                <a:cs typeface="Arial"/>
              </a:defRPr>
            </a:lvl1pPr>
            <a:lvl2pPr>
              <a:defRPr sz="1050" b="0">
                <a:solidFill>
                  <a:srgbClr val="52616A"/>
                </a:solidFill>
                <a:latin typeface="Arial"/>
                <a:ea typeface="Arial"/>
                <a:cs typeface="Arial"/>
              </a:defRPr>
            </a:lvl2pPr>
            <a:lvl3pPr>
              <a:defRPr sz="1050" b="0">
                <a:solidFill>
                  <a:srgbClr val="52616A"/>
                </a:solidFill>
                <a:latin typeface="Arial"/>
                <a:ea typeface="Arial"/>
                <a:cs typeface="Arial"/>
              </a:defRPr>
            </a:lvl3pPr>
            <a:lvl4pPr>
              <a:defRPr sz="1050" b="0">
                <a:solidFill>
                  <a:srgbClr val="52616A"/>
                </a:solidFill>
                <a:latin typeface="Arial"/>
                <a:ea typeface="Arial"/>
                <a:cs typeface="Arial"/>
              </a:defRPr>
            </a:lvl4pPr>
            <a:lvl5pPr>
              <a:defRPr sz="1050" b="0">
                <a:solidFill>
                  <a:srgbClr val="52616A"/>
                </a:solidFill>
                <a:latin typeface="Arial"/>
                <a:ea typeface="Arial"/>
                <a:cs typeface="Arial"/>
              </a:defRPr>
            </a:lvl5pPr>
            <a:lvl6pPr>
              <a:defRPr sz="1050" b="0">
                <a:solidFill>
                  <a:srgbClr val="52616A"/>
                </a:solidFill>
                <a:latin typeface="Arial"/>
                <a:ea typeface="Arial"/>
                <a:cs typeface="Arial"/>
              </a:defRPr>
            </a:lvl6pPr>
            <a:lvl7pPr>
              <a:defRPr sz="1050" b="0">
                <a:solidFill>
                  <a:srgbClr val="52616A"/>
                </a:solidFill>
                <a:latin typeface="Arial"/>
                <a:ea typeface="Arial"/>
                <a:cs typeface="Arial"/>
              </a:defRPr>
            </a:lvl7pPr>
            <a:lvl8pPr>
              <a:defRPr sz="1050" b="0">
                <a:solidFill>
                  <a:srgbClr val="52616A"/>
                </a:solidFill>
                <a:latin typeface="Arial"/>
                <a:ea typeface="Arial"/>
                <a:cs typeface="Arial"/>
              </a:defRPr>
            </a:lvl8pPr>
            <a:lvl9pPr>
              <a:defRPr sz="1050" b="0">
                <a:solidFill>
                  <a:srgbClr val="52616A"/>
                </a:solidFill>
                <a:latin typeface="Arial"/>
                <a:ea typeface="Arial"/>
                <a:cs typeface="Arial"/>
              </a:defRPr>
            </a:lvl9pPr>
          </a:lstStyle>
          <a:p xmlns:a="http://schemas.openxmlformats.org/drawingml/2006/main">
            <a:pPr>
              <a:defRPr sz="1050" b="0">
                <a:solidFill>
                  <a:srgbClr val="52616A"/>
                </a:solidFill>
                <a:latin typeface="Arial"/>
                <a:ea typeface="Arial"/>
                <a:cs typeface="Arial"/>
              </a:defRPr>
            </a:pPr>
            <a:r>
              <a:rPr sz="1050" b="0">
                <a:solidFill>
                  <a:srgbClr val="5261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0755CBE-70AD-4412-B29B-91821E4712FD}"/>
              </a:ext>
            </a:extLst>
          </p:cNvPr>
          <p:cNvSpPr>
            <a:spLocks xmlns:a="http://schemas.openxmlformats.org/drawingml/2006/main" noGrp="1"/>
          </p:cNvSpPr>
          <p:nvPr/>
        </p:nvSpPr>
        <p:spPr>
          <a:xfrm xmlns:a="http://schemas.openxmlformats.org/drawingml/2006/main">
            <a:off x="609600" y="17430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Arial"/>
                <a:ea typeface="Arial"/>
                <a:cs typeface="Arial"/>
              </a:defRPr>
            </a:defPPr>
            <a:lvl1pPr>
              <a:defRPr sz="2250" b="1">
                <a:solidFill>
                  <a:srgbClr val="007F7B"/>
                </a:solidFill>
                <a:latin typeface="Arial"/>
                <a:ea typeface="Arial"/>
                <a:cs typeface="Arial"/>
              </a:defRPr>
            </a:lvl1pPr>
            <a:lvl2pPr>
              <a:defRPr sz="2250" b="1">
                <a:solidFill>
                  <a:srgbClr val="007F7B"/>
                </a:solidFill>
                <a:latin typeface="Arial"/>
                <a:ea typeface="Arial"/>
                <a:cs typeface="Arial"/>
              </a:defRPr>
            </a:lvl2pPr>
            <a:lvl3pPr>
              <a:defRPr sz="2250" b="1">
                <a:solidFill>
                  <a:srgbClr val="007F7B"/>
                </a:solidFill>
                <a:latin typeface="Arial"/>
                <a:ea typeface="Arial"/>
                <a:cs typeface="Arial"/>
              </a:defRPr>
            </a:lvl3pPr>
            <a:lvl4pPr>
              <a:defRPr sz="2250" b="1">
                <a:solidFill>
                  <a:srgbClr val="007F7B"/>
                </a:solidFill>
                <a:latin typeface="Arial"/>
                <a:ea typeface="Arial"/>
                <a:cs typeface="Arial"/>
              </a:defRPr>
            </a:lvl4pPr>
            <a:lvl5pPr>
              <a:defRPr sz="2250" b="1">
                <a:solidFill>
                  <a:srgbClr val="007F7B"/>
                </a:solidFill>
                <a:latin typeface="Arial"/>
                <a:ea typeface="Arial"/>
                <a:cs typeface="Arial"/>
              </a:defRPr>
            </a:lvl5pPr>
            <a:lvl6pPr>
              <a:defRPr sz="2250" b="1">
                <a:solidFill>
                  <a:srgbClr val="007F7B"/>
                </a:solidFill>
                <a:latin typeface="Arial"/>
                <a:ea typeface="Arial"/>
                <a:cs typeface="Arial"/>
              </a:defRPr>
            </a:lvl6pPr>
            <a:lvl7pPr>
              <a:defRPr sz="2250" b="1">
                <a:solidFill>
                  <a:srgbClr val="007F7B"/>
                </a:solidFill>
                <a:latin typeface="Arial"/>
                <a:ea typeface="Arial"/>
                <a:cs typeface="Arial"/>
              </a:defRPr>
            </a:lvl7pPr>
            <a:lvl8pPr>
              <a:defRPr sz="2250" b="1">
                <a:solidFill>
                  <a:srgbClr val="007F7B"/>
                </a:solidFill>
                <a:latin typeface="Arial"/>
                <a:ea typeface="Arial"/>
                <a:cs typeface="Arial"/>
              </a:defRPr>
            </a:lvl8pPr>
            <a:lvl9pPr>
              <a:defRPr sz="2250" b="1">
                <a:solidFill>
                  <a:srgbClr val="007F7B"/>
                </a:solidFill>
                <a:latin typeface="Arial"/>
                <a:ea typeface="Arial"/>
                <a:cs typeface="Arial"/>
              </a:defRPr>
            </a:lvl9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hlinkClick xmlns:r="http://schemas.openxmlformats.org/officeDocument/2006/relationships" r:id="R2cd13cada42d4b4b"/>
              </a:rPr>
              <a:t>github.com/Bensssonxx/comp669-object-visibility</a:t>
            </a:r>
          </a:p>
        </p:txBody>
      </p:sp>
      <p:sp>
        <p:nvSpPr>
          <p:cNvPr id="4" name="">
            <a:extLst xmlns:a="http://schemas.openxmlformats.org/drawingml/2006/main">
              <a:ext uri="{FF2B5EF4-FFF2-40B4-BE49-F238E27FC236}">
                <a16:creationId xmlns:a16="http://schemas.microsoft.com/office/drawing/2014/main" id="{E7A2BA46-436D-4AB9-9CA3-EF3578F878BB}"/>
              </a:ext>
            </a:extLst>
          </p:cNvPr>
          <p:cNvSpPr>
            <a:spLocks xmlns:a="http://schemas.openxmlformats.org/drawingml/2006/main" noGrp="1"/>
          </p:cNvSpPr>
          <p:nvPr/>
        </p:nvSpPr>
        <p:spPr>
          <a:xfrm xmlns:a="http://schemas.openxmlformats.org/drawingml/2006/main">
            <a:off x="609600" y="26670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313D"/>
                </a:solidFill>
                <a:latin typeface="Arial"/>
                <a:ea typeface="Arial"/>
                <a:cs typeface="Arial"/>
              </a:defRPr>
            </a:defPPr>
            <a:lvl1pPr>
              <a:defRPr sz="2325" b="0">
                <a:solidFill>
                  <a:srgbClr val="17313D"/>
                </a:solidFill>
                <a:latin typeface="Arial"/>
                <a:ea typeface="Arial"/>
                <a:cs typeface="Arial"/>
              </a:defRPr>
            </a:lvl1pPr>
            <a:lvl2pPr>
              <a:defRPr sz="2325" b="0">
                <a:solidFill>
                  <a:srgbClr val="17313D"/>
                </a:solidFill>
                <a:latin typeface="Arial"/>
                <a:ea typeface="Arial"/>
                <a:cs typeface="Arial"/>
              </a:defRPr>
            </a:lvl2pPr>
            <a:lvl3pPr>
              <a:defRPr sz="2325" b="0">
                <a:solidFill>
                  <a:srgbClr val="17313D"/>
                </a:solidFill>
                <a:latin typeface="Arial"/>
                <a:ea typeface="Arial"/>
                <a:cs typeface="Arial"/>
              </a:defRPr>
            </a:lvl3pPr>
            <a:lvl4pPr>
              <a:defRPr sz="2325" b="0">
                <a:solidFill>
                  <a:srgbClr val="17313D"/>
                </a:solidFill>
                <a:latin typeface="Arial"/>
                <a:ea typeface="Arial"/>
                <a:cs typeface="Arial"/>
              </a:defRPr>
            </a:lvl4pPr>
            <a:lvl5pPr>
              <a:defRPr sz="2325" b="0">
                <a:solidFill>
                  <a:srgbClr val="17313D"/>
                </a:solidFill>
                <a:latin typeface="Arial"/>
                <a:ea typeface="Arial"/>
                <a:cs typeface="Arial"/>
              </a:defRPr>
            </a:lvl5pPr>
            <a:lvl6pPr>
              <a:defRPr sz="2325" b="0">
                <a:solidFill>
                  <a:srgbClr val="17313D"/>
                </a:solidFill>
                <a:latin typeface="Arial"/>
                <a:ea typeface="Arial"/>
                <a:cs typeface="Arial"/>
              </a:defRPr>
            </a:lvl6pPr>
            <a:lvl7pPr>
              <a:defRPr sz="2325" b="0">
                <a:solidFill>
                  <a:srgbClr val="17313D"/>
                </a:solidFill>
                <a:latin typeface="Arial"/>
                <a:ea typeface="Arial"/>
                <a:cs typeface="Arial"/>
              </a:defRPr>
            </a:lvl7pPr>
            <a:lvl8pPr>
              <a:defRPr sz="2325" b="0">
                <a:solidFill>
                  <a:srgbClr val="17313D"/>
                </a:solidFill>
                <a:latin typeface="Arial"/>
                <a:ea typeface="Arial"/>
                <a:cs typeface="Arial"/>
              </a:defRPr>
            </a:lvl8pPr>
            <a:lvl9pPr>
              <a:defRPr sz="2325" b="0">
                <a:solidFill>
                  <a:srgbClr val="17313D"/>
                </a:solidFill>
                <a:latin typeface="Arial"/>
                <a:ea typeface="Arial"/>
                <a:cs typeface="Arial"/>
              </a:defRPr>
            </a:lvl9pPr>
          </a:lstStyle>
          <a:p xmlns:a="http://schemas.openxmlformats.org/drawingml/2006/main">
            <a:pPr>
              <a:defRPr sz="2325" b="0">
                <a:solidFill>
                  <a:srgbClr val="17313D"/>
                </a:solidFill>
                <a:latin typeface="Arial"/>
                <a:ea typeface="Arial"/>
                <a:cs typeface="Arial"/>
              </a:defRPr>
            </a:pPr>
            <a:r>
              <a:rPr sz="2325" b="0">
                <a:solidFill>
                  <a:srgbClr val="17313D"/>
                </a:solidFill>
                <a:latin typeface="Arial"/>
                <a:ea typeface="Arial"/>
                <a:cs typeface="Arial"/>
              </a:rPr>
              <a:t>Next: larger held-out test set, second fill color, part-level analysis.</a:t>
            </a:r>
          </a:p>
        </p:txBody>
      </p:sp>
      <p:sp>
        <p:nvSpPr>
          <p:cNvPr id="5" name="">
            <a:extLst xmlns:a="http://schemas.openxmlformats.org/drawingml/2006/main">
              <a:ext uri="{FF2B5EF4-FFF2-40B4-BE49-F238E27FC236}">
                <a16:creationId xmlns:a16="http://schemas.microsoft.com/office/drawing/2014/main" id="{3051E5AB-0CCC-457B-8699-301C997EB99B}"/>
              </a:ext>
            </a:extLst>
          </p:cNvPr>
          <p:cNvSpPr>
            <a:spLocks xmlns:a="http://schemas.openxmlformats.org/drawingml/2006/main" noGrp="1"/>
          </p:cNvSpPr>
          <p:nvPr/>
        </p:nvSpPr>
        <p:spPr>
          <a:xfrm xmlns:a="http://schemas.openxmlformats.org/drawingml/2006/main">
            <a:off x="609600" y="38290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AI use: Codex assisted source review, code, debugging, execution and analysis drafting.</a:t>
            </a:r>
          </a:p>
        </p:txBody>
      </p:sp>
      <p:sp>
        <p:nvSpPr>
          <p:cNvPr id="6" name="">
            <a:extLst xmlns:a="http://schemas.openxmlformats.org/drawingml/2006/main">
              <a:ext uri="{FF2B5EF4-FFF2-40B4-BE49-F238E27FC236}">
                <a16:creationId xmlns:a16="http://schemas.microsoft.com/office/drawing/2014/main" id="{FCFF8F77-7835-42F1-B9BD-1097E1C525F9}"/>
              </a:ext>
            </a:extLst>
          </p:cNvPr>
          <p:cNvSpPr>
            <a:spLocks xmlns:a="http://schemas.openxmlformats.org/drawingml/2006/main" noGrp="1"/>
          </p:cNvSpPr>
          <p:nvPr/>
        </p:nvSpPr>
        <p:spPr>
          <a:xfrm xmlns:a="http://schemas.openxmlformats.org/drawingml/2006/main">
            <a:off x="609600" y="52482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16A"/>
                </a:solidFill>
                <a:latin typeface="Arial"/>
                <a:ea typeface="Arial"/>
                <a:cs typeface="Arial"/>
              </a:defRPr>
            </a:defPPr>
            <a:lvl1pPr>
              <a:defRPr sz="1800" b="0">
                <a:solidFill>
                  <a:srgbClr val="52616A"/>
                </a:solidFill>
                <a:latin typeface="Arial"/>
                <a:ea typeface="Arial"/>
                <a:cs typeface="Arial"/>
              </a:defRPr>
            </a:lvl1pPr>
            <a:lvl2pPr>
              <a:defRPr sz="1800" b="0">
                <a:solidFill>
                  <a:srgbClr val="52616A"/>
                </a:solidFill>
                <a:latin typeface="Arial"/>
                <a:ea typeface="Arial"/>
                <a:cs typeface="Arial"/>
              </a:defRPr>
            </a:lvl2pPr>
            <a:lvl3pPr>
              <a:defRPr sz="1800" b="0">
                <a:solidFill>
                  <a:srgbClr val="52616A"/>
                </a:solidFill>
                <a:latin typeface="Arial"/>
                <a:ea typeface="Arial"/>
                <a:cs typeface="Arial"/>
              </a:defRPr>
            </a:lvl3pPr>
            <a:lvl4pPr>
              <a:defRPr sz="1800" b="0">
                <a:solidFill>
                  <a:srgbClr val="52616A"/>
                </a:solidFill>
                <a:latin typeface="Arial"/>
                <a:ea typeface="Arial"/>
                <a:cs typeface="Arial"/>
              </a:defRPr>
            </a:lvl4pPr>
            <a:lvl5pPr>
              <a:defRPr sz="1800" b="0">
                <a:solidFill>
                  <a:srgbClr val="52616A"/>
                </a:solidFill>
                <a:latin typeface="Arial"/>
                <a:ea typeface="Arial"/>
                <a:cs typeface="Arial"/>
              </a:defRPr>
            </a:lvl5pPr>
            <a:lvl6pPr>
              <a:defRPr sz="1800" b="0">
                <a:solidFill>
                  <a:srgbClr val="52616A"/>
                </a:solidFill>
                <a:latin typeface="Arial"/>
                <a:ea typeface="Arial"/>
                <a:cs typeface="Arial"/>
              </a:defRPr>
            </a:lvl6pPr>
            <a:lvl7pPr>
              <a:defRPr sz="1800" b="0">
                <a:solidFill>
                  <a:srgbClr val="52616A"/>
                </a:solidFill>
                <a:latin typeface="Arial"/>
                <a:ea typeface="Arial"/>
                <a:cs typeface="Arial"/>
              </a:defRPr>
            </a:lvl7pPr>
            <a:lvl8pPr>
              <a:defRPr sz="1800" b="0">
                <a:solidFill>
                  <a:srgbClr val="52616A"/>
                </a:solidFill>
                <a:latin typeface="Arial"/>
                <a:ea typeface="Arial"/>
                <a:cs typeface="Arial"/>
              </a:defRPr>
            </a:lvl8pPr>
            <a:lvl9pPr>
              <a:defRPr sz="1800" b="0">
                <a:solidFill>
                  <a:srgbClr val="52616A"/>
                </a:solidFill>
                <a:latin typeface="Arial"/>
                <a:ea typeface="Arial"/>
                <a:cs typeface="Arial"/>
              </a:defRPr>
            </a:lvl9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References: PatchDrop (2021), Backgrounds Challenge (2020),</a:t>
            </a:r>
          </a:p>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AIMv2 (2024), DINOv2 (2023), Oxford-IIIT Pet (2012).</a:t>
            </a:r>
          </a:p>
        </p:txBody>
      </p:sp>
    </p:spTree>
    <p:extLst>
      <p:ext uri="{BB962C8B-B14F-4D97-AF65-F5344CB8AC3E}">
        <p14:creationId xmlns:p14="http://schemas.microsoft.com/office/powerpoint/2010/main" val="1332106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2026-10-18T21:13:11.3030000Z</dcterms:created>
  <dcterms:modified xsi:type="dcterms:W3CDTF">2026-10-18T21:13:11.3030000Z</dcterms:modified>
</coreProperties>
</file>